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handoutMasterIdLst>
    <p:handoutMasterId r:id="rId15"/>
  </p:handoutMasterIdLst>
  <p:sldIdLst>
    <p:sldId id="256" r:id="rId2"/>
    <p:sldId id="370" r:id="rId3"/>
    <p:sldId id="371" r:id="rId4"/>
    <p:sldId id="378" r:id="rId5"/>
    <p:sldId id="372" r:id="rId6"/>
    <p:sldId id="373" r:id="rId7"/>
    <p:sldId id="374" r:id="rId8"/>
    <p:sldId id="379" r:id="rId9"/>
    <p:sldId id="375" r:id="rId10"/>
    <p:sldId id="376" r:id="rId11"/>
    <p:sldId id="377" r:id="rId12"/>
    <p:sldId id="380" r:id="rId13"/>
  </p:sldIdLst>
  <p:sldSz cx="9906000" cy="6858000" type="A4"/>
  <p:notesSz cx="10409238" cy="729615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64DD034-75F4-5147-85C5-57B72AD43751}">
          <p14:sldIdLst>
            <p14:sldId id="256"/>
            <p14:sldId id="370"/>
            <p14:sldId id="371"/>
            <p14:sldId id="378"/>
            <p14:sldId id="372"/>
            <p14:sldId id="373"/>
            <p14:sldId id="374"/>
            <p14:sldId id="379"/>
            <p14:sldId id="375"/>
            <p14:sldId id="376"/>
            <p14:sldId id="377"/>
            <p14:sldId id="380"/>
          </p14:sldIdLst>
        </p14:section>
      </p14:sectionLst>
    </p:ex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ohn M" initials="JM"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00"/>
    <a:srgbClr val="89898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195" autoAdjust="0"/>
    <p:restoredTop sz="83901" autoAdjust="0"/>
  </p:normalViewPr>
  <p:slideViewPr>
    <p:cSldViewPr snapToGrid="0" snapToObjects="1">
      <p:cViewPr varScale="1">
        <p:scale>
          <a:sx n="95" d="100"/>
          <a:sy n="95" d="100"/>
        </p:scale>
        <p:origin x="2208" y="96"/>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510670" cy="364808"/>
          </a:xfrm>
          <a:prstGeom prst="rect">
            <a:avLst/>
          </a:prstGeom>
        </p:spPr>
        <p:txBody>
          <a:bodyPr vert="horz" lIns="101169" tIns="50585" rIns="101169" bIns="50585" rtlCol="0"/>
          <a:lstStyle>
            <a:lvl1pPr algn="l">
              <a:defRPr sz="1300"/>
            </a:lvl1pPr>
          </a:lstStyle>
          <a:p>
            <a:endParaRPr lang="en-ZA"/>
          </a:p>
        </p:txBody>
      </p:sp>
      <p:sp>
        <p:nvSpPr>
          <p:cNvPr id="3" name="Date Placeholder 2"/>
          <p:cNvSpPr>
            <a:spLocks noGrp="1"/>
          </p:cNvSpPr>
          <p:nvPr>
            <p:ph type="dt" sz="quarter" idx="1"/>
          </p:nvPr>
        </p:nvSpPr>
        <p:spPr>
          <a:xfrm>
            <a:off x="5896159" y="0"/>
            <a:ext cx="4510670" cy="364808"/>
          </a:xfrm>
          <a:prstGeom prst="rect">
            <a:avLst/>
          </a:prstGeom>
        </p:spPr>
        <p:txBody>
          <a:bodyPr vert="horz" lIns="101169" tIns="50585" rIns="101169" bIns="50585" rtlCol="0"/>
          <a:lstStyle>
            <a:lvl1pPr algn="r">
              <a:defRPr sz="1300"/>
            </a:lvl1pPr>
          </a:lstStyle>
          <a:p>
            <a:fld id="{C605BAAB-8757-4FBD-9BED-960688D401C4}" type="datetimeFigureOut">
              <a:rPr lang="en-US" smtClean="0"/>
              <a:pPr/>
              <a:t>4/18/2024</a:t>
            </a:fld>
            <a:endParaRPr lang="en-ZA"/>
          </a:p>
        </p:txBody>
      </p:sp>
      <p:sp>
        <p:nvSpPr>
          <p:cNvPr id="4" name="Footer Placeholder 3"/>
          <p:cNvSpPr>
            <a:spLocks noGrp="1"/>
          </p:cNvSpPr>
          <p:nvPr>
            <p:ph type="ftr" sz="quarter" idx="2"/>
          </p:nvPr>
        </p:nvSpPr>
        <p:spPr>
          <a:xfrm>
            <a:off x="0" y="6930076"/>
            <a:ext cx="4510670" cy="364808"/>
          </a:xfrm>
          <a:prstGeom prst="rect">
            <a:avLst/>
          </a:prstGeom>
        </p:spPr>
        <p:txBody>
          <a:bodyPr vert="horz" lIns="101169" tIns="50585" rIns="101169" bIns="50585" rtlCol="0" anchor="b"/>
          <a:lstStyle>
            <a:lvl1pPr algn="l">
              <a:defRPr sz="1300"/>
            </a:lvl1pPr>
          </a:lstStyle>
          <a:p>
            <a:endParaRPr lang="en-ZA"/>
          </a:p>
        </p:txBody>
      </p:sp>
      <p:sp>
        <p:nvSpPr>
          <p:cNvPr id="5" name="Slide Number Placeholder 4"/>
          <p:cNvSpPr>
            <a:spLocks noGrp="1"/>
          </p:cNvSpPr>
          <p:nvPr>
            <p:ph type="sldNum" sz="quarter" idx="3"/>
          </p:nvPr>
        </p:nvSpPr>
        <p:spPr>
          <a:xfrm>
            <a:off x="5896159" y="6930076"/>
            <a:ext cx="4510670" cy="364808"/>
          </a:xfrm>
          <a:prstGeom prst="rect">
            <a:avLst/>
          </a:prstGeom>
        </p:spPr>
        <p:txBody>
          <a:bodyPr vert="horz" lIns="101169" tIns="50585" rIns="101169" bIns="50585" rtlCol="0" anchor="b"/>
          <a:lstStyle>
            <a:lvl1pPr algn="r">
              <a:defRPr sz="1300"/>
            </a:lvl1pPr>
          </a:lstStyle>
          <a:p>
            <a:fld id="{4A9A6402-836E-4507-B641-B01FDFCE6F04}" type="slidenum">
              <a:rPr lang="en-ZA" smtClean="0"/>
              <a:pPr/>
              <a:t>‹#›</a:t>
            </a:fld>
            <a:endParaRPr lang="en-ZA"/>
          </a:p>
        </p:txBody>
      </p:sp>
    </p:spTree>
    <p:extLst>
      <p:ext uri="{BB962C8B-B14F-4D97-AF65-F5344CB8AC3E}">
        <p14:creationId xmlns:p14="http://schemas.microsoft.com/office/powerpoint/2010/main" val="36060020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510670" cy="364808"/>
          </a:xfrm>
          <a:prstGeom prst="rect">
            <a:avLst/>
          </a:prstGeom>
        </p:spPr>
        <p:txBody>
          <a:bodyPr vert="horz" lIns="101169" tIns="50585" rIns="101169" bIns="50585" rtlCol="0"/>
          <a:lstStyle>
            <a:lvl1pPr algn="l">
              <a:defRPr sz="1300"/>
            </a:lvl1pPr>
          </a:lstStyle>
          <a:p>
            <a:endParaRPr lang="en-US"/>
          </a:p>
        </p:txBody>
      </p:sp>
      <p:sp>
        <p:nvSpPr>
          <p:cNvPr id="3" name="Date Placeholder 2"/>
          <p:cNvSpPr>
            <a:spLocks noGrp="1"/>
          </p:cNvSpPr>
          <p:nvPr>
            <p:ph type="dt" idx="1"/>
          </p:nvPr>
        </p:nvSpPr>
        <p:spPr>
          <a:xfrm>
            <a:off x="5896159" y="0"/>
            <a:ext cx="4510670" cy="364808"/>
          </a:xfrm>
          <a:prstGeom prst="rect">
            <a:avLst/>
          </a:prstGeom>
        </p:spPr>
        <p:txBody>
          <a:bodyPr vert="horz" lIns="101169" tIns="50585" rIns="101169" bIns="50585" rtlCol="0"/>
          <a:lstStyle>
            <a:lvl1pPr algn="r">
              <a:defRPr sz="1300"/>
            </a:lvl1pPr>
          </a:lstStyle>
          <a:p>
            <a:fld id="{1C2F6879-603E-754B-9B04-8AAE8D479E4C}" type="datetimeFigureOut">
              <a:rPr lang="en-US" smtClean="0"/>
              <a:pPr/>
              <a:t>4/18/2024</a:t>
            </a:fld>
            <a:endParaRPr lang="en-US"/>
          </a:p>
        </p:txBody>
      </p:sp>
      <p:sp>
        <p:nvSpPr>
          <p:cNvPr id="4" name="Slide Image Placeholder 3"/>
          <p:cNvSpPr>
            <a:spLocks noGrp="1" noRot="1" noChangeAspect="1"/>
          </p:cNvSpPr>
          <p:nvPr>
            <p:ph type="sldImg" idx="2"/>
          </p:nvPr>
        </p:nvSpPr>
        <p:spPr>
          <a:xfrm>
            <a:off x="3228975" y="547688"/>
            <a:ext cx="3951288" cy="2735262"/>
          </a:xfrm>
          <a:prstGeom prst="rect">
            <a:avLst/>
          </a:prstGeom>
          <a:noFill/>
          <a:ln w="12700">
            <a:solidFill>
              <a:prstClr val="black"/>
            </a:solidFill>
          </a:ln>
        </p:spPr>
        <p:txBody>
          <a:bodyPr vert="horz" lIns="101169" tIns="50585" rIns="101169" bIns="50585" rtlCol="0" anchor="ctr"/>
          <a:lstStyle/>
          <a:p>
            <a:endParaRPr lang="en-US"/>
          </a:p>
        </p:txBody>
      </p:sp>
      <p:sp>
        <p:nvSpPr>
          <p:cNvPr id="5" name="Notes Placeholder 4"/>
          <p:cNvSpPr>
            <a:spLocks noGrp="1"/>
          </p:cNvSpPr>
          <p:nvPr>
            <p:ph type="body" sz="quarter" idx="3"/>
          </p:nvPr>
        </p:nvSpPr>
        <p:spPr>
          <a:xfrm>
            <a:off x="1040924" y="3465671"/>
            <a:ext cx="8327390" cy="3283268"/>
          </a:xfrm>
          <a:prstGeom prst="rect">
            <a:avLst/>
          </a:prstGeom>
        </p:spPr>
        <p:txBody>
          <a:bodyPr vert="horz" lIns="101169" tIns="50585" rIns="101169" bIns="5058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930076"/>
            <a:ext cx="4510670" cy="364808"/>
          </a:xfrm>
          <a:prstGeom prst="rect">
            <a:avLst/>
          </a:prstGeom>
        </p:spPr>
        <p:txBody>
          <a:bodyPr vert="horz" lIns="101169" tIns="50585" rIns="101169" bIns="50585" rtlCol="0" anchor="b"/>
          <a:lstStyle>
            <a:lvl1pPr algn="l">
              <a:defRPr sz="1300"/>
            </a:lvl1pPr>
          </a:lstStyle>
          <a:p>
            <a:endParaRPr lang="en-US"/>
          </a:p>
        </p:txBody>
      </p:sp>
      <p:sp>
        <p:nvSpPr>
          <p:cNvPr id="7" name="Slide Number Placeholder 6"/>
          <p:cNvSpPr>
            <a:spLocks noGrp="1"/>
          </p:cNvSpPr>
          <p:nvPr>
            <p:ph type="sldNum" sz="quarter" idx="5"/>
          </p:nvPr>
        </p:nvSpPr>
        <p:spPr>
          <a:xfrm>
            <a:off x="5896159" y="6930076"/>
            <a:ext cx="4510670" cy="364808"/>
          </a:xfrm>
          <a:prstGeom prst="rect">
            <a:avLst/>
          </a:prstGeom>
        </p:spPr>
        <p:txBody>
          <a:bodyPr vert="horz" lIns="101169" tIns="50585" rIns="101169" bIns="50585" rtlCol="0" anchor="b"/>
          <a:lstStyle>
            <a:lvl1pPr algn="r">
              <a:defRPr sz="1300"/>
            </a:lvl1pPr>
          </a:lstStyle>
          <a:p>
            <a:fld id="{D14C1D86-6F9C-9646-B809-264C58FC1970}" type="slidenum">
              <a:rPr lang="en-US" smtClean="0"/>
              <a:pPr/>
              <a:t>‹#›</a:t>
            </a:fld>
            <a:endParaRPr lang="en-US"/>
          </a:p>
        </p:txBody>
      </p:sp>
    </p:spTree>
    <p:extLst>
      <p:ext uri="{BB962C8B-B14F-4D97-AF65-F5344CB8AC3E}">
        <p14:creationId xmlns:p14="http://schemas.microsoft.com/office/powerpoint/2010/main" val="320650887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1</a:t>
            </a:fld>
            <a:endParaRPr lang="en-US"/>
          </a:p>
        </p:txBody>
      </p:sp>
    </p:spTree>
    <p:extLst>
      <p:ext uri="{BB962C8B-B14F-4D97-AF65-F5344CB8AC3E}">
        <p14:creationId xmlns:p14="http://schemas.microsoft.com/office/powerpoint/2010/main" val="26241953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x&lt;- 5; y&lt;- 7</a:t>
            </a:r>
          </a:p>
          <a:p>
            <a:r>
              <a:rPr lang="es-ES" dirty="0"/>
              <a:t>x</a:t>
            </a:r>
          </a:p>
          <a:p>
            <a:r>
              <a:rPr lang="es-ES" dirty="0"/>
              <a:t>y</a:t>
            </a:r>
            <a:endParaRPr lang="en-ZA" dirty="0"/>
          </a:p>
        </p:txBody>
      </p:sp>
      <p:sp>
        <p:nvSpPr>
          <p:cNvPr id="4" name="Slide Number Placeholder 3"/>
          <p:cNvSpPr>
            <a:spLocks noGrp="1"/>
          </p:cNvSpPr>
          <p:nvPr>
            <p:ph type="sldNum" sz="quarter" idx="5"/>
          </p:nvPr>
        </p:nvSpPr>
        <p:spPr/>
        <p:txBody>
          <a:bodyPr/>
          <a:lstStyle/>
          <a:p>
            <a:fld id="{D14C1D86-6F9C-9646-B809-264C58FC1970}" type="slidenum">
              <a:rPr lang="en-US" smtClean="0"/>
              <a:pPr/>
              <a:t>2</a:t>
            </a:fld>
            <a:endParaRPr lang="en-US"/>
          </a:p>
        </p:txBody>
      </p:sp>
    </p:spTree>
    <p:extLst>
      <p:ext uri="{BB962C8B-B14F-4D97-AF65-F5344CB8AC3E}">
        <p14:creationId xmlns:p14="http://schemas.microsoft.com/office/powerpoint/2010/main" val="11255152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x&lt;- 6</a:t>
            </a:r>
          </a:p>
          <a:p>
            <a:pPr marL="0" indent="0">
              <a:buFont typeface="Wingdings" panose="05000000000000000000" pitchFamily="2" charset="2"/>
              <a:buNone/>
            </a:pPr>
            <a:r>
              <a:rPr lang="en-US" dirty="0"/>
              <a:t>x</a:t>
            </a:r>
          </a:p>
          <a:p>
            <a:pPr marL="171450" indent="-171450">
              <a:buFont typeface="Wingdings" panose="05000000000000000000" pitchFamily="2" charset="2"/>
              <a:buChar char="Ø"/>
            </a:pPr>
            <a:endParaRPr lang="en-US" dirty="0"/>
          </a:p>
          <a:p>
            <a:pPr marL="0" indent="0">
              <a:buFont typeface="Wingdings" panose="05000000000000000000" pitchFamily="2" charset="2"/>
              <a:buNone/>
            </a:pPr>
            <a:r>
              <a:rPr lang="en-US" dirty="0"/>
              <a:t>y&lt;- 2</a:t>
            </a:r>
          </a:p>
          <a:p>
            <a:pPr marL="0" indent="0">
              <a:buFont typeface="Wingdings" panose="05000000000000000000" pitchFamily="2" charset="2"/>
              <a:buNone/>
            </a:pPr>
            <a:r>
              <a:rPr lang="en-US" dirty="0"/>
              <a:t>y</a:t>
            </a:r>
          </a:p>
          <a:p>
            <a:pPr marL="171450" indent="-171450">
              <a:buFont typeface="Wingdings" panose="05000000000000000000" pitchFamily="2" charset="2"/>
              <a:buChar char="Ø"/>
            </a:pPr>
            <a:endParaRPr lang="en-US" dirty="0"/>
          </a:p>
          <a:p>
            <a:pPr marL="0" indent="0">
              <a:buFont typeface="Wingdings" panose="05000000000000000000" pitchFamily="2" charset="2"/>
              <a:buNone/>
            </a:pPr>
            <a:r>
              <a:rPr lang="en-US" dirty="0"/>
              <a:t>if(x&lt;=y) z&lt;- x + y</a:t>
            </a:r>
          </a:p>
          <a:p>
            <a:pPr marL="0" indent="0">
              <a:buFont typeface="Wingdings" panose="05000000000000000000" pitchFamily="2" charset="2"/>
              <a:buNone/>
            </a:pPr>
            <a:r>
              <a:rPr lang="en-US" dirty="0"/>
              <a:t>z</a:t>
            </a:r>
          </a:p>
          <a:p>
            <a:pPr marL="171450" indent="-171450">
              <a:buFont typeface="Wingdings" panose="05000000000000000000" pitchFamily="2" charset="2"/>
              <a:buChar char="Ø"/>
            </a:pPr>
            <a:endParaRPr lang="en-US" dirty="0"/>
          </a:p>
          <a:p>
            <a:pPr marL="0" indent="0">
              <a:buFont typeface="Wingdings" panose="05000000000000000000" pitchFamily="2" charset="2"/>
              <a:buNone/>
            </a:pPr>
            <a:r>
              <a:rPr lang="en-US" dirty="0"/>
              <a:t>if(x&gt;=y) z&lt;- x + y</a:t>
            </a:r>
          </a:p>
          <a:p>
            <a:pPr marL="0" indent="0">
              <a:buFont typeface="Wingdings" panose="05000000000000000000" pitchFamily="2" charset="2"/>
              <a:buNone/>
            </a:pPr>
            <a:r>
              <a:rPr lang="en-US" dirty="0"/>
              <a:t>z</a:t>
            </a:r>
          </a:p>
        </p:txBody>
      </p:sp>
      <p:sp>
        <p:nvSpPr>
          <p:cNvPr id="4" name="Slide Number Placeholder 3"/>
          <p:cNvSpPr>
            <a:spLocks noGrp="1"/>
          </p:cNvSpPr>
          <p:nvPr>
            <p:ph type="sldNum" sz="quarter" idx="10"/>
          </p:nvPr>
        </p:nvSpPr>
        <p:spPr/>
        <p:txBody>
          <a:bodyPr/>
          <a:lstStyle/>
          <a:p>
            <a:fld id="{D14C1D86-6F9C-9646-B809-264C58FC1970}" type="slidenum">
              <a:rPr lang="en-US" smtClean="0"/>
              <a:pPr/>
              <a:t>4</a:t>
            </a:fld>
            <a:endParaRPr lang="en-US"/>
          </a:p>
        </p:txBody>
      </p:sp>
    </p:spTree>
    <p:extLst>
      <p:ext uri="{BB962C8B-B14F-4D97-AF65-F5344CB8AC3E}">
        <p14:creationId xmlns:p14="http://schemas.microsoft.com/office/powerpoint/2010/main" val="15080094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q&lt;- 3</a:t>
            </a:r>
          </a:p>
          <a:p>
            <a:pPr marL="0" indent="0">
              <a:buFont typeface="Wingdings" panose="05000000000000000000" pitchFamily="2" charset="2"/>
              <a:buNone/>
            </a:pPr>
            <a:r>
              <a:rPr lang="en-US" dirty="0"/>
              <a:t>q</a:t>
            </a:r>
          </a:p>
          <a:p>
            <a:pPr marL="171450" indent="-171450">
              <a:buFont typeface="Wingdings" panose="05000000000000000000" pitchFamily="2" charset="2"/>
              <a:buChar char="Ø"/>
            </a:pPr>
            <a:endParaRPr lang="en-US" dirty="0"/>
          </a:p>
          <a:p>
            <a:pPr marL="0" indent="0">
              <a:buFont typeface="Wingdings" panose="05000000000000000000" pitchFamily="2" charset="2"/>
              <a:buNone/>
            </a:pPr>
            <a:r>
              <a:rPr lang="en-US" dirty="0"/>
              <a:t>t&lt;- 5</a:t>
            </a:r>
          </a:p>
          <a:p>
            <a:pPr marL="0" indent="0">
              <a:buFont typeface="Wingdings" panose="05000000000000000000" pitchFamily="2" charset="2"/>
              <a:buNone/>
            </a:pPr>
            <a:r>
              <a:rPr lang="en-US" dirty="0"/>
              <a:t>t</a:t>
            </a:r>
          </a:p>
          <a:p>
            <a:pPr marL="171450" indent="-171450">
              <a:buFont typeface="Wingdings" panose="05000000000000000000" pitchFamily="2" charset="2"/>
              <a:buChar char="Ø"/>
            </a:pPr>
            <a:endParaRPr lang="en-US" dirty="0"/>
          </a:p>
          <a:p>
            <a:pPr marL="0" indent="0">
              <a:buFont typeface="Wingdings" panose="05000000000000000000" pitchFamily="2" charset="2"/>
              <a:buNone/>
            </a:pPr>
            <a:r>
              <a:rPr lang="fr-FR" dirty="0"/>
              <a:t>if(q&lt;t){w&lt;- q+ t} </a:t>
            </a:r>
            <a:r>
              <a:rPr lang="fr-FR" dirty="0" err="1"/>
              <a:t>else</a:t>
            </a:r>
            <a:r>
              <a:rPr lang="fr-FR" dirty="0"/>
              <a:t> w&lt;- q - t</a:t>
            </a:r>
          </a:p>
          <a:p>
            <a:pPr marL="0" indent="0">
              <a:buFont typeface="Wingdings" panose="05000000000000000000" pitchFamily="2" charset="2"/>
              <a:buNone/>
            </a:pPr>
            <a:r>
              <a:rPr lang="fr-FR" dirty="0"/>
              <a:t>w</a:t>
            </a:r>
            <a:endParaRPr lang="en-US" dirty="0"/>
          </a:p>
          <a:p>
            <a:pPr marL="171450" indent="-171450">
              <a:buFont typeface="Wingdings" panose="05000000000000000000" pitchFamily="2" charset="2"/>
              <a:buChar char="Ø"/>
            </a:pPr>
            <a:endParaRPr lang="en-US" dirty="0"/>
          </a:p>
          <a:p>
            <a:pPr marL="171450" indent="-171450">
              <a:buFont typeface="Wingdings" panose="05000000000000000000" pitchFamily="2" charset="2"/>
              <a:buChar char="Ø"/>
            </a:pPr>
            <a:endParaRPr lang="en-US" dirty="0"/>
          </a:p>
          <a:p>
            <a:pPr marL="171450" indent="-171450">
              <a:buFont typeface="Wingdings" panose="05000000000000000000" pitchFamily="2" charset="2"/>
              <a:buChar char="Ø"/>
            </a:pPr>
            <a:endParaRPr lang="en-US" dirty="0"/>
          </a:p>
          <a:p>
            <a:pPr marL="171450" indent="-171450">
              <a:buFont typeface="Wingdings" panose="05000000000000000000" pitchFamily="2" charset="2"/>
              <a:buChar char="Ø"/>
            </a:pPr>
            <a:endParaRPr lang="en-US" dirty="0"/>
          </a:p>
          <a:p>
            <a:pPr marL="171450" indent="-171450">
              <a:buFont typeface="Wingdings" panose="05000000000000000000" pitchFamily="2" charset="2"/>
              <a:buChar char="Ø"/>
            </a:pPr>
            <a:endParaRPr lang="en-US" dirty="0"/>
          </a:p>
          <a:p>
            <a:pPr marL="171450" indent="-171450">
              <a:buFont typeface="Wingdings" panose="05000000000000000000" pitchFamily="2" charset="2"/>
              <a:buChar char="Ø"/>
            </a:pPr>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5</a:t>
            </a:fld>
            <a:endParaRPr lang="en-US"/>
          </a:p>
        </p:txBody>
      </p:sp>
    </p:spTree>
    <p:extLst>
      <p:ext uri="{BB962C8B-B14F-4D97-AF65-F5344CB8AC3E}">
        <p14:creationId xmlns:p14="http://schemas.microsoft.com/office/powerpoint/2010/main" val="14716497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x&lt;- 0</a:t>
            </a:r>
          </a:p>
          <a:p>
            <a:pPr marL="0" indent="0">
              <a:buFont typeface="Wingdings" panose="05000000000000000000" pitchFamily="2" charset="2"/>
              <a:buNone/>
            </a:pPr>
            <a:r>
              <a:rPr lang="en-ZA" dirty="0"/>
              <a:t>x</a:t>
            </a:r>
          </a:p>
          <a:p>
            <a:pPr marL="0" indent="0">
              <a:buFont typeface="Wingdings" panose="05000000000000000000" pitchFamily="2" charset="2"/>
              <a:buNone/>
            </a:pPr>
            <a:endParaRPr lang="en-ZA" dirty="0"/>
          </a:p>
          <a:p>
            <a:pPr marL="0" indent="0">
              <a:buFont typeface="Wingdings" panose="05000000000000000000" pitchFamily="2" charset="2"/>
              <a:buNone/>
            </a:pPr>
            <a:r>
              <a:rPr lang="en-US" dirty="0"/>
              <a:t>while(x&lt;=5) {x&lt;- x + 1}</a:t>
            </a:r>
          </a:p>
          <a:p>
            <a:pPr marL="0" indent="0">
              <a:buFont typeface="Wingdings" panose="05000000000000000000" pitchFamily="2" charset="2"/>
              <a:buNone/>
            </a:pPr>
            <a:r>
              <a:rPr lang="en-US" dirty="0"/>
              <a:t>x</a:t>
            </a:r>
            <a:endParaRPr lang="en-ZA" dirty="0"/>
          </a:p>
        </p:txBody>
      </p:sp>
      <p:sp>
        <p:nvSpPr>
          <p:cNvPr id="4" name="Slide Number Placeholder 3"/>
          <p:cNvSpPr>
            <a:spLocks noGrp="1"/>
          </p:cNvSpPr>
          <p:nvPr>
            <p:ph type="sldNum" sz="quarter" idx="5"/>
          </p:nvPr>
        </p:nvSpPr>
        <p:spPr/>
        <p:txBody>
          <a:bodyPr/>
          <a:lstStyle/>
          <a:p>
            <a:fld id="{D14C1D86-6F9C-9646-B809-264C58FC1970}" type="slidenum">
              <a:rPr lang="en-US" smtClean="0"/>
              <a:pPr/>
              <a:t>6</a:t>
            </a:fld>
            <a:endParaRPr lang="en-US"/>
          </a:p>
        </p:txBody>
      </p:sp>
    </p:spTree>
    <p:extLst>
      <p:ext uri="{BB962C8B-B14F-4D97-AF65-F5344CB8AC3E}">
        <p14:creationId xmlns:p14="http://schemas.microsoft.com/office/powerpoint/2010/main" val="9468539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n-NO" dirty="0"/>
              <a:t>for(i in 1:10) {y[i]&lt;- i}</a:t>
            </a:r>
          </a:p>
          <a:p>
            <a:pPr marL="0" indent="0">
              <a:buFont typeface="Wingdings" panose="05000000000000000000" pitchFamily="2" charset="2"/>
              <a:buNone/>
            </a:pPr>
            <a:r>
              <a:rPr lang="nn-NO" dirty="0"/>
              <a:t>y</a:t>
            </a:r>
          </a:p>
          <a:p>
            <a:pPr marL="171450" indent="-171450">
              <a:buFont typeface="Wingdings" panose="05000000000000000000" pitchFamily="2" charset="2"/>
              <a:buChar char="Ø"/>
            </a:pPr>
            <a:endParaRPr lang="nn-NO" dirty="0"/>
          </a:p>
          <a:p>
            <a:pPr marL="0" indent="0">
              <a:buFont typeface="Wingdings" panose="05000000000000000000" pitchFamily="2" charset="2"/>
              <a:buNone/>
            </a:pPr>
            <a:r>
              <a:rPr lang="nn-NO" dirty="0"/>
              <a:t>for(i in 1:10) {y[i]&lt;- i+2}</a:t>
            </a:r>
          </a:p>
          <a:p>
            <a:pPr marL="0" indent="0">
              <a:buFont typeface="Wingdings" panose="05000000000000000000" pitchFamily="2" charset="2"/>
              <a:buNone/>
            </a:pPr>
            <a:r>
              <a:rPr lang="nn-NO" dirty="0"/>
              <a:t>y</a:t>
            </a:r>
            <a:endParaRPr lang="en-ZA" dirty="0"/>
          </a:p>
        </p:txBody>
      </p:sp>
      <p:sp>
        <p:nvSpPr>
          <p:cNvPr id="4" name="Slide Number Placeholder 3"/>
          <p:cNvSpPr>
            <a:spLocks noGrp="1"/>
          </p:cNvSpPr>
          <p:nvPr>
            <p:ph type="sldNum" sz="quarter" idx="5"/>
          </p:nvPr>
        </p:nvSpPr>
        <p:spPr/>
        <p:txBody>
          <a:bodyPr/>
          <a:lstStyle/>
          <a:p>
            <a:fld id="{D14C1D86-6F9C-9646-B809-264C58FC1970}" type="slidenum">
              <a:rPr lang="en-US" smtClean="0"/>
              <a:pPr/>
              <a:t>7</a:t>
            </a:fld>
            <a:endParaRPr lang="en-US"/>
          </a:p>
        </p:txBody>
      </p:sp>
    </p:spTree>
    <p:extLst>
      <p:ext uri="{BB962C8B-B14F-4D97-AF65-F5344CB8AC3E}">
        <p14:creationId xmlns:p14="http://schemas.microsoft.com/office/powerpoint/2010/main" val="17228038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a:t>z&lt;- matrix(nrow = 2, ncol = 4)</a:t>
            </a:r>
          </a:p>
          <a:p>
            <a:pPr marL="0" indent="0">
              <a:buFont typeface="Wingdings" panose="05000000000000000000" pitchFamily="2" charset="2"/>
              <a:buNone/>
            </a:pPr>
            <a:r>
              <a:rPr lang="en-US" dirty="0"/>
              <a:t>z</a:t>
            </a:r>
          </a:p>
          <a:p>
            <a:pPr marL="0" indent="0">
              <a:buFont typeface="Wingdings" panose="05000000000000000000" pitchFamily="2" charset="2"/>
              <a:buNone/>
            </a:pPr>
            <a:endParaRPr lang="en-US" dirty="0"/>
          </a:p>
          <a:p>
            <a:pPr marL="0" indent="0">
              <a:buFont typeface="Wingdings" panose="05000000000000000000" pitchFamily="2" charset="2"/>
              <a:buNone/>
            </a:pPr>
            <a:r>
              <a:rPr lang="pl-PL" dirty="0"/>
              <a:t>for(i in 1:2) {for(j in 1:4) z[i,j]&lt;- i + j}</a:t>
            </a:r>
          </a:p>
          <a:p>
            <a:pPr marL="0" indent="0">
              <a:buFont typeface="Wingdings" panose="05000000000000000000" pitchFamily="2" charset="2"/>
              <a:buNone/>
            </a:pPr>
            <a:r>
              <a:rPr lang="pl-PL" dirty="0"/>
              <a:t>z</a:t>
            </a:r>
            <a:endParaRPr lang="en-US" dirty="0"/>
          </a:p>
          <a:p>
            <a:pPr marL="171450" indent="-171450">
              <a:buFont typeface="Wingdings" panose="05000000000000000000" pitchFamily="2" charset="2"/>
              <a:buChar char="Ø"/>
            </a:pPr>
            <a:endParaRPr lang="en-ZA" dirty="0"/>
          </a:p>
        </p:txBody>
      </p:sp>
      <p:sp>
        <p:nvSpPr>
          <p:cNvPr id="4" name="Slide Number Placeholder 3"/>
          <p:cNvSpPr>
            <a:spLocks noGrp="1"/>
          </p:cNvSpPr>
          <p:nvPr>
            <p:ph type="sldNum" sz="quarter" idx="5"/>
          </p:nvPr>
        </p:nvSpPr>
        <p:spPr/>
        <p:txBody>
          <a:bodyPr/>
          <a:lstStyle/>
          <a:p>
            <a:fld id="{D14C1D86-6F9C-9646-B809-264C58FC1970}" type="slidenum">
              <a:rPr lang="en-US" smtClean="0"/>
              <a:pPr/>
              <a:t>8</a:t>
            </a:fld>
            <a:endParaRPr lang="en-US"/>
          </a:p>
        </p:txBody>
      </p:sp>
    </p:spTree>
    <p:extLst>
      <p:ext uri="{BB962C8B-B14F-4D97-AF65-F5344CB8AC3E}">
        <p14:creationId xmlns:p14="http://schemas.microsoft.com/office/powerpoint/2010/main" val="979332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12</a:t>
            </a:fld>
            <a:endParaRPr lang="en-US"/>
          </a:p>
        </p:txBody>
      </p:sp>
    </p:spTree>
    <p:extLst>
      <p:ext uri="{BB962C8B-B14F-4D97-AF65-F5344CB8AC3E}">
        <p14:creationId xmlns:p14="http://schemas.microsoft.com/office/powerpoint/2010/main" val="18178734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2130426"/>
            <a:ext cx="8420100" cy="1470025"/>
          </a:xfrm>
        </p:spPr>
        <p:txBody>
          <a:bodyPr/>
          <a:lstStyle/>
          <a:p>
            <a:r>
              <a:rPr lang="en-US"/>
              <a:t>Click to edit Master title style</a:t>
            </a:r>
          </a:p>
        </p:txBody>
      </p:sp>
      <p:sp>
        <p:nvSpPr>
          <p:cNvPr id="3" name="Subtitle 2"/>
          <p:cNvSpPr>
            <a:spLocks noGrp="1"/>
          </p:cNvSpPr>
          <p:nvPr>
            <p:ph type="subTitle" idx="1"/>
          </p:nvPr>
        </p:nvSpPr>
        <p:spPr>
          <a:xfrm>
            <a:off x="1485900" y="3886200"/>
            <a:ext cx="6934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C4D5889-9C47-1542-89BF-71BA5CAEC00A}" type="datetimeFigureOut">
              <a:rPr lang="en-US" smtClean="0"/>
              <a:pPr/>
              <a:t>4/18/2024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40388722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C4D5889-9C47-1542-89BF-71BA5CAEC00A}" type="datetimeFigureOut">
              <a:rPr lang="en-US" smtClean="0"/>
              <a:pPr/>
              <a:t>4/18/2024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23544334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506" y="4406901"/>
            <a:ext cx="84201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82506" y="2906713"/>
            <a:ext cx="84201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4D5889-9C47-1542-89BF-71BA5CAEC00A}" type="datetimeFigureOut">
              <a:rPr lang="en-US" smtClean="0"/>
              <a:pPr/>
              <a:t>4/18/2024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169061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9530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3555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C4D5889-9C47-1542-89BF-71BA5CAEC00A}" type="datetimeFigureOut">
              <a:rPr lang="en-US" smtClean="0"/>
              <a:pPr/>
              <a:t>4/18/2024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702583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32111"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32111"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C4D5889-9C47-1542-89BF-71BA5CAEC00A}" type="datetimeFigureOut">
              <a:rPr lang="en-US" smtClean="0"/>
              <a:pPr/>
              <a:t>4/18/2024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2485819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C4D5889-9C47-1542-89BF-71BA5CAEC00A}" type="datetimeFigureOut">
              <a:rPr lang="en-US" smtClean="0"/>
              <a:pPr/>
              <a:t>4/18/2024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29155833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4D5889-9C47-1542-89BF-71BA5CAEC00A}" type="datetimeFigureOut">
              <a:rPr lang="en-US" smtClean="0"/>
              <a:pPr/>
              <a:t>4/18/2024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1282837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9006"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872971" y="273051"/>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95300" y="1435101"/>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C4D5889-9C47-1542-89BF-71BA5CAEC00A}" type="datetimeFigureOut">
              <a:rPr lang="en-US" smtClean="0"/>
              <a:pPr/>
              <a:t>4/18/2024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5559465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645" y="4800600"/>
            <a:ext cx="59436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C4D5889-9C47-1542-89BF-71BA5CAEC00A}" type="datetimeFigureOut">
              <a:rPr lang="en-US" smtClean="0"/>
              <a:pPr/>
              <a:t>4/18/2024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11462889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C4D5889-9C47-1542-89BF-71BA5CAEC00A}" type="datetimeFigureOut">
              <a:rPr lang="en-US" smtClean="0"/>
              <a:pPr/>
              <a:t>4/18/2024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9797242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81850" y="274639"/>
            <a:ext cx="222885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95300" y="274639"/>
            <a:ext cx="652145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C4D5889-9C47-1542-89BF-71BA5CAEC00A}" type="datetimeFigureOut">
              <a:rPr lang="en-US" smtClean="0"/>
              <a:pPr/>
              <a:t>4/18/2024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3357515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95300" y="1600201"/>
            <a:ext cx="89154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95300" y="6356351"/>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4D5889-9C47-1542-89BF-71BA5CAEC00A}" type="datetimeFigureOut">
              <a:rPr lang="en-US" smtClean="0"/>
              <a:pPr/>
              <a:t>4/18/2024</a:t>
            </a:fld>
            <a:endParaRPr lang="en-US"/>
          </a:p>
        </p:txBody>
      </p:sp>
      <p:sp>
        <p:nvSpPr>
          <p:cNvPr id="5" name="Footer Placeholder 4"/>
          <p:cNvSpPr>
            <a:spLocks noGrp="1"/>
          </p:cNvSpPr>
          <p:nvPr>
            <p:ph type="ftr" sz="quarter" idx="3"/>
          </p:nvPr>
        </p:nvSpPr>
        <p:spPr>
          <a:xfrm>
            <a:off x="3384550" y="6356351"/>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099300" y="6356351"/>
            <a:ext cx="2311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DF8427-4C18-6C43-BFAB-BAEC5845A11E}" type="slidenum">
              <a:rPr lang="en-US" smtClean="0"/>
              <a:pPr/>
              <a:t>‹#›</a:t>
            </a:fld>
            <a:endParaRPr lang="en-US"/>
          </a:p>
        </p:txBody>
      </p:sp>
    </p:spTree>
    <p:extLst>
      <p:ext uri="{BB962C8B-B14F-4D97-AF65-F5344CB8AC3E}">
        <p14:creationId xmlns:p14="http://schemas.microsoft.com/office/powerpoint/2010/main" val="2800425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3200" kern="1200">
          <a:solidFill>
            <a:schemeClr val="tx1"/>
          </a:solidFill>
          <a:latin typeface="Baskerville Old Face"/>
          <a:ea typeface="+mj-ea"/>
          <a:cs typeface="Baskerville Old Face"/>
        </a:defRPr>
      </a:lvl1pPr>
    </p:titleStyle>
    <p:body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4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4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emplate1.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906001" cy="6858000"/>
          </a:xfrm>
          <a:prstGeom prst="rect">
            <a:avLst/>
          </a:prstGeom>
        </p:spPr>
      </p:pic>
      <p:sp>
        <p:nvSpPr>
          <p:cNvPr id="5" name="Title 1"/>
          <p:cNvSpPr txBox="1">
            <a:spLocks/>
          </p:cNvSpPr>
          <p:nvPr/>
        </p:nvSpPr>
        <p:spPr>
          <a:xfrm>
            <a:off x="1092200" y="2294281"/>
            <a:ext cx="8013700" cy="3330574"/>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r"/>
            <a:endParaRPr lang="en-US" sz="2400" b="1" dirty="0">
              <a:solidFill>
                <a:srgbClr val="A7853E"/>
              </a:solidFill>
              <a:latin typeface="Baskerville Old Face" charset="0"/>
            </a:endParaRPr>
          </a:p>
          <a:p>
            <a:pPr algn="r"/>
            <a:endParaRPr lang="en-US" sz="2400" b="1" dirty="0">
              <a:solidFill>
                <a:srgbClr val="A7853E"/>
              </a:solidFill>
              <a:latin typeface="Baskerville Old Face" charset="0"/>
            </a:endParaRPr>
          </a:p>
          <a:p>
            <a:pPr algn="r"/>
            <a:endParaRPr lang="en-US" sz="2400" b="1" dirty="0">
              <a:solidFill>
                <a:srgbClr val="A7853E"/>
              </a:solidFill>
              <a:latin typeface="Baskerville Old Face" charset="0"/>
            </a:endParaRPr>
          </a:p>
          <a:p>
            <a:pPr algn="r"/>
            <a:endParaRPr lang="en-US" sz="2400" b="1" dirty="0">
              <a:solidFill>
                <a:srgbClr val="A7853E"/>
              </a:solidFill>
              <a:latin typeface="Baskerville Old Face" charset="0"/>
            </a:endParaRPr>
          </a:p>
        </p:txBody>
      </p:sp>
      <p:sp>
        <p:nvSpPr>
          <p:cNvPr id="3" name="Title 2"/>
          <p:cNvSpPr>
            <a:spLocks noGrp="1"/>
          </p:cNvSpPr>
          <p:nvPr>
            <p:ph type="ctrTitle"/>
          </p:nvPr>
        </p:nvSpPr>
        <p:spPr>
          <a:xfrm>
            <a:off x="742950" y="501651"/>
            <a:ext cx="8420100" cy="1470025"/>
          </a:xfrm>
        </p:spPr>
        <p:txBody>
          <a:bodyPr>
            <a:normAutofit/>
          </a:bodyPr>
          <a:lstStyle/>
          <a:p>
            <a:br>
              <a:rPr lang="en-ZA" sz="2400" b="1" dirty="0">
                <a:solidFill>
                  <a:srgbClr val="A7853E"/>
                </a:solidFill>
                <a:latin typeface="Baskerville Old Face" charset="0"/>
                <a:cs typeface="+mj-cs"/>
              </a:rPr>
            </a:br>
            <a:endParaRPr lang="en-ZA" sz="2400" b="1" dirty="0">
              <a:solidFill>
                <a:srgbClr val="A7853E"/>
              </a:solidFill>
              <a:latin typeface="Baskerville Old Face" charset="0"/>
              <a:cs typeface="+mj-cs"/>
            </a:endParaRPr>
          </a:p>
        </p:txBody>
      </p:sp>
      <p:sp>
        <p:nvSpPr>
          <p:cNvPr id="2" name="Rectangle 1"/>
          <p:cNvSpPr/>
          <p:nvPr/>
        </p:nvSpPr>
        <p:spPr>
          <a:xfrm>
            <a:off x="2493819" y="2318296"/>
            <a:ext cx="4346336" cy="3539430"/>
          </a:xfrm>
          <a:prstGeom prst="rect">
            <a:avLst/>
          </a:prstGeom>
        </p:spPr>
        <p:txBody>
          <a:bodyPr wrap="square">
            <a:spAutoFit/>
          </a:bodyPr>
          <a:lstStyle/>
          <a:p>
            <a:pPr algn="ctr"/>
            <a:r>
              <a:rPr lang="en-ZA" sz="3200" b="1" spc="50" dirty="0">
                <a:ln w="0"/>
                <a:solidFill>
                  <a:schemeClr val="bg2"/>
                </a:solidFill>
                <a:effectLst>
                  <a:innerShdw blurRad="63500" dist="50800" dir="13500000">
                    <a:srgbClr val="000000">
                      <a:alpha val="50000"/>
                    </a:srgbClr>
                  </a:innerShdw>
                </a:effectLst>
              </a:rPr>
              <a:t>Programming with R &amp; Exploratory Data Analysis and Graphics –</a:t>
            </a:r>
          </a:p>
          <a:p>
            <a:pPr algn="ctr"/>
            <a:r>
              <a:rPr lang="en-ZA" sz="3200" b="1" spc="50" dirty="0">
                <a:ln w="0"/>
                <a:solidFill>
                  <a:schemeClr val="bg2"/>
                </a:solidFill>
                <a:effectLst>
                  <a:innerShdw blurRad="63500" dist="50800" dir="13500000">
                    <a:srgbClr val="000000">
                      <a:alpha val="50000"/>
                    </a:srgbClr>
                  </a:innerShdw>
                </a:effectLst>
              </a:rPr>
              <a:t> </a:t>
            </a:r>
          </a:p>
          <a:p>
            <a:pPr algn="ctr"/>
            <a:r>
              <a:rPr lang="en-ZA" sz="3200" b="1" spc="50" dirty="0">
                <a:ln w="0"/>
                <a:solidFill>
                  <a:schemeClr val="bg2"/>
                </a:solidFill>
                <a:effectLst>
                  <a:innerShdw blurRad="63500" dist="50800" dir="13500000">
                    <a:srgbClr val="000000">
                      <a:alpha val="50000"/>
                    </a:srgbClr>
                  </a:innerShdw>
                </a:effectLst>
              </a:rPr>
              <a:t>Statistics Using R with Biological Examples (</a:t>
            </a:r>
            <a:r>
              <a:rPr lang="en-ZA" sz="3200" b="1" spc="50" dirty="0" err="1">
                <a:ln w="0"/>
                <a:solidFill>
                  <a:schemeClr val="bg2"/>
                </a:solidFill>
                <a:effectLst>
                  <a:innerShdw blurRad="63500" dist="50800" dir="13500000">
                    <a:srgbClr val="000000">
                      <a:alpha val="50000"/>
                    </a:srgbClr>
                  </a:innerShdw>
                </a:effectLst>
              </a:rPr>
              <a:t>Seefeld</a:t>
            </a:r>
            <a:r>
              <a:rPr lang="en-ZA" sz="3200" b="1" spc="50" dirty="0">
                <a:ln w="0"/>
                <a:solidFill>
                  <a:schemeClr val="bg2"/>
                </a:solidFill>
                <a:effectLst>
                  <a:innerShdw blurRad="63500" dist="50800" dir="13500000">
                    <a:srgbClr val="000000">
                      <a:alpha val="50000"/>
                    </a:srgbClr>
                  </a:innerShdw>
                </a:effectLst>
              </a:rPr>
              <a:t>)</a:t>
            </a:r>
          </a:p>
        </p:txBody>
      </p:sp>
      <p:sp>
        <p:nvSpPr>
          <p:cNvPr id="8" name="TextBox 7"/>
          <p:cNvSpPr txBox="1"/>
          <p:nvPr/>
        </p:nvSpPr>
        <p:spPr>
          <a:xfrm>
            <a:off x="6606912" y="5034144"/>
            <a:ext cx="3172407" cy="1323439"/>
          </a:xfrm>
          <a:prstGeom prst="rect">
            <a:avLst/>
          </a:prstGeom>
          <a:noFill/>
        </p:spPr>
        <p:txBody>
          <a:bodyPr wrap="none" rtlCol="0">
            <a:spAutoFit/>
          </a:bodyPr>
          <a:lstStyle/>
          <a:p>
            <a:r>
              <a:rPr lang="en-ZA" sz="2000" b="1" spc="50" dirty="0">
                <a:ln w="0"/>
                <a:solidFill>
                  <a:schemeClr val="bg2"/>
                </a:solidFill>
                <a:effectLst>
                  <a:innerShdw blurRad="63500" dist="50800" dir="13500000">
                    <a:srgbClr val="000000">
                      <a:alpha val="50000"/>
                    </a:srgbClr>
                  </a:innerShdw>
                </a:effectLst>
              </a:rPr>
              <a:t>Matthew Wayne Valentine</a:t>
            </a:r>
          </a:p>
          <a:p>
            <a:r>
              <a:rPr lang="en-ZA" sz="2000" b="1" spc="50" dirty="0">
                <a:ln w="0"/>
                <a:solidFill>
                  <a:schemeClr val="bg2"/>
                </a:solidFill>
                <a:effectLst>
                  <a:innerShdw blurRad="63500" dist="50800" dir="13500000">
                    <a:srgbClr val="000000">
                      <a:alpha val="50000"/>
                    </a:srgbClr>
                  </a:innerShdw>
                </a:effectLst>
              </a:rPr>
              <a:t>Office 1.32</a:t>
            </a:r>
          </a:p>
          <a:p>
            <a:r>
              <a:rPr lang="en-ZA" sz="2000" b="1" spc="50" dirty="0">
                <a:ln w="0"/>
                <a:solidFill>
                  <a:schemeClr val="bg2"/>
                </a:solidFill>
                <a:effectLst>
                  <a:innerShdw blurRad="63500" dist="50800" dir="13500000">
                    <a:srgbClr val="000000">
                      <a:alpha val="50000"/>
                    </a:srgbClr>
                  </a:innerShdw>
                </a:effectLst>
              </a:rPr>
              <a:t>Lab K2 – Tech Room K2</a:t>
            </a:r>
          </a:p>
          <a:p>
            <a:r>
              <a:rPr lang="en-ZA" sz="2000" b="1" spc="50" dirty="0">
                <a:ln w="0"/>
                <a:solidFill>
                  <a:schemeClr val="bg2"/>
                </a:solidFill>
                <a:effectLst>
                  <a:innerShdw blurRad="63500" dist="50800" dir="13500000">
                    <a:srgbClr val="000000">
                      <a:alpha val="50000"/>
                    </a:srgbClr>
                  </a:innerShdw>
                </a:effectLst>
              </a:rPr>
              <a:t>mvalentine@uwc.ac.za</a:t>
            </a:r>
          </a:p>
        </p:txBody>
      </p:sp>
      <p:sp>
        <p:nvSpPr>
          <p:cNvPr id="9" name="Rectangle 8"/>
          <p:cNvSpPr/>
          <p:nvPr/>
        </p:nvSpPr>
        <p:spPr>
          <a:xfrm>
            <a:off x="3266130" y="1476635"/>
            <a:ext cx="2801713" cy="584775"/>
          </a:xfrm>
          <a:prstGeom prst="rect">
            <a:avLst/>
          </a:prstGeom>
        </p:spPr>
        <p:txBody>
          <a:bodyPr wrap="square">
            <a:spAutoFit/>
          </a:bodyPr>
          <a:lstStyle/>
          <a:p>
            <a:pPr algn="ctr"/>
            <a:r>
              <a:rPr lang="en-ZA" sz="3200" b="1" spc="50" dirty="0">
                <a:ln w="0"/>
                <a:solidFill>
                  <a:schemeClr val="bg2"/>
                </a:solidFill>
                <a:effectLst>
                  <a:innerShdw blurRad="63500" dist="50800" dir="13500000">
                    <a:srgbClr val="000000">
                      <a:alpha val="50000"/>
                    </a:srgbClr>
                  </a:innerShdw>
                </a:effectLst>
              </a:rPr>
              <a:t>Chapter 4 &amp; 5</a:t>
            </a:r>
          </a:p>
        </p:txBody>
      </p:sp>
    </p:spTree>
    <p:extLst>
      <p:ext uri="{BB962C8B-B14F-4D97-AF65-F5344CB8AC3E}">
        <p14:creationId xmlns:p14="http://schemas.microsoft.com/office/powerpoint/2010/main" val="11303492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4"/>
          <a:stretch>
            <a:fillRect/>
          </a:stretch>
        </p:blipFill>
        <p:spPr>
          <a:xfrm>
            <a:off x="131837" y="324226"/>
            <a:ext cx="1383198" cy="865327"/>
          </a:xfrm>
          <a:prstGeom prst="rect">
            <a:avLst/>
          </a:prstGeom>
        </p:spPr>
      </p:pic>
      <p:sp>
        <p:nvSpPr>
          <p:cNvPr id="7" name="Title 1"/>
          <p:cNvSpPr>
            <a:spLocks noGrp="1"/>
          </p:cNvSpPr>
          <p:nvPr>
            <p:ph type="title"/>
          </p:nvPr>
        </p:nvSpPr>
        <p:spPr>
          <a:xfrm>
            <a:off x="269436" y="324226"/>
            <a:ext cx="8915400" cy="845332"/>
          </a:xfrm>
        </p:spPr>
        <p:txBody>
          <a:bodyPr>
            <a:normAutofit/>
          </a:bodyPr>
          <a:lstStyle/>
          <a:p>
            <a:r>
              <a:rPr lang="en-ZA" sz="4000" dirty="0"/>
              <a:t>Syntax</a:t>
            </a:r>
          </a:p>
        </p:txBody>
      </p:sp>
      <p:sp>
        <p:nvSpPr>
          <p:cNvPr id="9" name="TextBox 8"/>
          <p:cNvSpPr txBox="1"/>
          <p:nvPr/>
        </p:nvSpPr>
        <p:spPr>
          <a:xfrm>
            <a:off x="754425" y="1519482"/>
            <a:ext cx="8552329" cy="1015663"/>
          </a:xfrm>
          <a:prstGeom prst="rect">
            <a:avLst/>
          </a:prstGeom>
          <a:noFill/>
        </p:spPr>
        <p:txBody>
          <a:bodyPr wrap="square" rtlCol="0">
            <a:spAutoFit/>
          </a:bodyPr>
          <a:lstStyle/>
          <a:p>
            <a:pPr marL="285750" indent="-285750">
              <a:buFont typeface="Arial" panose="020B0604020202020204" pitchFamily="34" charset="0"/>
              <a:buChar char="•"/>
            </a:pPr>
            <a:r>
              <a:rPr lang="en-ZA" sz="2000" dirty="0">
                <a:latin typeface="Avenir Next Cyr W04 Regular" panose="020B0503020202020204" pitchFamily="34" charset="0"/>
              </a:rPr>
              <a:t>When it comes to syntax R one can write many assignments within one line of code as well as comments as long as those assignments are separated by semi-colons and the comments starting of with a #.</a:t>
            </a:r>
            <a:endParaRPr lang="en-ZA" sz="2000" i="1" dirty="0">
              <a:latin typeface="Avenir Next Cyr W04 Regular" panose="020B0503020202020204" pitchFamily="34" charset="0"/>
            </a:endParaRPr>
          </a:p>
        </p:txBody>
      </p:sp>
      <p:sp>
        <p:nvSpPr>
          <p:cNvPr id="10" name="TextBox 9"/>
          <p:cNvSpPr txBox="1"/>
          <p:nvPr/>
        </p:nvSpPr>
        <p:spPr>
          <a:xfrm>
            <a:off x="754425" y="2559448"/>
            <a:ext cx="8552329" cy="400110"/>
          </a:xfrm>
          <a:prstGeom prst="rect">
            <a:avLst/>
          </a:prstGeom>
          <a:noFill/>
        </p:spPr>
        <p:txBody>
          <a:bodyPr wrap="square" rtlCol="0">
            <a:spAutoFit/>
          </a:bodyPr>
          <a:lstStyle/>
          <a:p>
            <a:pPr marL="285750" indent="-285750">
              <a:buFont typeface="Arial" panose="020B0604020202020204" pitchFamily="34" charset="0"/>
              <a:buChar char="•"/>
            </a:pPr>
            <a:r>
              <a:rPr lang="en-ZA" sz="2000" dirty="0">
                <a:latin typeface="Avenir Next Cyr W04 Regular" panose="020B0503020202020204" pitchFamily="34" charset="0"/>
              </a:rPr>
              <a:t>When using arithmetic operators, the usual mathematical rules apply.</a:t>
            </a:r>
            <a:endParaRPr lang="en-ZA" sz="2000" i="1" dirty="0">
              <a:latin typeface="Avenir Next Cyr W04 Regular" panose="020B0503020202020204" pitchFamily="34" charset="0"/>
            </a:endParaRPr>
          </a:p>
        </p:txBody>
      </p:sp>
      <p:pic>
        <p:nvPicPr>
          <p:cNvPr id="3" name="Picture 2"/>
          <p:cNvPicPr>
            <a:picLocks noChangeAspect="1"/>
          </p:cNvPicPr>
          <p:nvPr/>
        </p:nvPicPr>
        <p:blipFill>
          <a:blip r:embed="rId5"/>
          <a:stretch>
            <a:fillRect/>
          </a:stretch>
        </p:blipFill>
        <p:spPr>
          <a:xfrm>
            <a:off x="2421452" y="3203431"/>
            <a:ext cx="5218274" cy="2151150"/>
          </a:xfrm>
          <a:prstGeom prst="rect">
            <a:avLst/>
          </a:prstGeom>
        </p:spPr>
      </p:pic>
      <p:sp>
        <p:nvSpPr>
          <p:cNvPr id="8" name="Rectangle 7"/>
          <p:cNvSpPr/>
          <p:nvPr/>
        </p:nvSpPr>
        <p:spPr>
          <a:xfrm>
            <a:off x="2421452" y="3203431"/>
            <a:ext cx="5218274" cy="2034996"/>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138106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131837" y="324226"/>
            <a:ext cx="1383198" cy="865327"/>
          </a:xfrm>
          <a:prstGeom prst="rect">
            <a:avLst/>
          </a:prstGeom>
        </p:spPr>
      </p:pic>
      <p:sp>
        <p:nvSpPr>
          <p:cNvPr id="7" name="Title 1"/>
          <p:cNvSpPr>
            <a:spLocks noGrp="1"/>
          </p:cNvSpPr>
          <p:nvPr>
            <p:ph type="title"/>
          </p:nvPr>
        </p:nvSpPr>
        <p:spPr>
          <a:xfrm>
            <a:off x="450971" y="334223"/>
            <a:ext cx="8915400" cy="845332"/>
          </a:xfrm>
        </p:spPr>
        <p:txBody>
          <a:bodyPr>
            <a:normAutofit/>
          </a:bodyPr>
          <a:lstStyle/>
          <a:p>
            <a:r>
              <a:rPr lang="en-ZA" sz="4000" dirty="0"/>
              <a:t>Logical and Relational Operators</a:t>
            </a:r>
          </a:p>
        </p:txBody>
      </p:sp>
      <p:sp>
        <p:nvSpPr>
          <p:cNvPr id="9" name="TextBox 8"/>
          <p:cNvSpPr txBox="1"/>
          <p:nvPr/>
        </p:nvSpPr>
        <p:spPr>
          <a:xfrm>
            <a:off x="754425" y="1311663"/>
            <a:ext cx="8552329" cy="1323439"/>
          </a:xfrm>
          <a:prstGeom prst="rect">
            <a:avLst/>
          </a:prstGeom>
          <a:noFill/>
        </p:spPr>
        <p:txBody>
          <a:bodyPr wrap="square" rtlCol="0">
            <a:spAutoFit/>
          </a:bodyPr>
          <a:lstStyle/>
          <a:p>
            <a:pPr marL="285750" indent="-285750">
              <a:buFont typeface="Arial" panose="020B0604020202020204" pitchFamily="34" charset="0"/>
              <a:buChar char="•"/>
            </a:pPr>
            <a:r>
              <a:rPr lang="en-ZA" sz="2000" dirty="0">
                <a:latin typeface="Avenir Next Cyr W04 Regular" panose="020B0503020202020204" pitchFamily="34" charset="0"/>
              </a:rPr>
              <a:t>Logical and relational operators are used when you want to selectively execute code based on certain conditions. The table below provides you with commonly used logical and relational operators.</a:t>
            </a:r>
            <a:endParaRPr lang="en-ZA" sz="2000" i="1" dirty="0">
              <a:latin typeface="Avenir Next Cyr W04 Regular" panose="020B0503020202020204" pitchFamily="34" charset="0"/>
            </a:endParaRPr>
          </a:p>
        </p:txBody>
      </p:sp>
      <p:graphicFrame>
        <p:nvGraphicFramePr>
          <p:cNvPr id="3" name="Table 2"/>
          <p:cNvGraphicFramePr>
            <a:graphicFrameLocks noGrp="1"/>
          </p:cNvGraphicFramePr>
          <p:nvPr>
            <p:extLst>
              <p:ext uri="{D42A27DB-BD31-4B8C-83A1-F6EECF244321}">
                <p14:modId xmlns:p14="http://schemas.microsoft.com/office/powerpoint/2010/main" val="1433090083"/>
              </p:ext>
            </p:extLst>
          </p:nvPr>
        </p:nvGraphicFramePr>
        <p:xfrm>
          <a:off x="2886762" y="2635102"/>
          <a:ext cx="4043818" cy="3657600"/>
        </p:xfrm>
        <a:graphic>
          <a:graphicData uri="http://schemas.openxmlformats.org/drawingml/2006/table">
            <a:tbl>
              <a:tblPr firstRow="1" bandRow="1">
                <a:tableStyleId>{5C22544A-7EE6-4342-B048-85BDC9FD1C3A}</a:tableStyleId>
              </a:tblPr>
              <a:tblGrid>
                <a:gridCol w="1352640">
                  <a:extLst>
                    <a:ext uri="{9D8B030D-6E8A-4147-A177-3AD203B41FA5}">
                      <a16:colId xmlns:a16="http://schemas.microsoft.com/office/drawing/2014/main" val="20000"/>
                    </a:ext>
                  </a:extLst>
                </a:gridCol>
                <a:gridCol w="2691178">
                  <a:extLst>
                    <a:ext uri="{9D8B030D-6E8A-4147-A177-3AD203B41FA5}">
                      <a16:colId xmlns:a16="http://schemas.microsoft.com/office/drawing/2014/main" val="20001"/>
                    </a:ext>
                  </a:extLst>
                </a:gridCol>
              </a:tblGrid>
              <a:tr h="329643">
                <a:tc>
                  <a:txBody>
                    <a:bodyPr/>
                    <a:lstStyle/>
                    <a:p>
                      <a:pPr algn="ctr"/>
                      <a:r>
                        <a:rPr lang="en-ZA" dirty="0"/>
                        <a:t>Operator</a:t>
                      </a:r>
                    </a:p>
                  </a:txBody>
                  <a:tcPr anchor="ctr"/>
                </a:tc>
                <a:tc>
                  <a:txBody>
                    <a:bodyPr/>
                    <a:lstStyle/>
                    <a:p>
                      <a:pPr algn="ctr"/>
                      <a:r>
                        <a:rPr lang="en-ZA" dirty="0"/>
                        <a:t>Functionality</a:t>
                      </a:r>
                    </a:p>
                  </a:txBody>
                  <a:tcPr anchor="ctr"/>
                </a:tc>
                <a:extLst>
                  <a:ext uri="{0D108BD9-81ED-4DB2-BD59-A6C34878D82A}">
                    <a16:rowId xmlns:a16="http://schemas.microsoft.com/office/drawing/2014/main" val="10000"/>
                  </a:ext>
                </a:extLst>
              </a:tr>
              <a:tr h="329643">
                <a:tc>
                  <a:txBody>
                    <a:bodyPr/>
                    <a:lstStyle/>
                    <a:p>
                      <a:pPr algn="ctr"/>
                      <a:r>
                        <a:rPr lang="en-ZA" dirty="0"/>
                        <a:t>&amp;</a:t>
                      </a:r>
                    </a:p>
                  </a:txBody>
                  <a:tcPr anchor="ctr"/>
                </a:tc>
                <a:tc>
                  <a:txBody>
                    <a:bodyPr/>
                    <a:lstStyle/>
                    <a:p>
                      <a:pPr algn="ctr"/>
                      <a:r>
                        <a:rPr lang="en-ZA" dirty="0"/>
                        <a:t>And</a:t>
                      </a:r>
                    </a:p>
                  </a:txBody>
                  <a:tcPr anchor="ctr"/>
                </a:tc>
                <a:extLst>
                  <a:ext uri="{0D108BD9-81ED-4DB2-BD59-A6C34878D82A}">
                    <a16:rowId xmlns:a16="http://schemas.microsoft.com/office/drawing/2014/main" val="10001"/>
                  </a:ext>
                </a:extLst>
              </a:tr>
              <a:tr h="329643">
                <a:tc>
                  <a:txBody>
                    <a:bodyPr/>
                    <a:lstStyle/>
                    <a:p>
                      <a:pPr algn="ctr"/>
                      <a:r>
                        <a:rPr lang="en-ZA" dirty="0"/>
                        <a:t>|</a:t>
                      </a:r>
                    </a:p>
                  </a:txBody>
                  <a:tcPr anchor="ctr"/>
                </a:tc>
                <a:tc>
                  <a:txBody>
                    <a:bodyPr/>
                    <a:lstStyle/>
                    <a:p>
                      <a:pPr algn="ctr"/>
                      <a:r>
                        <a:rPr lang="en-ZA" dirty="0"/>
                        <a:t>Or</a:t>
                      </a:r>
                    </a:p>
                  </a:txBody>
                  <a:tcPr anchor="ctr"/>
                </a:tc>
                <a:extLst>
                  <a:ext uri="{0D108BD9-81ED-4DB2-BD59-A6C34878D82A}">
                    <a16:rowId xmlns:a16="http://schemas.microsoft.com/office/drawing/2014/main" val="10002"/>
                  </a:ext>
                </a:extLst>
              </a:tr>
              <a:tr h="329643">
                <a:tc>
                  <a:txBody>
                    <a:bodyPr/>
                    <a:lstStyle/>
                    <a:p>
                      <a:pPr algn="ctr"/>
                      <a:r>
                        <a:rPr lang="en-ZA" dirty="0"/>
                        <a:t>!</a:t>
                      </a:r>
                    </a:p>
                  </a:txBody>
                  <a:tcPr anchor="ctr"/>
                </a:tc>
                <a:tc>
                  <a:txBody>
                    <a:bodyPr/>
                    <a:lstStyle/>
                    <a:p>
                      <a:pPr algn="ctr"/>
                      <a:r>
                        <a:rPr lang="en-ZA" dirty="0"/>
                        <a:t>Not</a:t>
                      </a:r>
                    </a:p>
                  </a:txBody>
                  <a:tcPr anchor="ctr"/>
                </a:tc>
                <a:extLst>
                  <a:ext uri="{0D108BD9-81ED-4DB2-BD59-A6C34878D82A}">
                    <a16:rowId xmlns:a16="http://schemas.microsoft.com/office/drawing/2014/main" val="10003"/>
                  </a:ext>
                </a:extLst>
              </a:tr>
              <a:tr h="329643">
                <a:tc>
                  <a:txBody>
                    <a:bodyPr/>
                    <a:lstStyle/>
                    <a:p>
                      <a:pPr algn="ctr"/>
                      <a:r>
                        <a:rPr lang="en-ZA" dirty="0"/>
                        <a:t>==</a:t>
                      </a:r>
                    </a:p>
                  </a:txBody>
                  <a:tcPr anchor="ctr"/>
                </a:tc>
                <a:tc>
                  <a:txBody>
                    <a:bodyPr/>
                    <a:lstStyle/>
                    <a:p>
                      <a:pPr algn="ctr"/>
                      <a:r>
                        <a:rPr lang="en-ZA" dirty="0"/>
                        <a:t>Equal to</a:t>
                      </a:r>
                    </a:p>
                  </a:txBody>
                  <a:tcPr anchor="ctr"/>
                </a:tc>
                <a:extLst>
                  <a:ext uri="{0D108BD9-81ED-4DB2-BD59-A6C34878D82A}">
                    <a16:rowId xmlns:a16="http://schemas.microsoft.com/office/drawing/2014/main" val="10004"/>
                  </a:ext>
                </a:extLst>
              </a:tr>
              <a:tr h="329643">
                <a:tc>
                  <a:txBody>
                    <a:bodyPr/>
                    <a:lstStyle/>
                    <a:p>
                      <a:pPr algn="ctr"/>
                      <a:r>
                        <a:rPr lang="en-ZA" dirty="0"/>
                        <a:t>!=</a:t>
                      </a:r>
                    </a:p>
                  </a:txBody>
                  <a:tcPr anchor="ctr"/>
                </a:tc>
                <a:tc>
                  <a:txBody>
                    <a:bodyPr/>
                    <a:lstStyle/>
                    <a:p>
                      <a:pPr algn="ctr"/>
                      <a:r>
                        <a:rPr lang="en-ZA" dirty="0"/>
                        <a:t>Not equal to</a:t>
                      </a:r>
                    </a:p>
                  </a:txBody>
                  <a:tcPr anchor="ctr"/>
                </a:tc>
                <a:extLst>
                  <a:ext uri="{0D108BD9-81ED-4DB2-BD59-A6C34878D82A}">
                    <a16:rowId xmlns:a16="http://schemas.microsoft.com/office/drawing/2014/main" val="10005"/>
                  </a:ext>
                </a:extLst>
              </a:tr>
              <a:tr h="329643">
                <a:tc>
                  <a:txBody>
                    <a:bodyPr/>
                    <a:lstStyle/>
                    <a:p>
                      <a:pPr algn="ctr"/>
                      <a:r>
                        <a:rPr lang="en-ZA" dirty="0"/>
                        <a:t>&lt;</a:t>
                      </a:r>
                    </a:p>
                  </a:txBody>
                  <a:tcPr anchor="ctr"/>
                </a:tc>
                <a:tc>
                  <a:txBody>
                    <a:bodyPr/>
                    <a:lstStyle/>
                    <a:p>
                      <a:pPr algn="ctr"/>
                      <a:r>
                        <a:rPr lang="en-ZA" dirty="0"/>
                        <a:t>Less than</a:t>
                      </a:r>
                    </a:p>
                  </a:txBody>
                  <a:tcPr anchor="ctr"/>
                </a:tc>
                <a:extLst>
                  <a:ext uri="{0D108BD9-81ED-4DB2-BD59-A6C34878D82A}">
                    <a16:rowId xmlns:a16="http://schemas.microsoft.com/office/drawing/2014/main" val="10006"/>
                  </a:ext>
                </a:extLst>
              </a:tr>
              <a:tr h="329643">
                <a:tc>
                  <a:txBody>
                    <a:bodyPr/>
                    <a:lstStyle/>
                    <a:p>
                      <a:pPr algn="ctr"/>
                      <a:r>
                        <a:rPr lang="en-ZA" dirty="0"/>
                        <a:t>&gt;</a:t>
                      </a:r>
                    </a:p>
                  </a:txBody>
                  <a:tcPr anchor="ctr"/>
                </a:tc>
                <a:tc>
                  <a:txBody>
                    <a:bodyPr/>
                    <a:lstStyle/>
                    <a:p>
                      <a:pPr algn="ctr"/>
                      <a:r>
                        <a:rPr lang="en-ZA" dirty="0"/>
                        <a:t>Greater than</a:t>
                      </a:r>
                    </a:p>
                  </a:txBody>
                  <a:tcPr anchor="ctr"/>
                </a:tc>
                <a:extLst>
                  <a:ext uri="{0D108BD9-81ED-4DB2-BD59-A6C34878D82A}">
                    <a16:rowId xmlns:a16="http://schemas.microsoft.com/office/drawing/2014/main" val="10007"/>
                  </a:ext>
                </a:extLst>
              </a:tr>
              <a:tr h="329643">
                <a:tc>
                  <a:txBody>
                    <a:bodyPr/>
                    <a:lstStyle/>
                    <a:p>
                      <a:pPr algn="ctr"/>
                      <a:r>
                        <a:rPr lang="en-ZA" dirty="0"/>
                        <a:t>&lt;=</a:t>
                      </a:r>
                    </a:p>
                  </a:txBody>
                  <a:tcPr anchor="ctr"/>
                </a:tc>
                <a:tc>
                  <a:txBody>
                    <a:bodyPr/>
                    <a:lstStyle/>
                    <a:p>
                      <a:pPr algn="ctr"/>
                      <a:r>
                        <a:rPr lang="en-ZA" dirty="0"/>
                        <a:t>Less than or equal to</a:t>
                      </a:r>
                    </a:p>
                  </a:txBody>
                  <a:tcPr anchor="ctr"/>
                </a:tc>
                <a:extLst>
                  <a:ext uri="{0D108BD9-81ED-4DB2-BD59-A6C34878D82A}">
                    <a16:rowId xmlns:a16="http://schemas.microsoft.com/office/drawing/2014/main" val="10008"/>
                  </a:ext>
                </a:extLst>
              </a:tr>
              <a:tr h="329643">
                <a:tc>
                  <a:txBody>
                    <a:bodyPr/>
                    <a:lstStyle/>
                    <a:p>
                      <a:pPr algn="ctr"/>
                      <a:r>
                        <a:rPr lang="en-ZA" dirty="0"/>
                        <a:t>&gt;=</a:t>
                      </a:r>
                    </a:p>
                  </a:txBody>
                  <a:tcPr anchor="ctr"/>
                </a:tc>
                <a:tc>
                  <a:txBody>
                    <a:bodyPr/>
                    <a:lstStyle/>
                    <a:p>
                      <a:pPr algn="ctr"/>
                      <a:r>
                        <a:rPr lang="en-ZA" dirty="0"/>
                        <a:t>Greater</a:t>
                      </a:r>
                      <a:r>
                        <a:rPr lang="en-ZA" baseline="0" dirty="0"/>
                        <a:t> than or equal to</a:t>
                      </a:r>
                      <a:endParaRPr lang="en-ZA" dirty="0"/>
                    </a:p>
                  </a:txBody>
                  <a:tcPr anchor="ctr"/>
                </a:tc>
                <a:extLst>
                  <a:ext uri="{0D108BD9-81ED-4DB2-BD59-A6C34878D82A}">
                    <a16:rowId xmlns:a16="http://schemas.microsoft.com/office/drawing/2014/main" val="10009"/>
                  </a:ext>
                </a:extLst>
              </a:tr>
            </a:tbl>
          </a:graphicData>
        </a:graphic>
      </p:graphicFrame>
      <p:sp>
        <p:nvSpPr>
          <p:cNvPr id="8" name="Rectangle 7"/>
          <p:cNvSpPr/>
          <p:nvPr/>
        </p:nvSpPr>
        <p:spPr>
          <a:xfrm>
            <a:off x="2886762" y="2635102"/>
            <a:ext cx="4043818" cy="3657600"/>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0262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4"/>
          <a:stretch>
            <a:fillRect/>
          </a:stretch>
        </p:blipFill>
        <p:spPr>
          <a:xfrm>
            <a:off x="131837" y="324226"/>
            <a:ext cx="1383198" cy="865327"/>
          </a:xfrm>
          <a:prstGeom prst="rect">
            <a:avLst/>
          </a:prstGeom>
        </p:spPr>
      </p:pic>
      <p:sp>
        <p:nvSpPr>
          <p:cNvPr id="7" name="Title 1"/>
          <p:cNvSpPr>
            <a:spLocks noGrp="1"/>
          </p:cNvSpPr>
          <p:nvPr>
            <p:ph type="title"/>
          </p:nvPr>
        </p:nvSpPr>
        <p:spPr>
          <a:xfrm>
            <a:off x="450971" y="334223"/>
            <a:ext cx="8915400" cy="845332"/>
          </a:xfrm>
        </p:spPr>
        <p:txBody>
          <a:bodyPr>
            <a:normAutofit fontScale="90000"/>
          </a:bodyPr>
          <a:lstStyle/>
          <a:p>
            <a:r>
              <a:rPr lang="en-ZA" sz="3400" dirty="0"/>
              <a:t>Logical and Relational Operators – </a:t>
            </a:r>
            <a:br>
              <a:rPr lang="en-ZA" sz="3400" dirty="0"/>
            </a:br>
            <a:r>
              <a:rPr lang="en-ZA" sz="3400" dirty="0"/>
              <a:t>If and Else</a:t>
            </a:r>
          </a:p>
        </p:txBody>
      </p:sp>
      <p:sp>
        <p:nvSpPr>
          <p:cNvPr id="9" name="TextBox 8"/>
          <p:cNvSpPr txBox="1"/>
          <p:nvPr/>
        </p:nvSpPr>
        <p:spPr>
          <a:xfrm>
            <a:off x="754425" y="1311663"/>
            <a:ext cx="8552329" cy="877163"/>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sz="1700" dirty="0">
                <a:solidFill>
                  <a:prstClr val="black"/>
                </a:solidFill>
                <a:latin typeface="Avenir Next Cyr W04 Regular" panose="020B0503020202020204" pitchFamily="34" charset="0"/>
              </a:rPr>
              <a:t>There are usually logical and relational operators that are used with conditional programming statements </a:t>
            </a:r>
            <a:r>
              <a:rPr lang="en-ZA" sz="1700" b="1" i="1" dirty="0">
                <a:solidFill>
                  <a:prstClr val="black"/>
                </a:solidFill>
                <a:latin typeface="Avenir Next Cyr W04 Regular" panose="020B0503020202020204" pitchFamily="34" charset="0"/>
              </a:rPr>
              <a:t>if and else.</a:t>
            </a:r>
            <a:endParaRPr lang="en-ZA" sz="1700" dirty="0">
              <a:solidFill>
                <a:prstClr val="black"/>
              </a:solidFill>
              <a:latin typeface="Avenir Next Cyr W04 Regular" panose="020B0503020202020204" pitchFamily="34"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sz="1700" dirty="0">
                <a:solidFill>
                  <a:prstClr val="black"/>
                </a:solidFill>
                <a:latin typeface="Avenir Next Cyr W04 Regular" panose="020B0503020202020204" pitchFamily="34" charset="0"/>
              </a:rPr>
              <a:t>The syntax of the if and else statement is written as follows;</a:t>
            </a:r>
            <a:endParaRPr kumimoji="0" lang="en-ZA" sz="1700" u="none" strike="noStrike" kern="1200" cap="none" spc="0" normalizeH="0" baseline="0" noProof="0" dirty="0">
              <a:ln>
                <a:noFill/>
              </a:ln>
              <a:solidFill>
                <a:prstClr val="black"/>
              </a:solidFill>
              <a:effectLst/>
              <a:uLnTx/>
              <a:uFillTx/>
              <a:latin typeface="Avenir Next Cyr W04 Regular" panose="020B0503020202020204" pitchFamily="34" charset="0"/>
            </a:endParaRPr>
          </a:p>
        </p:txBody>
      </p:sp>
      <p:sp>
        <p:nvSpPr>
          <p:cNvPr id="2" name="Rectangle 1"/>
          <p:cNvSpPr/>
          <p:nvPr/>
        </p:nvSpPr>
        <p:spPr>
          <a:xfrm>
            <a:off x="3294858" y="2156043"/>
            <a:ext cx="2178627" cy="646331"/>
          </a:xfrm>
          <a:prstGeom prst="rect">
            <a:avLst/>
          </a:prstGeom>
        </p:spPr>
        <p:txBody>
          <a:bodyPr wrap="square">
            <a:spAutoFit/>
          </a:bodyPr>
          <a:lstStyle/>
          <a:p>
            <a:r>
              <a:rPr lang="en-US" dirty="0"/>
              <a:t>if (condition is true)</a:t>
            </a:r>
          </a:p>
          <a:p>
            <a:r>
              <a:rPr lang="en-US" dirty="0"/>
              <a:t>	then do this</a:t>
            </a:r>
          </a:p>
        </p:txBody>
      </p:sp>
      <p:sp>
        <p:nvSpPr>
          <p:cNvPr id="8" name="TextBox 7"/>
          <p:cNvSpPr txBox="1"/>
          <p:nvPr/>
        </p:nvSpPr>
        <p:spPr>
          <a:xfrm>
            <a:off x="754424" y="2762461"/>
            <a:ext cx="8552329" cy="615553"/>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ZA" sz="1700" u="none" strike="noStrike" kern="1200" cap="none" spc="0" normalizeH="0" baseline="0" noProof="0" dirty="0">
                <a:ln>
                  <a:noFill/>
                </a:ln>
                <a:solidFill>
                  <a:prstClr val="black"/>
                </a:solidFill>
                <a:effectLst/>
                <a:uLnTx/>
                <a:uFillTx/>
                <a:latin typeface="Avenir Next Cyr W04 Regular" panose="020B0503020202020204" pitchFamily="34" charset="0"/>
              </a:rPr>
              <a:t>The</a:t>
            </a:r>
            <a:r>
              <a:rPr kumimoji="0" lang="en-ZA" sz="1700" u="none" strike="noStrike" kern="1200" cap="none" spc="0" normalizeH="0" noProof="0" dirty="0">
                <a:ln>
                  <a:noFill/>
                </a:ln>
                <a:solidFill>
                  <a:prstClr val="black"/>
                </a:solidFill>
                <a:effectLst/>
                <a:uLnTx/>
                <a:uFillTx/>
                <a:latin typeface="Avenir Next Cyr W04 Regular" panose="020B0503020202020204" pitchFamily="34" charset="0"/>
              </a:rPr>
              <a:t> condition that’s needs to be met is allows written in Parentheses which will contain a relational operator to determine if the condition is TRUE or FALSE.</a:t>
            </a:r>
            <a:endParaRPr kumimoji="0" lang="en-ZA" sz="1700" u="none" strike="noStrike" kern="1200" cap="none" spc="0" normalizeH="0" baseline="0" noProof="0" dirty="0">
              <a:ln>
                <a:noFill/>
              </a:ln>
              <a:solidFill>
                <a:prstClr val="black"/>
              </a:solidFill>
              <a:effectLst/>
              <a:uLnTx/>
              <a:uFillTx/>
              <a:latin typeface="Avenir Next Cyr W04 Regular" panose="020B0503020202020204" pitchFamily="34" charset="0"/>
            </a:endParaRPr>
          </a:p>
        </p:txBody>
      </p:sp>
      <p:pic>
        <p:nvPicPr>
          <p:cNvPr id="3" name="Picture 2"/>
          <p:cNvPicPr>
            <a:picLocks noChangeAspect="1"/>
          </p:cNvPicPr>
          <p:nvPr/>
        </p:nvPicPr>
        <p:blipFill>
          <a:blip r:embed="rId5"/>
          <a:stretch>
            <a:fillRect/>
          </a:stretch>
        </p:blipFill>
        <p:spPr>
          <a:xfrm>
            <a:off x="1851724" y="3491202"/>
            <a:ext cx="5556465" cy="2812050"/>
          </a:xfrm>
          <a:prstGeom prst="rect">
            <a:avLst/>
          </a:prstGeom>
        </p:spPr>
      </p:pic>
      <p:sp>
        <p:nvSpPr>
          <p:cNvPr id="10" name="Rectangle 9"/>
          <p:cNvSpPr/>
          <p:nvPr/>
        </p:nvSpPr>
        <p:spPr>
          <a:xfrm>
            <a:off x="1851723" y="3491202"/>
            <a:ext cx="5556465" cy="2812050"/>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3294858" y="2190318"/>
            <a:ext cx="1928071" cy="572143"/>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03485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4"/>
          <a:stretch>
            <a:fillRect/>
          </a:stretch>
        </p:blipFill>
        <p:spPr>
          <a:xfrm>
            <a:off x="131837" y="324226"/>
            <a:ext cx="1383198" cy="865327"/>
          </a:xfrm>
          <a:prstGeom prst="rect">
            <a:avLst/>
          </a:prstGeom>
        </p:spPr>
      </p:pic>
      <p:sp>
        <p:nvSpPr>
          <p:cNvPr id="7" name="Title 1"/>
          <p:cNvSpPr>
            <a:spLocks noGrp="1"/>
          </p:cNvSpPr>
          <p:nvPr>
            <p:ph type="title"/>
          </p:nvPr>
        </p:nvSpPr>
        <p:spPr>
          <a:xfrm>
            <a:off x="450971" y="334223"/>
            <a:ext cx="8915400" cy="845332"/>
          </a:xfrm>
        </p:spPr>
        <p:txBody>
          <a:bodyPr>
            <a:normAutofit fontScale="90000"/>
          </a:bodyPr>
          <a:lstStyle/>
          <a:p>
            <a:r>
              <a:rPr lang="en-ZA" sz="4000" dirty="0"/>
              <a:t>Logical and Relational Operators – </a:t>
            </a:r>
            <a:br>
              <a:rPr lang="en-ZA" sz="4000" dirty="0"/>
            </a:br>
            <a:r>
              <a:rPr lang="en-ZA" sz="4000" dirty="0"/>
              <a:t>Then</a:t>
            </a:r>
          </a:p>
        </p:txBody>
      </p:sp>
      <p:sp>
        <p:nvSpPr>
          <p:cNvPr id="8" name="TextBox 7"/>
          <p:cNvSpPr txBox="1"/>
          <p:nvPr/>
        </p:nvSpPr>
        <p:spPr>
          <a:xfrm>
            <a:off x="754424" y="1179555"/>
            <a:ext cx="8674247" cy="1631216"/>
          </a:xfrm>
          <a:prstGeom prst="rect">
            <a:avLst/>
          </a:prstGeom>
          <a:noFill/>
        </p:spPr>
        <p:txBody>
          <a:bodyPr wrap="square" rtlCol="0">
            <a:spAutoFit/>
          </a:bodyPr>
          <a:lstStyle/>
          <a:p>
            <a:pPr marL="285750" indent="-285750">
              <a:buFont typeface="Arial" panose="020B0604020202020204" pitchFamily="34" charset="0"/>
              <a:buChar char="•"/>
            </a:pPr>
            <a:r>
              <a:rPr lang="en-ZA" sz="2000" dirty="0">
                <a:latin typeface="Avenir Next Cyr W04 Regular" panose="020B0503020202020204" pitchFamily="34" charset="0"/>
              </a:rPr>
              <a:t>In order to get something if the condition in the parentheses is not TRUE, then one would use If in conjunction with Else to specify an alternative.</a:t>
            </a:r>
          </a:p>
          <a:p>
            <a:pPr marL="285750" indent="-285750">
              <a:buFont typeface="Arial" panose="020B0604020202020204" pitchFamily="34" charset="0"/>
              <a:buChar char="•"/>
            </a:pPr>
            <a:r>
              <a:rPr lang="en-ZA" sz="2000" dirty="0">
                <a:latin typeface="Avenir Next Cyr W04 Regular" panose="020B0503020202020204" pitchFamily="34" charset="0"/>
              </a:rPr>
              <a:t>The following syntax should be used in  this case the code following Else will execute as long as the If condition is not TRUE.</a:t>
            </a:r>
          </a:p>
        </p:txBody>
      </p:sp>
      <p:sp>
        <p:nvSpPr>
          <p:cNvPr id="3" name="Rectangle 2"/>
          <p:cNvSpPr/>
          <p:nvPr/>
        </p:nvSpPr>
        <p:spPr>
          <a:xfrm>
            <a:off x="5601379" y="2961485"/>
            <a:ext cx="2080002" cy="1200329"/>
          </a:xfrm>
          <a:prstGeom prst="rect">
            <a:avLst/>
          </a:prstGeom>
        </p:spPr>
        <p:txBody>
          <a:bodyPr wrap="square">
            <a:spAutoFit/>
          </a:bodyPr>
          <a:lstStyle/>
          <a:p>
            <a:r>
              <a:rPr lang="en-US" dirty="0"/>
              <a:t>if (condition is true)</a:t>
            </a:r>
          </a:p>
          <a:p>
            <a:r>
              <a:rPr lang="en-US" dirty="0"/>
              <a:t>	then do this</a:t>
            </a:r>
          </a:p>
          <a:p>
            <a:r>
              <a:rPr lang="en-US" dirty="0"/>
              <a:t>else</a:t>
            </a:r>
          </a:p>
          <a:p>
            <a:r>
              <a:rPr lang="en-US" dirty="0"/>
              <a:t>	do this</a:t>
            </a:r>
          </a:p>
        </p:txBody>
      </p:sp>
      <p:pic>
        <p:nvPicPr>
          <p:cNvPr id="5" name="Picture 4"/>
          <p:cNvPicPr>
            <a:picLocks noChangeAspect="1"/>
          </p:cNvPicPr>
          <p:nvPr/>
        </p:nvPicPr>
        <p:blipFill>
          <a:blip r:embed="rId5"/>
          <a:stretch>
            <a:fillRect/>
          </a:stretch>
        </p:blipFill>
        <p:spPr>
          <a:xfrm>
            <a:off x="280489" y="2961485"/>
            <a:ext cx="4508487" cy="3223357"/>
          </a:xfrm>
          <a:prstGeom prst="rect">
            <a:avLst/>
          </a:prstGeom>
        </p:spPr>
      </p:pic>
      <p:sp>
        <p:nvSpPr>
          <p:cNvPr id="9" name="TextBox 8"/>
          <p:cNvSpPr txBox="1"/>
          <p:nvPr/>
        </p:nvSpPr>
        <p:spPr>
          <a:xfrm>
            <a:off x="5243948" y="4304442"/>
            <a:ext cx="3853557" cy="1615911"/>
          </a:xfrm>
          <a:prstGeom prst="rect">
            <a:avLst/>
          </a:prstGeom>
          <a:noFill/>
        </p:spPr>
        <p:txBody>
          <a:bodyPr wrap="square" rtlCol="0">
            <a:spAutoFit/>
          </a:bodyPr>
          <a:lstStyle/>
          <a:p>
            <a:pPr marL="285750" indent="-285750">
              <a:buFont typeface="Arial" panose="020B0604020202020204" pitchFamily="34" charset="0"/>
              <a:buChar char="•"/>
            </a:pPr>
            <a:r>
              <a:rPr lang="en-ZA" sz="2000" dirty="0">
                <a:latin typeface="Avenir Next Cyr W04 Regular" panose="020B0503020202020204" pitchFamily="34" charset="0"/>
              </a:rPr>
              <a:t>These curly brackets are frequently used to block sections of code, and will indicate code continues on the next line.</a:t>
            </a:r>
          </a:p>
        </p:txBody>
      </p:sp>
      <p:sp>
        <p:nvSpPr>
          <p:cNvPr id="10" name="Rectangle 9"/>
          <p:cNvSpPr/>
          <p:nvPr/>
        </p:nvSpPr>
        <p:spPr>
          <a:xfrm>
            <a:off x="280489" y="2951486"/>
            <a:ext cx="4508487" cy="3233355"/>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5601379" y="2987763"/>
            <a:ext cx="2080002" cy="1174051"/>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584032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4"/>
          <a:stretch>
            <a:fillRect/>
          </a:stretch>
        </p:blipFill>
        <p:spPr>
          <a:xfrm>
            <a:off x="131837" y="324226"/>
            <a:ext cx="1383198" cy="865327"/>
          </a:xfrm>
          <a:prstGeom prst="rect">
            <a:avLst/>
          </a:prstGeom>
        </p:spPr>
      </p:pic>
      <p:sp>
        <p:nvSpPr>
          <p:cNvPr id="7" name="Title 1"/>
          <p:cNvSpPr>
            <a:spLocks noGrp="1"/>
          </p:cNvSpPr>
          <p:nvPr>
            <p:ph type="title"/>
          </p:nvPr>
        </p:nvSpPr>
        <p:spPr>
          <a:xfrm>
            <a:off x="450971" y="334223"/>
            <a:ext cx="8915400" cy="845332"/>
          </a:xfrm>
        </p:spPr>
        <p:txBody>
          <a:bodyPr>
            <a:normAutofit/>
          </a:bodyPr>
          <a:lstStyle/>
          <a:p>
            <a:r>
              <a:rPr lang="en-ZA" sz="4000" dirty="0"/>
              <a:t>Looping - While</a:t>
            </a:r>
          </a:p>
        </p:txBody>
      </p:sp>
      <p:sp>
        <p:nvSpPr>
          <p:cNvPr id="4" name="TextBox 3"/>
          <p:cNvSpPr txBox="1"/>
          <p:nvPr/>
        </p:nvSpPr>
        <p:spPr>
          <a:xfrm>
            <a:off x="692124" y="1215696"/>
            <a:ext cx="8674247" cy="1323439"/>
          </a:xfrm>
          <a:prstGeom prst="rect">
            <a:avLst/>
          </a:prstGeom>
          <a:noFill/>
        </p:spPr>
        <p:txBody>
          <a:bodyPr wrap="square" rtlCol="0">
            <a:spAutoFit/>
          </a:bodyPr>
          <a:lstStyle/>
          <a:p>
            <a:pPr marL="285750" indent="-285750">
              <a:buFont typeface="Arial" panose="020B0604020202020204" pitchFamily="34" charset="0"/>
              <a:buChar char="•"/>
            </a:pPr>
            <a:r>
              <a:rPr lang="en-ZA" sz="2000" dirty="0">
                <a:latin typeface="Avenir Next Cyr W04 Regular" panose="020B0503020202020204" pitchFamily="34" charset="0"/>
              </a:rPr>
              <a:t>Looping is a form of controlled repetition in which can efficiently repeat code without having to write the same code over and over again. There are two types of looping while and  for statements.</a:t>
            </a:r>
          </a:p>
          <a:p>
            <a:pPr marL="285750" indent="-285750">
              <a:buFont typeface="Arial" panose="020B0604020202020204" pitchFamily="34" charset="0"/>
              <a:buChar char="•"/>
            </a:pPr>
            <a:r>
              <a:rPr lang="en-ZA" sz="2000" dirty="0">
                <a:latin typeface="Avenir Next Cyr W04 Regular" panose="020B0503020202020204" pitchFamily="34" charset="0"/>
              </a:rPr>
              <a:t>The syntax for the While statement are as follows;</a:t>
            </a:r>
          </a:p>
        </p:txBody>
      </p:sp>
      <p:sp>
        <p:nvSpPr>
          <p:cNvPr id="8" name="TextBox 7"/>
          <p:cNvSpPr txBox="1"/>
          <p:nvPr/>
        </p:nvSpPr>
        <p:spPr>
          <a:xfrm>
            <a:off x="785114" y="5599189"/>
            <a:ext cx="8674247" cy="707886"/>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Avenir Next Cyr W04 Regular" panose="020B0503020202020204" pitchFamily="34" charset="0"/>
              </a:rPr>
              <a:t>For example suppose we want to execute adding 1 to the variable x while x&lt;=5: </a:t>
            </a:r>
            <a:r>
              <a:rPr lang="en-ZA" sz="2000" dirty="0">
                <a:latin typeface="Avenir Next Cyr W04 Regular" panose="020B0503020202020204" pitchFamily="34" charset="0"/>
              </a:rPr>
              <a:t>Why would this call return an x value of 6? </a:t>
            </a:r>
            <a:endParaRPr lang="en-ZA" sz="2000" i="1" dirty="0">
              <a:latin typeface="Avenir Next Cyr W04 Regular" panose="020B0503020202020204" pitchFamily="34" charset="0"/>
            </a:endParaRPr>
          </a:p>
        </p:txBody>
      </p:sp>
      <p:sp>
        <p:nvSpPr>
          <p:cNvPr id="3" name="Rectangle 2"/>
          <p:cNvSpPr/>
          <p:nvPr/>
        </p:nvSpPr>
        <p:spPr>
          <a:xfrm>
            <a:off x="2987945" y="2496675"/>
            <a:ext cx="4048286" cy="646331"/>
          </a:xfrm>
          <a:prstGeom prst="rect">
            <a:avLst/>
          </a:prstGeom>
        </p:spPr>
        <p:txBody>
          <a:bodyPr wrap="square">
            <a:spAutoFit/>
          </a:bodyPr>
          <a:lstStyle/>
          <a:p>
            <a:r>
              <a:rPr lang="en-US" dirty="0"/>
              <a:t>while (condition controlling flow is true)</a:t>
            </a:r>
          </a:p>
          <a:p>
            <a:r>
              <a:rPr lang="en-US" dirty="0"/>
              <a:t>	perform task</a:t>
            </a:r>
          </a:p>
        </p:txBody>
      </p:sp>
      <p:pic>
        <p:nvPicPr>
          <p:cNvPr id="5" name="Picture 4"/>
          <p:cNvPicPr>
            <a:picLocks noChangeAspect="1"/>
          </p:cNvPicPr>
          <p:nvPr/>
        </p:nvPicPr>
        <p:blipFill>
          <a:blip r:embed="rId5"/>
          <a:stretch>
            <a:fillRect/>
          </a:stretch>
        </p:blipFill>
        <p:spPr>
          <a:xfrm>
            <a:off x="2786708" y="3378355"/>
            <a:ext cx="3676085" cy="1722508"/>
          </a:xfrm>
          <a:prstGeom prst="rect">
            <a:avLst/>
          </a:prstGeom>
        </p:spPr>
      </p:pic>
      <p:sp>
        <p:nvSpPr>
          <p:cNvPr id="9" name="Rectangle 8"/>
          <p:cNvSpPr/>
          <p:nvPr/>
        </p:nvSpPr>
        <p:spPr>
          <a:xfrm>
            <a:off x="2786708" y="3203431"/>
            <a:ext cx="3676085" cy="189743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927766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4"/>
          <a:stretch>
            <a:fillRect/>
          </a:stretch>
        </p:blipFill>
        <p:spPr>
          <a:xfrm>
            <a:off x="131837" y="324226"/>
            <a:ext cx="1383198" cy="865327"/>
          </a:xfrm>
          <a:prstGeom prst="rect">
            <a:avLst/>
          </a:prstGeom>
        </p:spPr>
      </p:pic>
      <p:sp>
        <p:nvSpPr>
          <p:cNvPr id="7" name="Title 1"/>
          <p:cNvSpPr>
            <a:spLocks noGrp="1"/>
          </p:cNvSpPr>
          <p:nvPr>
            <p:ph type="title"/>
          </p:nvPr>
        </p:nvSpPr>
        <p:spPr>
          <a:xfrm>
            <a:off x="450971" y="334223"/>
            <a:ext cx="8915400" cy="845332"/>
          </a:xfrm>
        </p:spPr>
        <p:txBody>
          <a:bodyPr>
            <a:normAutofit/>
          </a:bodyPr>
          <a:lstStyle/>
          <a:p>
            <a:r>
              <a:rPr lang="en-ZA" sz="4000" dirty="0"/>
              <a:t>Looping - For</a:t>
            </a:r>
          </a:p>
        </p:txBody>
      </p:sp>
      <p:sp>
        <p:nvSpPr>
          <p:cNvPr id="9" name="TextBox 8"/>
          <p:cNvSpPr txBox="1"/>
          <p:nvPr/>
        </p:nvSpPr>
        <p:spPr>
          <a:xfrm>
            <a:off x="823435" y="1445643"/>
            <a:ext cx="8674247" cy="400110"/>
          </a:xfrm>
          <a:prstGeom prst="rect">
            <a:avLst/>
          </a:prstGeom>
          <a:noFill/>
        </p:spPr>
        <p:txBody>
          <a:bodyPr wrap="square" rtlCol="0">
            <a:spAutoFit/>
          </a:bodyPr>
          <a:lstStyle/>
          <a:p>
            <a:pPr marL="285750" indent="-285750">
              <a:buFont typeface="Arial" panose="020B0604020202020204" pitchFamily="34" charset="0"/>
              <a:buChar char="•"/>
            </a:pPr>
            <a:r>
              <a:rPr lang="en-ZA" sz="2000" dirty="0">
                <a:latin typeface="Avenir Next Cyr W04 Regular" panose="020B0503020202020204" pitchFamily="34" charset="0"/>
              </a:rPr>
              <a:t>The syntax for the For statement are as follows;</a:t>
            </a:r>
          </a:p>
        </p:txBody>
      </p:sp>
      <p:sp>
        <p:nvSpPr>
          <p:cNvPr id="2" name="Rectangle 1"/>
          <p:cNvSpPr/>
          <p:nvPr/>
        </p:nvSpPr>
        <p:spPr>
          <a:xfrm>
            <a:off x="3891917" y="1870823"/>
            <a:ext cx="2033507" cy="646331"/>
          </a:xfrm>
          <a:prstGeom prst="rect">
            <a:avLst/>
          </a:prstGeom>
        </p:spPr>
        <p:txBody>
          <a:bodyPr wrap="square">
            <a:spAutoFit/>
          </a:bodyPr>
          <a:lstStyle/>
          <a:p>
            <a:r>
              <a:rPr lang="en-US" dirty="0"/>
              <a:t>for (</a:t>
            </a:r>
            <a:r>
              <a:rPr lang="en-US" dirty="0" err="1"/>
              <a:t>i</a:t>
            </a:r>
            <a:r>
              <a:rPr lang="en-US" dirty="0"/>
              <a:t> in </a:t>
            </a:r>
            <a:r>
              <a:rPr lang="en-US" dirty="0" err="1"/>
              <a:t>start:finish</a:t>
            </a:r>
            <a:r>
              <a:rPr lang="en-US" dirty="0"/>
              <a:t>)</a:t>
            </a:r>
          </a:p>
          <a:p>
            <a:r>
              <a:rPr lang="en-US" dirty="0"/>
              <a:t>	execute task</a:t>
            </a:r>
          </a:p>
        </p:txBody>
      </p:sp>
      <p:sp>
        <p:nvSpPr>
          <p:cNvPr id="10" name="TextBox 9"/>
          <p:cNvSpPr txBox="1"/>
          <p:nvPr/>
        </p:nvSpPr>
        <p:spPr>
          <a:xfrm>
            <a:off x="823436" y="2517154"/>
            <a:ext cx="8674247" cy="707886"/>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Avenir Next Cyr W04 Regular" panose="020B0503020202020204" pitchFamily="34" charset="0"/>
              </a:rPr>
              <a:t>As an example, if you want to initialize a vector with values you can loop through it to assign the values:</a:t>
            </a:r>
            <a:endParaRPr lang="en-ZA" sz="2000" dirty="0">
              <a:latin typeface="Avenir Next Cyr W04 Regular" panose="020B0503020202020204" pitchFamily="34" charset="0"/>
            </a:endParaRPr>
          </a:p>
        </p:txBody>
      </p:sp>
      <p:pic>
        <p:nvPicPr>
          <p:cNvPr id="4" name="Picture 3"/>
          <p:cNvPicPr>
            <a:picLocks noChangeAspect="1"/>
          </p:cNvPicPr>
          <p:nvPr/>
        </p:nvPicPr>
        <p:blipFill>
          <a:blip r:embed="rId5"/>
          <a:stretch>
            <a:fillRect/>
          </a:stretch>
        </p:blipFill>
        <p:spPr>
          <a:xfrm>
            <a:off x="2705019" y="3225040"/>
            <a:ext cx="4129734" cy="1763587"/>
          </a:xfrm>
          <a:prstGeom prst="rect">
            <a:avLst/>
          </a:prstGeom>
        </p:spPr>
      </p:pic>
      <p:sp>
        <p:nvSpPr>
          <p:cNvPr id="11" name="Rectangle 10"/>
          <p:cNvSpPr/>
          <p:nvPr/>
        </p:nvSpPr>
        <p:spPr>
          <a:xfrm>
            <a:off x="2705019" y="3203431"/>
            <a:ext cx="4129734" cy="1785196"/>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p:nvSpPr>
        <p:spPr>
          <a:xfrm>
            <a:off x="3891917" y="1938266"/>
            <a:ext cx="2033507" cy="578888"/>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598673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4"/>
          <a:stretch>
            <a:fillRect/>
          </a:stretch>
        </p:blipFill>
        <p:spPr>
          <a:xfrm>
            <a:off x="131837" y="324226"/>
            <a:ext cx="1383198" cy="865327"/>
          </a:xfrm>
          <a:prstGeom prst="rect">
            <a:avLst/>
          </a:prstGeom>
        </p:spPr>
      </p:pic>
      <p:sp>
        <p:nvSpPr>
          <p:cNvPr id="7" name="Title 1"/>
          <p:cNvSpPr>
            <a:spLocks noGrp="1"/>
          </p:cNvSpPr>
          <p:nvPr>
            <p:ph type="title"/>
          </p:nvPr>
        </p:nvSpPr>
        <p:spPr>
          <a:xfrm>
            <a:off x="450971" y="334223"/>
            <a:ext cx="8915400" cy="845332"/>
          </a:xfrm>
        </p:spPr>
        <p:txBody>
          <a:bodyPr>
            <a:normAutofit/>
          </a:bodyPr>
          <a:lstStyle/>
          <a:p>
            <a:r>
              <a:rPr lang="en-ZA" sz="4000" dirty="0"/>
              <a:t>Looping – Matrices with Loops</a:t>
            </a:r>
          </a:p>
        </p:txBody>
      </p:sp>
      <p:sp>
        <p:nvSpPr>
          <p:cNvPr id="9" name="TextBox 8"/>
          <p:cNvSpPr txBox="1"/>
          <p:nvPr/>
        </p:nvSpPr>
        <p:spPr>
          <a:xfrm>
            <a:off x="823436" y="1434445"/>
            <a:ext cx="8674247" cy="707886"/>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sz="2000" dirty="0">
                <a:solidFill>
                  <a:prstClr val="black"/>
                </a:solidFill>
                <a:latin typeface="Avenir Next Cyr W04 Regular" panose="020B0503020202020204" pitchFamily="34" charset="0"/>
              </a:rPr>
              <a:t>For loops can </a:t>
            </a:r>
            <a:r>
              <a:rPr lang="en-ZA" sz="2000">
                <a:solidFill>
                  <a:prstClr val="black"/>
                </a:solidFill>
                <a:latin typeface="Avenir Next Cyr W04 Regular" panose="020B0503020202020204" pitchFamily="34" charset="0"/>
              </a:rPr>
              <a:t>also Be </a:t>
            </a:r>
            <a:r>
              <a:rPr lang="en-ZA" sz="2000" dirty="0">
                <a:solidFill>
                  <a:prstClr val="black"/>
                </a:solidFill>
                <a:latin typeface="Avenir Next Cyr W04 Regular" panose="020B0503020202020204" pitchFamily="34" charset="0"/>
              </a:rPr>
              <a:t>nested (One inside the other) to initialize matrices or perform similar tasks:</a:t>
            </a:r>
            <a:endParaRPr kumimoji="0" lang="en-ZA" sz="2000" b="0" i="0" u="none" strike="noStrike" kern="1200" cap="none" spc="0" normalizeH="0" baseline="0" noProof="0" dirty="0">
              <a:ln>
                <a:noFill/>
              </a:ln>
              <a:solidFill>
                <a:prstClr val="black"/>
              </a:solidFill>
              <a:effectLst/>
              <a:uLnTx/>
              <a:uFillTx/>
              <a:latin typeface="Avenir Next Cyr W04 Regular" panose="020B0503020202020204" pitchFamily="34" charset="0"/>
              <a:ea typeface="+mn-ea"/>
              <a:cs typeface="+mn-cs"/>
            </a:endParaRPr>
          </a:p>
        </p:txBody>
      </p:sp>
      <p:pic>
        <p:nvPicPr>
          <p:cNvPr id="3" name="Picture 2"/>
          <p:cNvPicPr>
            <a:picLocks noChangeAspect="1"/>
          </p:cNvPicPr>
          <p:nvPr/>
        </p:nvPicPr>
        <p:blipFill>
          <a:blip r:embed="rId5"/>
          <a:stretch>
            <a:fillRect/>
          </a:stretch>
        </p:blipFill>
        <p:spPr>
          <a:xfrm>
            <a:off x="1195629" y="2387223"/>
            <a:ext cx="6352045" cy="3104490"/>
          </a:xfrm>
          <a:prstGeom prst="rect">
            <a:avLst/>
          </a:prstGeom>
        </p:spPr>
      </p:pic>
      <p:sp>
        <p:nvSpPr>
          <p:cNvPr id="11" name="Rectangle 10"/>
          <p:cNvSpPr/>
          <p:nvPr/>
        </p:nvSpPr>
        <p:spPr>
          <a:xfrm>
            <a:off x="1195628" y="2367007"/>
            <a:ext cx="6352045" cy="3124706"/>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296908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131837" y="324226"/>
            <a:ext cx="1383198" cy="865327"/>
          </a:xfrm>
          <a:prstGeom prst="rect">
            <a:avLst/>
          </a:prstGeom>
        </p:spPr>
      </p:pic>
      <p:sp>
        <p:nvSpPr>
          <p:cNvPr id="7" name="Title 1"/>
          <p:cNvSpPr>
            <a:spLocks noGrp="1"/>
          </p:cNvSpPr>
          <p:nvPr>
            <p:ph type="title"/>
          </p:nvPr>
        </p:nvSpPr>
        <p:spPr>
          <a:xfrm>
            <a:off x="450971" y="334223"/>
            <a:ext cx="8915400" cy="845332"/>
          </a:xfrm>
        </p:spPr>
        <p:txBody>
          <a:bodyPr>
            <a:normAutofit/>
          </a:bodyPr>
          <a:lstStyle/>
          <a:p>
            <a:r>
              <a:rPr lang="en-ZA" sz="4000" dirty="0"/>
              <a:t>Some basic existing functions</a:t>
            </a:r>
          </a:p>
        </p:txBody>
      </p:sp>
      <p:graphicFrame>
        <p:nvGraphicFramePr>
          <p:cNvPr id="2" name="Table 1"/>
          <p:cNvGraphicFramePr>
            <a:graphicFrameLocks noGrp="1"/>
          </p:cNvGraphicFramePr>
          <p:nvPr>
            <p:extLst>
              <p:ext uri="{D42A27DB-BD31-4B8C-83A1-F6EECF244321}">
                <p14:modId xmlns:p14="http://schemas.microsoft.com/office/powerpoint/2010/main" val="444263361"/>
              </p:ext>
            </p:extLst>
          </p:nvPr>
        </p:nvGraphicFramePr>
        <p:xfrm>
          <a:off x="1925608" y="1736624"/>
          <a:ext cx="5966125" cy="3708400"/>
        </p:xfrm>
        <a:graphic>
          <a:graphicData uri="http://schemas.openxmlformats.org/drawingml/2006/table">
            <a:tbl>
              <a:tblPr firstRow="1" bandRow="1">
                <a:tableStyleId>{5C22544A-7EE6-4342-B048-85BDC9FD1C3A}</a:tableStyleId>
              </a:tblPr>
              <a:tblGrid>
                <a:gridCol w="2325777">
                  <a:extLst>
                    <a:ext uri="{9D8B030D-6E8A-4147-A177-3AD203B41FA5}">
                      <a16:colId xmlns:a16="http://schemas.microsoft.com/office/drawing/2014/main" val="20000"/>
                    </a:ext>
                  </a:extLst>
                </a:gridCol>
                <a:gridCol w="3640348">
                  <a:extLst>
                    <a:ext uri="{9D8B030D-6E8A-4147-A177-3AD203B41FA5}">
                      <a16:colId xmlns:a16="http://schemas.microsoft.com/office/drawing/2014/main" val="20001"/>
                    </a:ext>
                  </a:extLst>
                </a:gridCol>
              </a:tblGrid>
              <a:tr h="370840">
                <a:tc>
                  <a:txBody>
                    <a:bodyPr/>
                    <a:lstStyle/>
                    <a:p>
                      <a:pPr algn="ctr"/>
                      <a:r>
                        <a:rPr lang="en-ZA" dirty="0"/>
                        <a:t>Function</a:t>
                      </a:r>
                    </a:p>
                  </a:txBody>
                  <a:tcPr anchor="ctr"/>
                </a:tc>
                <a:tc>
                  <a:txBody>
                    <a:bodyPr/>
                    <a:lstStyle/>
                    <a:p>
                      <a:pPr algn="ctr"/>
                      <a:r>
                        <a:rPr lang="en-ZA" dirty="0"/>
                        <a:t>Operation Performed</a:t>
                      </a:r>
                    </a:p>
                  </a:txBody>
                  <a:tcPr anchor="ctr"/>
                </a:tc>
                <a:extLst>
                  <a:ext uri="{0D108BD9-81ED-4DB2-BD59-A6C34878D82A}">
                    <a16:rowId xmlns:a16="http://schemas.microsoft.com/office/drawing/2014/main" val="10000"/>
                  </a:ext>
                </a:extLst>
              </a:tr>
              <a:tr h="370840">
                <a:tc>
                  <a:txBody>
                    <a:bodyPr/>
                    <a:lstStyle/>
                    <a:p>
                      <a:pPr algn="ctr"/>
                      <a:r>
                        <a:rPr lang="en-ZA" dirty="0" err="1"/>
                        <a:t>sqrt</a:t>
                      </a:r>
                      <a:r>
                        <a:rPr lang="en-ZA" dirty="0"/>
                        <a:t>(x)</a:t>
                      </a:r>
                    </a:p>
                  </a:txBody>
                  <a:tcPr anchor="ctr"/>
                </a:tc>
                <a:tc>
                  <a:txBody>
                    <a:bodyPr/>
                    <a:lstStyle/>
                    <a:p>
                      <a:pPr algn="ctr"/>
                      <a:r>
                        <a:rPr lang="en-ZA" dirty="0"/>
                        <a:t>Square root of x</a:t>
                      </a:r>
                    </a:p>
                  </a:txBody>
                  <a:tcPr anchor="ctr"/>
                </a:tc>
                <a:extLst>
                  <a:ext uri="{0D108BD9-81ED-4DB2-BD59-A6C34878D82A}">
                    <a16:rowId xmlns:a16="http://schemas.microsoft.com/office/drawing/2014/main" val="10001"/>
                  </a:ext>
                </a:extLst>
              </a:tr>
              <a:tr h="370840">
                <a:tc>
                  <a:txBody>
                    <a:bodyPr/>
                    <a:lstStyle/>
                    <a:p>
                      <a:pPr algn="ctr"/>
                      <a:r>
                        <a:rPr lang="en-ZA" dirty="0"/>
                        <a:t>abs(x)</a:t>
                      </a:r>
                    </a:p>
                  </a:txBody>
                  <a:tcPr anchor="ctr"/>
                </a:tc>
                <a:tc>
                  <a:txBody>
                    <a:bodyPr/>
                    <a:lstStyle/>
                    <a:p>
                      <a:pPr algn="ctr"/>
                      <a:r>
                        <a:rPr lang="en-ZA" dirty="0"/>
                        <a:t>Absolute value</a:t>
                      </a:r>
                    </a:p>
                  </a:txBody>
                  <a:tcPr anchor="ctr"/>
                </a:tc>
                <a:extLst>
                  <a:ext uri="{0D108BD9-81ED-4DB2-BD59-A6C34878D82A}">
                    <a16:rowId xmlns:a16="http://schemas.microsoft.com/office/drawing/2014/main" val="10002"/>
                  </a:ext>
                </a:extLst>
              </a:tr>
              <a:tr h="370840">
                <a:tc>
                  <a:txBody>
                    <a:bodyPr/>
                    <a:lstStyle/>
                    <a:p>
                      <a:pPr algn="ctr"/>
                      <a:r>
                        <a:rPr lang="en-ZA" dirty="0"/>
                        <a:t>sin(x), tan(x), cos(x)</a:t>
                      </a:r>
                    </a:p>
                  </a:txBody>
                  <a:tcPr anchor="ctr"/>
                </a:tc>
                <a:tc>
                  <a:txBody>
                    <a:bodyPr/>
                    <a:lstStyle/>
                    <a:p>
                      <a:pPr algn="ctr"/>
                      <a:r>
                        <a:rPr lang="en-ZA" dirty="0"/>
                        <a:t>Trigonometric</a:t>
                      </a:r>
                      <a:r>
                        <a:rPr lang="en-ZA" baseline="0" dirty="0"/>
                        <a:t> functions</a:t>
                      </a:r>
                      <a:endParaRPr lang="en-ZA" dirty="0"/>
                    </a:p>
                  </a:txBody>
                  <a:tcPr anchor="ctr"/>
                </a:tc>
                <a:extLst>
                  <a:ext uri="{0D108BD9-81ED-4DB2-BD59-A6C34878D82A}">
                    <a16:rowId xmlns:a16="http://schemas.microsoft.com/office/drawing/2014/main" val="10003"/>
                  </a:ext>
                </a:extLst>
              </a:tr>
              <a:tr h="370840">
                <a:tc>
                  <a:txBody>
                    <a:bodyPr/>
                    <a:lstStyle/>
                    <a:p>
                      <a:pPr algn="ctr"/>
                      <a:r>
                        <a:rPr lang="en-ZA" dirty="0" err="1"/>
                        <a:t>exp</a:t>
                      </a:r>
                      <a:r>
                        <a:rPr lang="en-ZA" dirty="0"/>
                        <a:t>(x)</a:t>
                      </a:r>
                    </a:p>
                  </a:txBody>
                  <a:tcPr anchor="ctr"/>
                </a:tc>
                <a:tc>
                  <a:txBody>
                    <a:bodyPr/>
                    <a:lstStyle/>
                    <a:p>
                      <a:pPr algn="ctr"/>
                      <a:r>
                        <a:rPr lang="en-ZA" dirty="0"/>
                        <a:t>Exponential</a:t>
                      </a:r>
                    </a:p>
                  </a:txBody>
                  <a:tcPr anchor="ctr"/>
                </a:tc>
                <a:extLst>
                  <a:ext uri="{0D108BD9-81ED-4DB2-BD59-A6C34878D82A}">
                    <a16:rowId xmlns:a16="http://schemas.microsoft.com/office/drawing/2014/main" val="10004"/>
                  </a:ext>
                </a:extLst>
              </a:tr>
              <a:tr h="370840">
                <a:tc>
                  <a:txBody>
                    <a:bodyPr/>
                    <a:lstStyle/>
                    <a:p>
                      <a:pPr algn="ctr"/>
                      <a:r>
                        <a:rPr lang="en-ZA" dirty="0"/>
                        <a:t>log(x)</a:t>
                      </a:r>
                    </a:p>
                  </a:txBody>
                  <a:tcPr anchor="ctr"/>
                </a:tc>
                <a:tc>
                  <a:txBody>
                    <a:bodyPr/>
                    <a:lstStyle/>
                    <a:p>
                      <a:pPr algn="ctr"/>
                      <a:r>
                        <a:rPr lang="en-ZA" dirty="0"/>
                        <a:t>Natural Logarithmic</a:t>
                      </a:r>
                    </a:p>
                  </a:txBody>
                  <a:tcPr anchor="ctr"/>
                </a:tc>
                <a:extLst>
                  <a:ext uri="{0D108BD9-81ED-4DB2-BD59-A6C34878D82A}">
                    <a16:rowId xmlns:a16="http://schemas.microsoft.com/office/drawing/2014/main" val="10005"/>
                  </a:ext>
                </a:extLst>
              </a:tr>
              <a:tr h="370840">
                <a:tc>
                  <a:txBody>
                    <a:bodyPr/>
                    <a:lstStyle/>
                    <a:p>
                      <a:pPr algn="ctr"/>
                      <a:r>
                        <a:rPr lang="en-ZA" dirty="0"/>
                        <a:t>log10(x)</a:t>
                      </a:r>
                    </a:p>
                  </a:txBody>
                  <a:tcPr anchor="ctr"/>
                </a:tc>
                <a:tc>
                  <a:txBody>
                    <a:bodyPr/>
                    <a:lstStyle/>
                    <a:p>
                      <a:pPr algn="ctr"/>
                      <a:r>
                        <a:rPr lang="en-ZA" dirty="0"/>
                        <a:t>Base 10 Logarithmic</a:t>
                      </a:r>
                    </a:p>
                  </a:txBody>
                  <a:tcPr anchor="ctr"/>
                </a:tc>
                <a:extLst>
                  <a:ext uri="{0D108BD9-81ED-4DB2-BD59-A6C34878D82A}">
                    <a16:rowId xmlns:a16="http://schemas.microsoft.com/office/drawing/2014/main" val="10006"/>
                  </a:ext>
                </a:extLst>
              </a:tr>
              <a:tr h="370840">
                <a:tc>
                  <a:txBody>
                    <a:bodyPr/>
                    <a:lstStyle/>
                    <a:p>
                      <a:pPr algn="ctr"/>
                      <a:r>
                        <a:rPr lang="en-ZA" dirty="0"/>
                        <a:t>ceiling(x)</a:t>
                      </a:r>
                    </a:p>
                  </a:txBody>
                  <a:tcPr anchor="ctr"/>
                </a:tc>
                <a:tc>
                  <a:txBody>
                    <a:bodyPr/>
                    <a:lstStyle/>
                    <a:p>
                      <a:pPr algn="ctr"/>
                      <a:r>
                        <a:rPr lang="en-ZA" dirty="0"/>
                        <a:t>Closest integer not less than x</a:t>
                      </a:r>
                    </a:p>
                  </a:txBody>
                  <a:tcPr anchor="ctr"/>
                </a:tc>
                <a:extLst>
                  <a:ext uri="{0D108BD9-81ED-4DB2-BD59-A6C34878D82A}">
                    <a16:rowId xmlns:a16="http://schemas.microsoft.com/office/drawing/2014/main" val="10007"/>
                  </a:ext>
                </a:extLst>
              </a:tr>
              <a:tr h="370840">
                <a:tc>
                  <a:txBody>
                    <a:bodyPr/>
                    <a:lstStyle/>
                    <a:p>
                      <a:pPr algn="ctr"/>
                      <a:r>
                        <a:rPr lang="en-ZA" dirty="0"/>
                        <a:t>floor(x)</a:t>
                      </a:r>
                    </a:p>
                  </a:txBody>
                  <a:tcPr anchor="ctr"/>
                </a:tc>
                <a:tc>
                  <a:txBody>
                    <a:bodyPr/>
                    <a:lstStyle/>
                    <a:p>
                      <a:pPr algn="ctr"/>
                      <a:r>
                        <a:rPr lang="en-ZA" dirty="0"/>
                        <a:t>Closest integer not greater than x</a:t>
                      </a:r>
                    </a:p>
                  </a:txBody>
                  <a:tcPr anchor="ctr"/>
                </a:tc>
                <a:extLst>
                  <a:ext uri="{0D108BD9-81ED-4DB2-BD59-A6C34878D82A}">
                    <a16:rowId xmlns:a16="http://schemas.microsoft.com/office/drawing/2014/main" val="10008"/>
                  </a:ext>
                </a:extLst>
              </a:tr>
              <a:tr h="370840">
                <a:tc>
                  <a:txBody>
                    <a:bodyPr/>
                    <a:lstStyle/>
                    <a:p>
                      <a:pPr algn="ctr"/>
                      <a:r>
                        <a:rPr lang="en-ZA" dirty="0"/>
                        <a:t>round(x)</a:t>
                      </a:r>
                    </a:p>
                  </a:txBody>
                  <a:tcPr anchor="ctr"/>
                </a:tc>
                <a:tc>
                  <a:txBody>
                    <a:bodyPr/>
                    <a:lstStyle/>
                    <a:p>
                      <a:pPr algn="ctr"/>
                      <a:r>
                        <a:rPr lang="en-ZA" dirty="0"/>
                        <a:t>Closest integer to the element</a:t>
                      </a:r>
                    </a:p>
                  </a:txBody>
                  <a:tcPr anchor="ctr"/>
                </a:tc>
                <a:extLst>
                  <a:ext uri="{0D108BD9-81ED-4DB2-BD59-A6C34878D82A}">
                    <a16:rowId xmlns:a16="http://schemas.microsoft.com/office/drawing/2014/main" val="10009"/>
                  </a:ext>
                </a:extLst>
              </a:tr>
            </a:tbl>
          </a:graphicData>
        </a:graphic>
      </p:graphicFrame>
      <p:sp>
        <p:nvSpPr>
          <p:cNvPr id="5" name="Rectangle 4"/>
          <p:cNvSpPr/>
          <p:nvPr/>
        </p:nvSpPr>
        <p:spPr>
          <a:xfrm>
            <a:off x="1925607" y="1748218"/>
            <a:ext cx="5966125" cy="3696806"/>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080887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131837" y="324226"/>
            <a:ext cx="1383198" cy="865327"/>
          </a:xfrm>
          <a:prstGeom prst="rect">
            <a:avLst/>
          </a:prstGeom>
        </p:spPr>
      </p:pic>
      <p:sp>
        <p:nvSpPr>
          <p:cNvPr id="7" name="Title 1"/>
          <p:cNvSpPr>
            <a:spLocks noGrp="1"/>
          </p:cNvSpPr>
          <p:nvPr>
            <p:ph type="title"/>
          </p:nvPr>
        </p:nvSpPr>
        <p:spPr>
          <a:xfrm>
            <a:off x="450971" y="334223"/>
            <a:ext cx="8915400" cy="845332"/>
          </a:xfrm>
        </p:spPr>
        <p:txBody>
          <a:bodyPr>
            <a:normAutofit/>
          </a:bodyPr>
          <a:lstStyle/>
          <a:p>
            <a:r>
              <a:rPr lang="en-ZA" sz="4000" dirty="0"/>
              <a:t>Summary functions</a:t>
            </a:r>
          </a:p>
        </p:txBody>
      </p:sp>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1258303264"/>
                  </p:ext>
                </p:extLst>
              </p:nvPr>
            </p:nvGraphicFramePr>
            <p:xfrm>
              <a:off x="1742536" y="1189553"/>
              <a:ext cx="6858000" cy="5125530"/>
            </p:xfrm>
            <a:graphic>
              <a:graphicData uri="http://schemas.openxmlformats.org/drawingml/2006/table">
                <a:tbl>
                  <a:tblPr firstRow="1" bandRow="1">
                    <a:tableStyleId>{5C22544A-7EE6-4342-B048-85BDC9FD1C3A}</a:tableStyleId>
                  </a:tblPr>
                  <a:tblGrid>
                    <a:gridCol w="2673457">
                      <a:extLst>
                        <a:ext uri="{9D8B030D-6E8A-4147-A177-3AD203B41FA5}">
                          <a16:colId xmlns:a16="http://schemas.microsoft.com/office/drawing/2014/main" val="20000"/>
                        </a:ext>
                      </a:extLst>
                    </a:gridCol>
                    <a:gridCol w="4184543">
                      <a:extLst>
                        <a:ext uri="{9D8B030D-6E8A-4147-A177-3AD203B41FA5}">
                          <a16:colId xmlns:a16="http://schemas.microsoft.com/office/drawing/2014/main" val="20001"/>
                        </a:ext>
                      </a:extLst>
                    </a:gridCol>
                  </a:tblGrid>
                  <a:tr h="332681">
                    <a:tc>
                      <a:txBody>
                        <a:bodyPr/>
                        <a:lstStyle/>
                        <a:p>
                          <a:pPr algn="ctr"/>
                          <a:r>
                            <a:rPr lang="en-ZA" dirty="0"/>
                            <a:t>Function</a:t>
                          </a:r>
                        </a:p>
                      </a:txBody>
                      <a:tcPr anchor="ctr"/>
                    </a:tc>
                    <a:tc>
                      <a:txBody>
                        <a:bodyPr/>
                        <a:lstStyle/>
                        <a:p>
                          <a:pPr algn="ctr"/>
                          <a:r>
                            <a:rPr lang="en-ZA" dirty="0"/>
                            <a:t>Task Performed</a:t>
                          </a:r>
                        </a:p>
                      </a:txBody>
                      <a:tcPr anchor="ctr"/>
                    </a:tc>
                    <a:extLst>
                      <a:ext uri="{0D108BD9-81ED-4DB2-BD59-A6C34878D82A}">
                        <a16:rowId xmlns:a16="http://schemas.microsoft.com/office/drawing/2014/main" val="10000"/>
                      </a:ext>
                    </a:extLst>
                  </a:tr>
                  <a:tr h="332681">
                    <a:tc>
                      <a:txBody>
                        <a:bodyPr/>
                        <a:lstStyle/>
                        <a:p>
                          <a:pPr algn="ctr"/>
                          <a:r>
                            <a:rPr lang="en-ZA" dirty="0"/>
                            <a:t>sum(x)</a:t>
                          </a:r>
                        </a:p>
                      </a:txBody>
                      <a:tcPr anchor="ctr"/>
                    </a:tc>
                    <a:tc>
                      <a:txBody>
                        <a:bodyPr/>
                        <a:lstStyle/>
                        <a:p>
                          <a:pPr algn="ctr"/>
                          <a:r>
                            <a:rPr lang="en-ZA" dirty="0"/>
                            <a:t>Sums the elements</a:t>
                          </a:r>
                          <a:r>
                            <a:rPr lang="en-ZA" baseline="0" dirty="0"/>
                            <a:t> in x</a:t>
                          </a:r>
                          <a:endParaRPr lang="en-ZA" dirty="0"/>
                        </a:p>
                      </a:txBody>
                      <a:tcPr anchor="ctr"/>
                    </a:tc>
                    <a:extLst>
                      <a:ext uri="{0D108BD9-81ED-4DB2-BD59-A6C34878D82A}">
                        <a16:rowId xmlns:a16="http://schemas.microsoft.com/office/drawing/2014/main" val="10001"/>
                      </a:ext>
                    </a:extLst>
                  </a:tr>
                  <a:tr h="332681">
                    <a:tc>
                      <a:txBody>
                        <a:bodyPr/>
                        <a:lstStyle/>
                        <a:p>
                          <a:pPr algn="ctr"/>
                          <a:r>
                            <a:rPr lang="en-ZA" dirty="0"/>
                            <a:t>prod(x)</a:t>
                          </a:r>
                        </a:p>
                      </a:txBody>
                      <a:tcPr anchor="ctr"/>
                    </a:tc>
                    <a:tc>
                      <a:txBody>
                        <a:bodyPr/>
                        <a:lstStyle/>
                        <a:p>
                          <a:pPr algn="ctr"/>
                          <a:r>
                            <a:rPr lang="en-ZA" dirty="0"/>
                            <a:t>Product of the elements in x</a:t>
                          </a:r>
                        </a:p>
                      </a:txBody>
                      <a:tcPr anchor="ctr"/>
                    </a:tc>
                    <a:extLst>
                      <a:ext uri="{0D108BD9-81ED-4DB2-BD59-A6C34878D82A}">
                        <a16:rowId xmlns:a16="http://schemas.microsoft.com/office/drawing/2014/main" val="10002"/>
                      </a:ext>
                    </a:extLst>
                  </a:tr>
                  <a:tr h="332681">
                    <a:tc>
                      <a:txBody>
                        <a:bodyPr/>
                        <a:lstStyle/>
                        <a:p>
                          <a:pPr algn="ctr"/>
                          <a:r>
                            <a:rPr lang="en-ZA" dirty="0"/>
                            <a:t>max(x)</a:t>
                          </a:r>
                        </a:p>
                      </a:txBody>
                      <a:tcPr anchor="ctr"/>
                    </a:tc>
                    <a:tc>
                      <a:txBody>
                        <a:bodyPr/>
                        <a:lstStyle/>
                        <a:p>
                          <a:pPr algn="ctr"/>
                          <a:r>
                            <a:rPr lang="en-ZA" dirty="0"/>
                            <a:t>Maximum element in x</a:t>
                          </a:r>
                        </a:p>
                      </a:txBody>
                      <a:tcPr anchor="ctr"/>
                    </a:tc>
                    <a:extLst>
                      <a:ext uri="{0D108BD9-81ED-4DB2-BD59-A6C34878D82A}">
                        <a16:rowId xmlns:a16="http://schemas.microsoft.com/office/drawing/2014/main" val="10003"/>
                      </a:ext>
                    </a:extLst>
                  </a:tr>
                  <a:tr h="332681">
                    <a:tc>
                      <a:txBody>
                        <a:bodyPr/>
                        <a:lstStyle/>
                        <a:p>
                          <a:pPr algn="ctr"/>
                          <a:r>
                            <a:rPr lang="en-ZA" dirty="0"/>
                            <a:t>min(x)</a:t>
                          </a:r>
                        </a:p>
                      </a:txBody>
                      <a:tcPr anchor="ctr"/>
                    </a:tc>
                    <a:tc>
                      <a:txBody>
                        <a:bodyPr/>
                        <a:lstStyle/>
                        <a:p>
                          <a:pPr algn="ctr"/>
                          <a:r>
                            <a:rPr lang="en-ZA" dirty="0"/>
                            <a:t>Minimum element in x</a:t>
                          </a:r>
                        </a:p>
                      </a:txBody>
                      <a:tcPr anchor="ctr"/>
                    </a:tc>
                    <a:extLst>
                      <a:ext uri="{0D108BD9-81ED-4DB2-BD59-A6C34878D82A}">
                        <a16:rowId xmlns:a16="http://schemas.microsoft.com/office/drawing/2014/main" val="10004"/>
                      </a:ext>
                    </a:extLst>
                  </a:tr>
                  <a:tr h="332681">
                    <a:tc>
                      <a:txBody>
                        <a:bodyPr/>
                        <a:lstStyle/>
                        <a:p>
                          <a:pPr algn="ctr"/>
                          <a:r>
                            <a:rPr lang="en-ZA" dirty="0"/>
                            <a:t>range(x)</a:t>
                          </a:r>
                        </a:p>
                      </a:txBody>
                      <a:tcPr anchor="ctr"/>
                    </a:tc>
                    <a:tc>
                      <a:txBody>
                        <a:bodyPr/>
                        <a:lstStyle/>
                        <a:p>
                          <a:pPr algn="ctr"/>
                          <a:r>
                            <a:rPr lang="en-ZA" dirty="0"/>
                            <a:t>Range of elements in x</a:t>
                          </a:r>
                        </a:p>
                      </a:txBody>
                      <a:tcPr anchor="ctr"/>
                    </a:tc>
                    <a:extLst>
                      <a:ext uri="{0D108BD9-81ED-4DB2-BD59-A6C34878D82A}">
                        <a16:rowId xmlns:a16="http://schemas.microsoft.com/office/drawing/2014/main" val="10005"/>
                      </a:ext>
                    </a:extLst>
                  </a:tr>
                  <a:tr h="332681">
                    <a:tc>
                      <a:txBody>
                        <a:bodyPr/>
                        <a:lstStyle/>
                        <a:p>
                          <a:pPr algn="ctr"/>
                          <a:r>
                            <a:rPr lang="en-ZA" dirty="0"/>
                            <a:t>length(x)</a:t>
                          </a:r>
                        </a:p>
                      </a:txBody>
                      <a:tcPr anchor="ctr"/>
                    </a:tc>
                    <a:tc>
                      <a:txBody>
                        <a:bodyPr/>
                        <a:lstStyle/>
                        <a:p>
                          <a:pPr algn="ctr"/>
                          <a:r>
                            <a:rPr lang="en-ZA" dirty="0"/>
                            <a:t>Number</a:t>
                          </a:r>
                          <a:r>
                            <a:rPr lang="en-ZA" baseline="0" dirty="0"/>
                            <a:t> of elements in x</a:t>
                          </a:r>
                          <a:endParaRPr lang="en-ZA" dirty="0"/>
                        </a:p>
                      </a:txBody>
                      <a:tcPr anchor="ctr"/>
                    </a:tc>
                    <a:extLst>
                      <a:ext uri="{0D108BD9-81ED-4DB2-BD59-A6C34878D82A}">
                        <a16:rowId xmlns:a16="http://schemas.microsoft.com/office/drawing/2014/main" val="10006"/>
                      </a:ext>
                    </a:extLst>
                  </a:tr>
                  <a:tr h="332681">
                    <a:tc>
                      <a:txBody>
                        <a:bodyPr/>
                        <a:lstStyle/>
                        <a:p>
                          <a:pPr algn="ctr"/>
                          <a:r>
                            <a:rPr lang="en-ZA" dirty="0"/>
                            <a:t>mean(x)</a:t>
                          </a:r>
                        </a:p>
                      </a:txBody>
                      <a:tcPr anchor="ctr"/>
                    </a:tc>
                    <a:tc>
                      <a:txBody>
                        <a:bodyPr/>
                        <a:lstStyle/>
                        <a:p>
                          <a:pPr algn="ctr"/>
                          <a:r>
                            <a:rPr lang="en-ZA" dirty="0"/>
                            <a:t>Mean</a:t>
                          </a:r>
                          <a:r>
                            <a:rPr lang="en-ZA" baseline="0" dirty="0"/>
                            <a:t> of elements in x</a:t>
                          </a:r>
                          <a:endParaRPr lang="en-ZA" dirty="0"/>
                        </a:p>
                      </a:txBody>
                      <a:tcPr anchor="ctr"/>
                    </a:tc>
                    <a:extLst>
                      <a:ext uri="{0D108BD9-81ED-4DB2-BD59-A6C34878D82A}">
                        <a16:rowId xmlns:a16="http://schemas.microsoft.com/office/drawing/2014/main" val="10007"/>
                      </a:ext>
                    </a:extLst>
                  </a:tr>
                  <a:tr h="332681">
                    <a:tc>
                      <a:txBody>
                        <a:bodyPr/>
                        <a:lstStyle/>
                        <a:p>
                          <a:pPr algn="ctr"/>
                          <a:r>
                            <a:rPr lang="en-ZA" dirty="0"/>
                            <a:t>median(x)</a:t>
                          </a:r>
                        </a:p>
                      </a:txBody>
                      <a:tcPr anchor="ctr"/>
                    </a:tc>
                    <a:tc>
                      <a:txBody>
                        <a:bodyPr/>
                        <a:lstStyle/>
                        <a:p>
                          <a:pPr algn="ctr"/>
                          <a:r>
                            <a:rPr lang="en-ZA" dirty="0"/>
                            <a:t>Median of the elements in x</a:t>
                          </a:r>
                        </a:p>
                      </a:txBody>
                      <a:tcPr anchor="ctr"/>
                    </a:tc>
                    <a:extLst>
                      <a:ext uri="{0D108BD9-81ED-4DB2-BD59-A6C34878D82A}">
                        <a16:rowId xmlns:a16="http://schemas.microsoft.com/office/drawing/2014/main" val="10008"/>
                      </a:ext>
                    </a:extLst>
                  </a:tr>
                  <a:tr h="332681">
                    <a:tc>
                      <a:txBody>
                        <a:bodyPr/>
                        <a:lstStyle/>
                        <a:p>
                          <a:pPr algn="ctr"/>
                          <a:r>
                            <a:rPr lang="en-ZA" dirty="0" err="1"/>
                            <a:t>var</a:t>
                          </a:r>
                          <a:r>
                            <a:rPr lang="en-ZA" dirty="0"/>
                            <a:t>(x)</a:t>
                          </a:r>
                        </a:p>
                      </a:txBody>
                      <a:tcPr anchor="ctr"/>
                    </a:tc>
                    <a:tc>
                      <a:txBody>
                        <a:bodyPr/>
                        <a:lstStyle/>
                        <a:p>
                          <a:pPr algn="ctr"/>
                          <a:r>
                            <a:rPr lang="en-ZA" dirty="0"/>
                            <a:t>Variance of the elements</a:t>
                          </a:r>
                          <a:r>
                            <a:rPr lang="en-ZA" baseline="0" dirty="0"/>
                            <a:t> in x</a:t>
                          </a:r>
                          <a:endParaRPr lang="en-ZA" dirty="0"/>
                        </a:p>
                      </a:txBody>
                      <a:tcPr anchor="ctr"/>
                    </a:tc>
                    <a:extLst>
                      <a:ext uri="{0D108BD9-81ED-4DB2-BD59-A6C34878D82A}">
                        <a16:rowId xmlns:a16="http://schemas.microsoft.com/office/drawing/2014/main" val="10009"/>
                      </a:ext>
                    </a:extLst>
                  </a:tr>
                  <a:tr h="332681">
                    <a:tc>
                      <a:txBody>
                        <a:bodyPr/>
                        <a:lstStyle/>
                        <a:p>
                          <a:pPr algn="ctr"/>
                          <a:r>
                            <a:rPr lang="en-ZA" dirty="0" err="1"/>
                            <a:t>sd</a:t>
                          </a:r>
                          <a:r>
                            <a:rPr lang="en-ZA" dirty="0"/>
                            <a:t>(x)</a:t>
                          </a:r>
                        </a:p>
                      </a:txBody>
                      <a:tcPr anchor="ctr"/>
                    </a:tc>
                    <a:tc>
                      <a:txBody>
                        <a:bodyPr/>
                        <a:lstStyle/>
                        <a:p>
                          <a:pPr algn="ctr"/>
                          <a:r>
                            <a:rPr lang="en-ZA" dirty="0"/>
                            <a:t>Standard</a:t>
                          </a:r>
                          <a:r>
                            <a:rPr lang="en-ZA" baseline="0" dirty="0"/>
                            <a:t> deviation of the elements in x</a:t>
                          </a:r>
                          <a:endParaRPr lang="en-ZA" dirty="0"/>
                        </a:p>
                      </a:txBody>
                      <a:tcPr anchor="ctr"/>
                    </a:tc>
                    <a:extLst>
                      <a:ext uri="{0D108BD9-81ED-4DB2-BD59-A6C34878D82A}">
                        <a16:rowId xmlns:a16="http://schemas.microsoft.com/office/drawing/2014/main" val="10010"/>
                      </a:ext>
                    </a:extLst>
                  </a:tr>
                  <a:tr h="332681">
                    <a:tc>
                      <a:txBody>
                        <a:bodyPr/>
                        <a:lstStyle/>
                        <a:p>
                          <a:pPr algn="ctr"/>
                          <a:r>
                            <a:rPr lang="en-ZA" dirty="0" err="1"/>
                            <a:t>cor</a:t>
                          </a:r>
                          <a:r>
                            <a:rPr lang="en-ZA" dirty="0"/>
                            <a:t>(x, y)</a:t>
                          </a:r>
                        </a:p>
                      </a:txBody>
                      <a:tcPr anchor="ctr"/>
                    </a:tc>
                    <a:tc>
                      <a:txBody>
                        <a:bodyPr/>
                        <a:lstStyle/>
                        <a:p>
                          <a:pPr algn="ctr"/>
                          <a:r>
                            <a:rPr lang="en-ZA" dirty="0"/>
                            <a:t>Correlation between elements x and y</a:t>
                          </a:r>
                        </a:p>
                      </a:txBody>
                      <a:tcPr anchor="ctr"/>
                    </a:tc>
                    <a:extLst>
                      <a:ext uri="{0D108BD9-81ED-4DB2-BD59-A6C34878D82A}">
                        <a16:rowId xmlns:a16="http://schemas.microsoft.com/office/drawing/2014/main" val="10011"/>
                      </a:ext>
                    </a:extLst>
                  </a:tr>
                  <a:tr h="332681">
                    <a:tc>
                      <a:txBody>
                        <a:bodyPr/>
                        <a:lstStyle/>
                        <a:p>
                          <a:pPr algn="ctr"/>
                          <a:r>
                            <a:rPr lang="en-ZA" dirty="0"/>
                            <a:t>quantile(x,</a:t>
                          </a:r>
                          <a:r>
                            <a:rPr lang="en-ZA" baseline="0" dirty="0"/>
                            <a:t> p)</a:t>
                          </a:r>
                          <a:endParaRPr lang="en-ZA" dirty="0"/>
                        </a:p>
                      </a:txBody>
                      <a:tcPr anchor="ctr"/>
                    </a:tc>
                    <a:tc>
                      <a:txBody>
                        <a:bodyPr/>
                        <a:lstStyle/>
                        <a:p>
                          <a:pPr algn="ctr"/>
                          <a:r>
                            <a:rPr lang="en-ZA" dirty="0"/>
                            <a:t>The </a:t>
                          </a:r>
                          <a14:m>
                            <m:oMath xmlns:m="http://schemas.openxmlformats.org/officeDocument/2006/math">
                              <m:sSup>
                                <m:sSupPr>
                                  <m:ctrlPr>
                                    <a:rPr lang="en-ZA" i="1" smtClean="0">
                                      <a:latin typeface="Cambria Math" panose="02040503050406030204" pitchFamily="18" charset="0"/>
                                    </a:rPr>
                                  </m:ctrlPr>
                                </m:sSupPr>
                                <m:e>
                                  <m:r>
                                    <a:rPr lang="en-ZA" b="0" i="1" smtClean="0">
                                      <a:latin typeface="Cambria Math" panose="02040503050406030204" pitchFamily="18" charset="0"/>
                                    </a:rPr>
                                    <m:t>𝑝</m:t>
                                  </m:r>
                                </m:e>
                                <m:sup>
                                  <m:r>
                                    <a:rPr lang="en-ZA" b="0" i="1" smtClean="0">
                                      <a:latin typeface="Cambria Math" panose="02040503050406030204" pitchFamily="18" charset="0"/>
                                    </a:rPr>
                                    <m:t>𝑡h</m:t>
                                  </m:r>
                                </m:sup>
                              </m:sSup>
                            </m:oMath>
                          </a14:m>
                          <a:r>
                            <a:rPr lang="en-ZA" dirty="0"/>
                            <a:t> quantile of x</a:t>
                          </a:r>
                        </a:p>
                      </a:txBody>
                      <a:tcPr anchor="ctr"/>
                    </a:tc>
                    <a:extLst>
                      <a:ext uri="{0D108BD9-81ED-4DB2-BD59-A6C34878D82A}">
                        <a16:rowId xmlns:a16="http://schemas.microsoft.com/office/drawing/2014/main" val="10012"/>
                      </a:ext>
                    </a:extLst>
                  </a:tr>
                  <a:tr h="332681">
                    <a:tc>
                      <a:txBody>
                        <a:bodyPr/>
                        <a:lstStyle/>
                        <a:p>
                          <a:pPr algn="ctr"/>
                          <a:r>
                            <a:rPr lang="en-ZA" dirty="0" err="1"/>
                            <a:t>cov</a:t>
                          </a:r>
                          <a:r>
                            <a:rPr lang="en-ZA" dirty="0"/>
                            <a:t>(x, y)</a:t>
                          </a:r>
                        </a:p>
                      </a:txBody>
                      <a:tcPr anchor="ctr"/>
                    </a:tc>
                    <a:tc>
                      <a:txBody>
                        <a:bodyPr/>
                        <a:lstStyle/>
                        <a:p>
                          <a:pPr algn="ctr"/>
                          <a:r>
                            <a:rPr lang="en-ZA" dirty="0"/>
                            <a:t>Covariance between x and y</a:t>
                          </a:r>
                        </a:p>
                      </a:txBody>
                      <a:tcPr anchor="ctr"/>
                    </a:tc>
                    <a:extLst>
                      <a:ext uri="{0D108BD9-81ED-4DB2-BD59-A6C34878D82A}">
                        <a16:rowId xmlns:a16="http://schemas.microsoft.com/office/drawing/2014/main" val="10013"/>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1258303264"/>
                  </p:ext>
                </p:extLst>
              </p:nvPr>
            </p:nvGraphicFramePr>
            <p:xfrm>
              <a:off x="1742536" y="1189553"/>
              <a:ext cx="6858000" cy="5125530"/>
            </p:xfrm>
            <a:graphic>
              <a:graphicData uri="http://schemas.openxmlformats.org/drawingml/2006/table">
                <a:tbl>
                  <a:tblPr firstRow="1" bandRow="1">
                    <a:tableStyleId>{5C22544A-7EE6-4342-B048-85BDC9FD1C3A}</a:tableStyleId>
                  </a:tblPr>
                  <a:tblGrid>
                    <a:gridCol w="2673457"/>
                    <a:gridCol w="4184543"/>
                  </a:tblGrid>
                  <a:tr h="365760">
                    <a:tc>
                      <a:txBody>
                        <a:bodyPr/>
                        <a:lstStyle/>
                        <a:p>
                          <a:pPr algn="ctr"/>
                          <a:r>
                            <a:rPr lang="en-ZA" dirty="0" smtClean="0"/>
                            <a:t>Function</a:t>
                          </a:r>
                          <a:endParaRPr lang="en-ZA" dirty="0"/>
                        </a:p>
                      </a:txBody>
                      <a:tcPr anchor="ctr"/>
                    </a:tc>
                    <a:tc>
                      <a:txBody>
                        <a:bodyPr/>
                        <a:lstStyle/>
                        <a:p>
                          <a:pPr algn="ctr"/>
                          <a:r>
                            <a:rPr lang="en-ZA" dirty="0" smtClean="0"/>
                            <a:t>Task Performed</a:t>
                          </a:r>
                          <a:endParaRPr lang="en-ZA" dirty="0"/>
                        </a:p>
                      </a:txBody>
                      <a:tcPr anchor="ctr"/>
                    </a:tc>
                  </a:tr>
                  <a:tr h="365760">
                    <a:tc>
                      <a:txBody>
                        <a:bodyPr/>
                        <a:lstStyle/>
                        <a:p>
                          <a:pPr algn="ctr"/>
                          <a:r>
                            <a:rPr lang="en-ZA" dirty="0" smtClean="0"/>
                            <a:t>sum(x)</a:t>
                          </a:r>
                          <a:endParaRPr lang="en-ZA" dirty="0"/>
                        </a:p>
                      </a:txBody>
                      <a:tcPr anchor="ctr"/>
                    </a:tc>
                    <a:tc>
                      <a:txBody>
                        <a:bodyPr/>
                        <a:lstStyle/>
                        <a:p>
                          <a:pPr algn="ctr"/>
                          <a:r>
                            <a:rPr lang="en-ZA" dirty="0" smtClean="0"/>
                            <a:t>Sums the elements</a:t>
                          </a:r>
                          <a:r>
                            <a:rPr lang="en-ZA" baseline="0" dirty="0" smtClean="0"/>
                            <a:t> in x</a:t>
                          </a:r>
                          <a:endParaRPr lang="en-ZA" dirty="0"/>
                        </a:p>
                      </a:txBody>
                      <a:tcPr anchor="ctr"/>
                    </a:tc>
                  </a:tr>
                  <a:tr h="365760">
                    <a:tc>
                      <a:txBody>
                        <a:bodyPr/>
                        <a:lstStyle/>
                        <a:p>
                          <a:pPr algn="ctr"/>
                          <a:r>
                            <a:rPr lang="en-ZA" dirty="0" smtClean="0"/>
                            <a:t>prod(x)</a:t>
                          </a:r>
                          <a:endParaRPr lang="en-ZA" dirty="0"/>
                        </a:p>
                      </a:txBody>
                      <a:tcPr anchor="ctr"/>
                    </a:tc>
                    <a:tc>
                      <a:txBody>
                        <a:bodyPr/>
                        <a:lstStyle/>
                        <a:p>
                          <a:pPr algn="ctr"/>
                          <a:r>
                            <a:rPr lang="en-ZA" dirty="0" smtClean="0"/>
                            <a:t>Product of the elements in x</a:t>
                          </a:r>
                          <a:endParaRPr lang="en-ZA" dirty="0"/>
                        </a:p>
                      </a:txBody>
                      <a:tcPr anchor="ctr"/>
                    </a:tc>
                  </a:tr>
                  <a:tr h="365760">
                    <a:tc>
                      <a:txBody>
                        <a:bodyPr/>
                        <a:lstStyle/>
                        <a:p>
                          <a:pPr algn="ctr"/>
                          <a:r>
                            <a:rPr lang="en-ZA" dirty="0" smtClean="0"/>
                            <a:t>max(x)</a:t>
                          </a:r>
                          <a:endParaRPr lang="en-ZA" dirty="0"/>
                        </a:p>
                      </a:txBody>
                      <a:tcPr anchor="ctr"/>
                    </a:tc>
                    <a:tc>
                      <a:txBody>
                        <a:bodyPr/>
                        <a:lstStyle/>
                        <a:p>
                          <a:pPr algn="ctr"/>
                          <a:r>
                            <a:rPr lang="en-ZA" dirty="0" smtClean="0"/>
                            <a:t>Maximum element in x</a:t>
                          </a:r>
                          <a:endParaRPr lang="en-ZA" dirty="0"/>
                        </a:p>
                      </a:txBody>
                      <a:tcPr anchor="ctr"/>
                    </a:tc>
                  </a:tr>
                  <a:tr h="365760">
                    <a:tc>
                      <a:txBody>
                        <a:bodyPr/>
                        <a:lstStyle/>
                        <a:p>
                          <a:pPr algn="ctr"/>
                          <a:r>
                            <a:rPr lang="en-ZA" dirty="0" smtClean="0"/>
                            <a:t>min(x)</a:t>
                          </a:r>
                          <a:endParaRPr lang="en-ZA" dirty="0"/>
                        </a:p>
                      </a:txBody>
                      <a:tcPr anchor="ctr"/>
                    </a:tc>
                    <a:tc>
                      <a:txBody>
                        <a:bodyPr/>
                        <a:lstStyle/>
                        <a:p>
                          <a:pPr algn="ctr"/>
                          <a:r>
                            <a:rPr lang="en-ZA" dirty="0" smtClean="0"/>
                            <a:t>Minimum element in x</a:t>
                          </a:r>
                          <a:endParaRPr lang="en-ZA" dirty="0"/>
                        </a:p>
                      </a:txBody>
                      <a:tcPr anchor="ctr"/>
                    </a:tc>
                  </a:tr>
                  <a:tr h="365760">
                    <a:tc>
                      <a:txBody>
                        <a:bodyPr/>
                        <a:lstStyle/>
                        <a:p>
                          <a:pPr algn="ctr"/>
                          <a:r>
                            <a:rPr lang="en-ZA" dirty="0" smtClean="0"/>
                            <a:t>range(x)</a:t>
                          </a:r>
                          <a:endParaRPr lang="en-ZA" dirty="0"/>
                        </a:p>
                      </a:txBody>
                      <a:tcPr anchor="ctr"/>
                    </a:tc>
                    <a:tc>
                      <a:txBody>
                        <a:bodyPr/>
                        <a:lstStyle/>
                        <a:p>
                          <a:pPr algn="ctr"/>
                          <a:r>
                            <a:rPr lang="en-ZA" dirty="0" smtClean="0"/>
                            <a:t>Range of elements in x</a:t>
                          </a:r>
                          <a:endParaRPr lang="en-ZA" dirty="0"/>
                        </a:p>
                      </a:txBody>
                      <a:tcPr anchor="ctr"/>
                    </a:tc>
                  </a:tr>
                  <a:tr h="365760">
                    <a:tc>
                      <a:txBody>
                        <a:bodyPr/>
                        <a:lstStyle/>
                        <a:p>
                          <a:pPr algn="ctr"/>
                          <a:r>
                            <a:rPr lang="en-ZA" dirty="0" smtClean="0"/>
                            <a:t>length(x)</a:t>
                          </a:r>
                          <a:endParaRPr lang="en-ZA" dirty="0"/>
                        </a:p>
                      </a:txBody>
                      <a:tcPr anchor="ctr"/>
                    </a:tc>
                    <a:tc>
                      <a:txBody>
                        <a:bodyPr/>
                        <a:lstStyle/>
                        <a:p>
                          <a:pPr algn="ctr"/>
                          <a:r>
                            <a:rPr lang="en-ZA" dirty="0" smtClean="0"/>
                            <a:t>Number</a:t>
                          </a:r>
                          <a:r>
                            <a:rPr lang="en-ZA" baseline="0" dirty="0" smtClean="0"/>
                            <a:t> of elements in x</a:t>
                          </a:r>
                          <a:endParaRPr lang="en-ZA" dirty="0"/>
                        </a:p>
                      </a:txBody>
                      <a:tcPr anchor="ctr"/>
                    </a:tc>
                  </a:tr>
                  <a:tr h="365760">
                    <a:tc>
                      <a:txBody>
                        <a:bodyPr/>
                        <a:lstStyle/>
                        <a:p>
                          <a:pPr algn="ctr"/>
                          <a:r>
                            <a:rPr lang="en-ZA" dirty="0" smtClean="0"/>
                            <a:t>mean(x)</a:t>
                          </a:r>
                          <a:endParaRPr lang="en-ZA" dirty="0"/>
                        </a:p>
                      </a:txBody>
                      <a:tcPr anchor="ctr"/>
                    </a:tc>
                    <a:tc>
                      <a:txBody>
                        <a:bodyPr/>
                        <a:lstStyle/>
                        <a:p>
                          <a:pPr algn="ctr"/>
                          <a:r>
                            <a:rPr lang="en-ZA" dirty="0" smtClean="0"/>
                            <a:t>Mean</a:t>
                          </a:r>
                          <a:r>
                            <a:rPr lang="en-ZA" baseline="0" dirty="0" smtClean="0"/>
                            <a:t> of elements in x</a:t>
                          </a:r>
                          <a:endParaRPr lang="en-ZA" dirty="0"/>
                        </a:p>
                      </a:txBody>
                      <a:tcPr anchor="ctr"/>
                    </a:tc>
                  </a:tr>
                  <a:tr h="365760">
                    <a:tc>
                      <a:txBody>
                        <a:bodyPr/>
                        <a:lstStyle/>
                        <a:p>
                          <a:pPr algn="ctr"/>
                          <a:r>
                            <a:rPr lang="en-ZA" dirty="0" smtClean="0"/>
                            <a:t>median(x)</a:t>
                          </a:r>
                          <a:endParaRPr lang="en-ZA" dirty="0"/>
                        </a:p>
                      </a:txBody>
                      <a:tcPr anchor="ctr"/>
                    </a:tc>
                    <a:tc>
                      <a:txBody>
                        <a:bodyPr/>
                        <a:lstStyle/>
                        <a:p>
                          <a:pPr algn="ctr"/>
                          <a:r>
                            <a:rPr lang="en-ZA" dirty="0" smtClean="0"/>
                            <a:t>Median of the elements in x</a:t>
                          </a:r>
                          <a:endParaRPr lang="en-ZA" dirty="0"/>
                        </a:p>
                      </a:txBody>
                      <a:tcPr anchor="ctr"/>
                    </a:tc>
                  </a:tr>
                  <a:tr h="365760">
                    <a:tc>
                      <a:txBody>
                        <a:bodyPr/>
                        <a:lstStyle/>
                        <a:p>
                          <a:pPr algn="ctr"/>
                          <a:r>
                            <a:rPr lang="en-ZA" dirty="0" err="1" smtClean="0"/>
                            <a:t>var</a:t>
                          </a:r>
                          <a:r>
                            <a:rPr lang="en-ZA" dirty="0" smtClean="0"/>
                            <a:t>(x)</a:t>
                          </a:r>
                          <a:endParaRPr lang="en-ZA" dirty="0"/>
                        </a:p>
                      </a:txBody>
                      <a:tcPr anchor="ctr"/>
                    </a:tc>
                    <a:tc>
                      <a:txBody>
                        <a:bodyPr/>
                        <a:lstStyle/>
                        <a:p>
                          <a:pPr algn="ctr"/>
                          <a:r>
                            <a:rPr lang="en-ZA" dirty="0" smtClean="0"/>
                            <a:t>Variance of the elements</a:t>
                          </a:r>
                          <a:r>
                            <a:rPr lang="en-ZA" baseline="0" dirty="0" smtClean="0"/>
                            <a:t> in x</a:t>
                          </a:r>
                          <a:endParaRPr lang="en-ZA" dirty="0"/>
                        </a:p>
                      </a:txBody>
                      <a:tcPr anchor="ctr"/>
                    </a:tc>
                  </a:tr>
                  <a:tr h="365760">
                    <a:tc>
                      <a:txBody>
                        <a:bodyPr/>
                        <a:lstStyle/>
                        <a:p>
                          <a:pPr algn="ctr"/>
                          <a:r>
                            <a:rPr lang="en-ZA" dirty="0" err="1" smtClean="0"/>
                            <a:t>sd</a:t>
                          </a:r>
                          <a:r>
                            <a:rPr lang="en-ZA" dirty="0" smtClean="0"/>
                            <a:t>(x)</a:t>
                          </a:r>
                          <a:endParaRPr lang="en-ZA" dirty="0"/>
                        </a:p>
                      </a:txBody>
                      <a:tcPr anchor="ctr"/>
                    </a:tc>
                    <a:tc>
                      <a:txBody>
                        <a:bodyPr/>
                        <a:lstStyle/>
                        <a:p>
                          <a:pPr algn="ctr"/>
                          <a:r>
                            <a:rPr lang="en-ZA" dirty="0" smtClean="0"/>
                            <a:t>Standard</a:t>
                          </a:r>
                          <a:r>
                            <a:rPr lang="en-ZA" baseline="0" dirty="0" smtClean="0"/>
                            <a:t> deviation of the elements in x</a:t>
                          </a:r>
                          <a:endParaRPr lang="en-ZA" dirty="0"/>
                        </a:p>
                      </a:txBody>
                      <a:tcPr anchor="ctr"/>
                    </a:tc>
                  </a:tr>
                  <a:tr h="365760">
                    <a:tc>
                      <a:txBody>
                        <a:bodyPr/>
                        <a:lstStyle/>
                        <a:p>
                          <a:pPr algn="ctr"/>
                          <a:r>
                            <a:rPr lang="en-ZA" dirty="0" err="1" smtClean="0"/>
                            <a:t>cor</a:t>
                          </a:r>
                          <a:r>
                            <a:rPr lang="en-ZA" dirty="0" smtClean="0"/>
                            <a:t>(x, y)</a:t>
                          </a:r>
                          <a:endParaRPr lang="en-ZA" dirty="0"/>
                        </a:p>
                      </a:txBody>
                      <a:tcPr anchor="ctr"/>
                    </a:tc>
                    <a:tc>
                      <a:txBody>
                        <a:bodyPr/>
                        <a:lstStyle/>
                        <a:p>
                          <a:pPr algn="ctr"/>
                          <a:r>
                            <a:rPr lang="en-ZA" dirty="0" smtClean="0"/>
                            <a:t>Correlation between elements x and y</a:t>
                          </a:r>
                          <a:endParaRPr lang="en-ZA" dirty="0"/>
                        </a:p>
                      </a:txBody>
                      <a:tcPr anchor="ctr"/>
                    </a:tc>
                  </a:tr>
                  <a:tr h="370650">
                    <a:tc>
                      <a:txBody>
                        <a:bodyPr/>
                        <a:lstStyle/>
                        <a:p>
                          <a:pPr algn="ctr"/>
                          <a:r>
                            <a:rPr lang="en-ZA" dirty="0" smtClean="0"/>
                            <a:t>quantile(x,</a:t>
                          </a:r>
                          <a:r>
                            <a:rPr lang="en-ZA" baseline="0" dirty="0" smtClean="0"/>
                            <a:t> p)</a:t>
                          </a:r>
                          <a:endParaRPr lang="en-ZA" dirty="0"/>
                        </a:p>
                      </a:txBody>
                      <a:tcPr anchor="ctr"/>
                    </a:tc>
                    <a:tc>
                      <a:txBody>
                        <a:bodyPr/>
                        <a:lstStyle/>
                        <a:p>
                          <a:endParaRPr lang="en-US"/>
                        </a:p>
                      </a:txBody>
                      <a:tcPr anchor="ctr">
                        <a:blipFill rotWithShape="0">
                          <a:blip r:embed="rId4"/>
                          <a:stretch>
                            <a:fillRect l="-64047" t="-1188525" r="-728" b="-124590"/>
                          </a:stretch>
                        </a:blipFill>
                      </a:tcPr>
                    </a:tc>
                  </a:tr>
                  <a:tr h="365760">
                    <a:tc>
                      <a:txBody>
                        <a:bodyPr/>
                        <a:lstStyle/>
                        <a:p>
                          <a:pPr algn="ctr"/>
                          <a:r>
                            <a:rPr lang="en-ZA" dirty="0" err="1" smtClean="0"/>
                            <a:t>cov</a:t>
                          </a:r>
                          <a:r>
                            <a:rPr lang="en-ZA" dirty="0" smtClean="0"/>
                            <a:t>(x, y)</a:t>
                          </a:r>
                          <a:endParaRPr lang="en-ZA" dirty="0"/>
                        </a:p>
                      </a:txBody>
                      <a:tcPr anchor="ctr"/>
                    </a:tc>
                    <a:tc>
                      <a:txBody>
                        <a:bodyPr/>
                        <a:lstStyle/>
                        <a:p>
                          <a:pPr algn="ctr"/>
                          <a:r>
                            <a:rPr lang="en-ZA" dirty="0" smtClean="0"/>
                            <a:t>Covariance between x and y</a:t>
                          </a:r>
                          <a:endParaRPr lang="en-ZA" dirty="0"/>
                        </a:p>
                      </a:txBody>
                      <a:tcPr anchor="ctr"/>
                    </a:tc>
                  </a:tr>
                </a:tbl>
              </a:graphicData>
            </a:graphic>
          </p:graphicFrame>
        </mc:Fallback>
      </mc:AlternateContent>
      <p:sp>
        <p:nvSpPr>
          <p:cNvPr id="8" name="Rectangle 7"/>
          <p:cNvSpPr/>
          <p:nvPr/>
        </p:nvSpPr>
        <p:spPr>
          <a:xfrm>
            <a:off x="1742536" y="1200333"/>
            <a:ext cx="6858000" cy="5124748"/>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477686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131837" y="324226"/>
            <a:ext cx="1383198" cy="865327"/>
          </a:xfrm>
          <a:prstGeom prst="rect">
            <a:avLst/>
          </a:prstGeom>
        </p:spPr>
      </p:pic>
      <p:sp>
        <p:nvSpPr>
          <p:cNvPr id="7" name="Title 1"/>
          <p:cNvSpPr>
            <a:spLocks noGrp="1"/>
          </p:cNvSpPr>
          <p:nvPr>
            <p:ph type="title"/>
          </p:nvPr>
        </p:nvSpPr>
        <p:spPr>
          <a:xfrm>
            <a:off x="450971" y="334223"/>
            <a:ext cx="8915400" cy="845332"/>
          </a:xfrm>
        </p:spPr>
        <p:txBody>
          <a:bodyPr>
            <a:normAutofit/>
          </a:bodyPr>
          <a:lstStyle/>
          <a:p>
            <a:r>
              <a:rPr lang="en-ZA" sz="4000" dirty="0"/>
              <a:t>The Summary function</a:t>
            </a:r>
          </a:p>
        </p:txBody>
      </p:sp>
      <p:sp>
        <p:nvSpPr>
          <p:cNvPr id="8" name="TextBox 7"/>
          <p:cNvSpPr txBox="1"/>
          <p:nvPr/>
        </p:nvSpPr>
        <p:spPr>
          <a:xfrm>
            <a:off x="754425" y="1519482"/>
            <a:ext cx="8674247" cy="1015663"/>
          </a:xfrm>
          <a:prstGeom prst="rect">
            <a:avLst/>
          </a:prstGeom>
          <a:noFill/>
        </p:spPr>
        <p:txBody>
          <a:bodyPr wrap="square" rtlCol="0">
            <a:spAutoFit/>
          </a:bodyPr>
          <a:lstStyle/>
          <a:p>
            <a:pPr marL="285750" indent="-285750">
              <a:buFont typeface="Arial" panose="020B0604020202020204" pitchFamily="34" charset="0"/>
              <a:buChar char="•"/>
            </a:pPr>
            <a:r>
              <a:rPr lang="en-ZA" sz="2000" dirty="0">
                <a:latin typeface="Avenir Next Cyr W04 Regular" panose="020B0503020202020204" pitchFamily="34" charset="0"/>
              </a:rPr>
              <a:t>The </a:t>
            </a:r>
            <a:r>
              <a:rPr lang="en-ZA" sz="2000" i="1" dirty="0">
                <a:latin typeface="Avenir Next Cyr W04 Regular" panose="020B0503020202020204" pitchFamily="34" charset="0"/>
              </a:rPr>
              <a:t>summary</a:t>
            </a:r>
            <a:r>
              <a:rPr lang="en-ZA" sz="2000" dirty="0">
                <a:latin typeface="Avenir Next Cyr W04 Regular" panose="020B0503020202020204" pitchFamily="34" charset="0"/>
              </a:rPr>
              <a:t>() function in R will return the min, 1</a:t>
            </a:r>
            <a:r>
              <a:rPr lang="en-ZA" sz="2000" baseline="30000" dirty="0">
                <a:latin typeface="Avenir Next Cyr W04 Regular" panose="020B0503020202020204" pitchFamily="34" charset="0"/>
              </a:rPr>
              <a:t>st</a:t>
            </a:r>
            <a:r>
              <a:rPr lang="en-ZA" sz="2000" dirty="0">
                <a:latin typeface="Avenir Next Cyr W04 Regular" panose="020B0503020202020204" pitchFamily="34" charset="0"/>
              </a:rPr>
              <a:t> quartile, median, mean, 3</a:t>
            </a:r>
            <a:r>
              <a:rPr lang="en-ZA" sz="2000" baseline="30000" dirty="0">
                <a:latin typeface="Avenir Next Cyr W04 Regular" panose="020B0503020202020204" pitchFamily="34" charset="0"/>
              </a:rPr>
              <a:t>rd</a:t>
            </a:r>
            <a:r>
              <a:rPr lang="en-ZA" sz="2000" dirty="0">
                <a:latin typeface="Avenir Next Cyr W04 Regular" panose="020B0503020202020204" pitchFamily="34" charset="0"/>
              </a:rPr>
              <a:t> quartile and maximum values of the element in the argument.</a:t>
            </a:r>
          </a:p>
        </p:txBody>
      </p:sp>
      <p:pic>
        <p:nvPicPr>
          <p:cNvPr id="2" name="Picture 1"/>
          <p:cNvPicPr>
            <a:picLocks noChangeAspect="1"/>
          </p:cNvPicPr>
          <p:nvPr/>
        </p:nvPicPr>
        <p:blipFill>
          <a:blip r:embed="rId4"/>
          <a:stretch>
            <a:fillRect/>
          </a:stretch>
        </p:blipFill>
        <p:spPr>
          <a:xfrm>
            <a:off x="1843813" y="2890733"/>
            <a:ext cx="5875517" cy="1278610"/>
          </a:xfrm>
          <a:prstGeom prst="rect">
            <a:avLst/>
          </a:prstGeom>
        </p:spPr>
      </p:pic>
      <p:sp>
        <p:nvSpPr>
          <p:cNvPr id="9" name="Rectangle 8"/>
          <p:cNvSpPr/>
          <p:nvPr/>
        </p:nvSpPr>
        <p:spPr>
          <a:xfrm>
            <a:off x="1843812" y="2890733"/>
            <a:ext cx="5875517" cy="1278610"/>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755394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emplate1.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906001" cy="6858000"/>
          </a:xfrm>
          <a:prstGeom prst="rect">
            <a:avLst/>
          </a:prstGeom>
        </p:spPr>
      </p:pic>
      <p:sp>
        <p:nvSpPr>
          <p:cNvPr id="5" name="Title 1"/>
          <p:cNvSpPr txBox="1">
            <a:spLocks/>
          </p:cNvSpPr>
          <p:nvPr/>
        </p:nvSpPr>
        <p:spPr>
          <a:xfrm>
            <a:off x="1092200" y="2294281"/>
            <a:ext cx="8013700" cy="3330574"/>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r"/>
            <a:endParaRPr lang="en-US" sz="2400" b="1" dirty="0">
              <a:solidFill>
                <a:srgbClr val="A7853E"/>
              </a:solidFill>
              <a:latin typeface="Baskerville Old Face" charset="0"/>
            </a:endParaRPr>
          </a:p>
          <a:p>
            <a:pPr algn="r"/>
            <a:endParaRPr lang="en-US" sz="2400" b="1" dirty="0">
              <a:solidFill>
                <a:srgbClr val="A7853E"/>
              </a:solidFill>
              <a:latin typeface="Baskerville Old Face" charset="0"/>
            </a:endParaRPr>
          </a:p>
          <a:p>
            <a:pPr algn="r"/>
            <a:endParaRPr lang="en-US" sz="2400" b="1" dirty="0">
              <a:solidFill>
                <a:srgbClr val="A7853E"/>
              </a:solidFill>
              <a:latin typeface="Baskerville Old Face" charset="0"/>
            </a:endParaRPr>
          </a:p>
          <a:p>
            <a:pPr algn="r"/>
            <a:endParaRPr lang="en-US" sz="2400" b="1" dirty="0">
              <a:solidFill>
                <a:srgbClr val="A7853E"/>
              </a:solidFill>
              <a:latin typeface="Baskerville Old Face" charset="0"/>
            </a:endParaRPr>
          </a:p>
        </p:txBody>
      </p:sp>
      <p:sp>
        <p:nvSpPr>
          <p:cNvPr id="3" name="Title 2"/>
          <p:cNvSpPr>
            <a:spLocks noGrp="1"/>
          </p:cNvSpPr>
          <p:nvPr>
            <p:ph type="ctrTitle"/>
          </p:nvPr>
        </p:nvSpPr>
        <p:spPr>
          <a:xfrm>
            <a:off x="742950" y="501651"/>
            <a:ext cx="8420100" cy="1470025"/>
          </a:xfrm>
        </p:spPr>
        <p:txBody>
          <a:bodyPr>
            <a:normAutofit/>
          </a:bodyPr>
          <a:lstStyle/>
          <a:p>
            <a:br>
              <a:rPr lang="en-ZA" sz="2400" b="1" dirty="0">
                <a:solidFill>
                  <a:srgbClr val="A7853E"/>
                </a:solidFill>
                <a:latin typeface="Baskerville Old Face" charset="0"/>
                <a:cs typeface="+mj-cs"/>
              </a:rPr>
            </a:br>
            <a:endParaRPr lang="en-ZA" sz="2400" b="1" dirty="0">
              <a:solidFill>
                <a:srgbClr val="A7853E"/>
              </a:solidFill>
              <a:latin typeface="Baskerville Old Face" charset="0"/>
              <a:cs typeface="+mj-cs"/>
            </a:endParaRPr>
          </a:p>
        </p:txBody>
      </p:sp>
      <p:sp>
        <p:nvSpPr>
          <p:cNvPr id="2" name="Rectangle 1"/>
          <p:cNvSpPr/>
          <p:nvPr/>
        </p:nvSpPr>
        <p:spPr>
          <a:xfrm>
            <a:off x="2493819" y="2318296"/>
            <a:ext cx="4346336" cy="3539430"/>
          </a:xfrm>
          <a:prstGeom prst="rect">
            <a:avLst/>
          </a:prstGeom>
        </p:spPr>
        <p:txBody>
          <a:bodyPr wrap="square">
            <a:spAutoFit/>
          </a:bodyPr>
          <a:lstStyle/>
          <a:p>
            <a:pPr algn="ctr"/>
            <a:r>
              <a:rPr lang="en-ZA" sz="3200" b="1" spc="50" dirty="0">
                <a:ln w="0"/>
                <a:solidFill>
                  <a:schemeClr val="bg2"/>
                </a:solidFill>
                <a:effectLst>
                  <a:innerShdw blurRad="63500" dist="50800" dir="13500000">
                    <a:srgbClr val="000000">
                      <a:alpha val="50000"/>
                    </a:srgbClr>
                  </a:innerShdw>
                </a:effectLst>
              </a:rPr>
              <a:t>Programming with R &amp; Exploratory Data Analysis and Graphics –</a:t>
            </a:r>
          </a:p>
          <a:p>
            <a:pPr algn="ctr"/>
            <a:r>
              <a:rPr lang="en-ZA" sz="3200" b="1" spc="50" dirty="0">
                <a:ln w="0"/>
                <a:solidFill>
                  <a:schemeClr val="bg2"/>
                </a:solidFill>
                <a:effectLst>
                  <a:innerShdw blurRad="63500" dist="50800" dir="13500000">
                    <a:srgbClr val="000000">
                      <a:alpha val="50000"/>
                    </a:srgbClr>
                  </a:innerShdw>
                </a:effectLst>
              </a:rPr>
              <a:t> </a:t>
            </a:r>
          </a:p>
          <a:p>
            <a:pPr algn="ctr"/>
            <a:r>
              <a:rPr lang="en-ZA" sz="3200" b="1" spc="50" dirty="0">
                <a:ln w="0"/>
                <a:solidFill>
                  <a:schemeClr val="bg2"/>
                </a:solidFill>
                <a:effectLst>
                  <a:innerShdw blurRad="63500" dist="50800" dir="13500000">
                    <a:srgbClr val="000000">
                      <a:alpha val="50000"/>
                    </a:srgbClr>
                  </a:innerShdw>
                </a:effectLst>
              </a:rPr>
              <a:t>Statistics Using R with Biological Examples (</a:t>
            </a:r>
            <a:r>
              <a:rPr lang="en-ZA" sz="3200" b="1" spc="50" dirty="0" err="1">
                <a:ln w="0"/>
                <a:solidFill>
                  <a:schemeClr val="bg2"/>
                </a:solidFill>
                <a:effectLst>
                  <a:innerShdw blurRad="63500" dist="50800" dir="13500000">
                    <a:srgbClr val="000000">
                      <a:alpha val="50000"/>
                    </a:srgbClr>
                  </a:innerShdw>
                </a:effectLst>
              </a:rPr>
              <a:t>Seefeld</a:t>
            </a:r>
            <a:r>
              <a:rPr lang="en-ZA" sz="3200" b="1" spc="50" dirty="0">
                <a:ln w="0"/>
                <a:solidFill>
                  <a:schemeClr val="bg2"/>
                </a:solidFill>
                <a:effectLst>
                  <a:innerShdw blurRad="63500" dist="50800" dir="13500000">
                    <a:srgbClr val="000000">
                      <a:alpha val="50000"/>
                    </a:srgbClr>
                  </a:innerShdw>
                </a:effectLst>
              </a:rPr>
              <a:t>)</a:t>
            </a:r>
          </a:p>
        </p:txBody>
      </p:sp>
      <p:sp>
        <p:nvSpPr>
          <p:cNvPr id="8" name="TextBox 7"/>
          <p:cNvSpPr txBox="1"/>
          <p:nvPr/>
        </p:nvSpPr>
        <p:spPr>
          <a:xfrm>
            <a:off x="6606912" y="5034144"/>
            <a:ext cx="3172407" cy="1323439"/>
          </a:xfrm>
          <a:prstGeom prst="rect">
            <a:avLst/>
          </a:prstGeom>
          <a:noFill/>
        </p:spPr>
        <p:txBody>
          <a:bodyPr wrap="none" rtlCol="0">
            <a:spAutoFit/>
          </a:bodyPr>
          <a:lstStyle/>
          <a:p>
            <a:r>
              <a:rPr lang="en-ZA" sz="2000" b="1" spc="50" dirty="0">
                <a:ln w="0"/>
                <a:solidFill>
                  <a:schemeClr val="bg2"/>
                </a:solidFill>
                <a:effectLst>
                  <a:innerShdw blurRad="63500" dist="50800" dir="13500000">
                    <a:srgbClr val="000000">
                      <a:alpha val="50000"/>
                    </a:srgbClr>
                  </a:innerShdw>
                </a:effectLst>
              </a:rPr>
              <a:t>Matthew Wayne Valentine</a:t>
            </a:r>
          </a:p>
          <a:p>
            <a:r>
              <a:rPr lang="en-ZA" sz="2000" b="1" spc="50" dirty="0">
                <a:ln w="0"/>
                <a:solidFill>
                  <a:schemeClr val="bg2"/>
                </a:solidFill>
                <a:effectLst>
                  <a:innerShdw blurRad="63500" dist="50800" dir="13500000">
                    <a:srgbClr val="000000">
                      <a:alpha val="50000"/>
                    </a:srgbClr>
                  </a:innerShdw>
                </a:effectLst>
              </a:rPr>
              <a:t>Office 1.32</a:t>
            </a:r>
          </a:p>
          <a:p>
            <a:r>
              <a:rPr lang="en-ZA" sz="2000" b="1" spc="50" dirty="0">
                <a:ln w="0"/>
                <a:solidFill>
                  <a:schemeClr val="bg2"/>
                </a:solidFill>
                <a:effectLst>
                  <a:innerShdw blurRad="63500" dist="50800" dir="13500000">
                    <a:srgbClr val="000000">
                      <a:alpha val="50000"/>
                    </a:srgbClr>
                  </a:innerShdw>
                </a:effectLst>
              </a:rPr>
              <a:t>Lab K2 – Tech Room K2</a:t>
            </a:r>
          </a:p>
          <a:p>
            <a:r>
              <a:rPr lang="en-ZA" sz="2000" b="1" spc="50" dirty="0">
                <a:ln w="0"/>
                <a:solidFill>
                  <a:schemeClr val="bg2"/>
                </a:solidFill>
                <a:effectLst>
                  <a:innerShdw blurRad="63500" dist="50800" dir="13500000">
                    <a:srgbClr val="000000">
                      <a:alpha val="50000"/>
                    </a:srgbClr>
                  </a:innerShdw>
                </a:effectLst>
              </a:rPr>
              <a:t>mvalentine@uwc.ac.za</a:t>
            </a:r>
          </a:p>
        </p:txBody>
      </p:sp>
      <p:sp>
        <p:nvSpPr>
          <p:cNvPr id="9" name="Rectangle 8"/>
          <p:cNvSpPr/>
          <p:nvPr/>
        </p:nvSpPr>
        <p:spPr>
          <a:xfrm>
            <a:off x="3266130" y="1217063"/>
            <a:ext cx="2801713" cy="1077218"/>
          </a:xfrm>
          <a:prstGeom prst="rect">
            <a:avLst/>
          </a:prstGeom>
        </p:spPr>
        <p:txBody>
          <a:bodyPr wrap="square">
            <a:spAutoFit/>
          </a:bodyPr>
          <a:lstStyle/>
          <a:p>
            <a:pPr algn="ctr"/>
            <a:r>
              <a:rPr lang="en-ZA" sz="3200" b="1" spc="50" dirty="0">
                <a:ln w="0"/>
                <a:solidFill>
                  <a:schemeClr val="bg2"/>
                </a:solidFill>
                <a:effectLst>
                  <a:innerShdw blurRad="63500" dist="50800" dir="13500000">
                    <a:srgbClr val="000000">
                      <a:alpha val="50000"/>
                    </a:srgbClr>
                  </a:innerShdw>
                </a:effectLst>
              </a:rPr>
              <a:t>Study</a:t>
            </a:r>
          </a:p>
          <a:p>
            <a:pPr algn="ctr"/>
            <a:r>
              <a:rPr lang="en-ZA" sz="3200" b="1" spc="50" dirty="0">
                <a:ln w="0"/>
                <a:solidFill>
                  <a:schemeClr val="bg2"/>
                </a:solidFill>
                <a:effectLst>
                  <a:innerShdw blurRad="63500" dist="50800" dir="13500000">
                    <a:srgbClr val="000000">
                      <a:alpha val="50000"/>
                    </a:srgbClr>
                  </a:innerShdw>
                </a:effectLst>
              </a:rPr>
              <a:t>Chapter 4 &amp; 5</a:t>
            </a:r>
          </a:p>
        </p:txBody>
      </p:sp>
    </p:spTree>
    <p:extLst>
      <p:ext uri="{BB962C8B-B14F-4D97-AF65-F5344CB8AC3E}">
        <p14:creationId xmlns:p14="http://schemas.microsoft.com/office/powerpoint/2010/main" val="18490639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13719</TotalTime>
  <Words>948</Words>
  <Application>Microsoft Office PowerPoint</Application>
  <PresentationFormat>A4 Paper (210x297 mm)</PresentationFormat>
  <Paragraphs>176</Paragraphs>
  <Slides>12</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Avenir Next Cyr W04 Regular</vt:lpstr>
      <vt:lpstr>Baskerville Old Face</vt:lpstr>
      <vt:lpstr>Calibri</vt:lpstr>
      <vt:lpstr>Cambria Math</vt:lpstr>
      <vt:lpstr>Wingdings</vt:lpstr>
      <vt:lpstr>Office Theme</vt:lpstr>
      <vt:lpstr> </vt:lpstr>
      <vt:lpstr>Syntax</vt:lpstr>
      <vt:lpstr>Logical and Relational Operators</vt:lpstr>
      <vt:lpstr>Logical and Relational Operators –  If and Else</vt:lpstr>
      <vt:lpstr>Logical and Relational Operators –  Then</vt:lpstr>
      <vt:lpstr>Looping - While</vt:lpstr>
      <vt:lpstr>Looping - For</vt:lpstr>
      <vt:lpstr>Looping – Matrices with Loops</vt:lpstr>
      <vt:lpstr>Some basic existing functions</vt:lpstr>
      <vt:lpstr>Summary functions</vt:lpstr>
      <vt:lpstr>The Summary function</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NDorfling</dc:creator>
  <cp:lastModifiedBy>Matthew Valentine</cp:lastModifiedBy>
  <cp:revision>619</cp:revision>
  <dcterms:created xsi:type="dcterms:W3CDTF">2015-03-11T08:56:03Z</dcterms:created>
  <dcterms:modified xsi:type="dcterms:W3CDTF">2024-04-18T07:54:46Z</dcterms:modified>
</cp:coreProperties>
</file>