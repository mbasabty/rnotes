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handoutMasterIdLst>
    <p:handoutMasterId r:id="rId39"/>
  </p:handoutMasterIdLst>
  <p:sldIdLst>
    <p:sldId id="256" r:id="rId2"/>
    <p:sldId id="399" r:id="rId3"/>
    <p:sldId id="365" r:id="rId4"/>
    <p:sldId id="366" r:id="rId5"/>
    <p:sldId id="367" r:id="rId6"/>
    <p:sldId id="368" r:id="rId7"/>
    <p:sldId id="369" r:id="rId8"/>
    <p:sldId id="370" r:id="rId9"/>
    <p:sldId id="371" r:id="rId10"/>
    <p:sldId id="372" r:id="rId11"/>
    <p:sldId id="400" r:id="rId12"/>
    <p:sldId id="373" r:id="rId13"/>
    <p:sldId id="401" r:id="rId14"/>
    <p:sldId id="374" r:id="rId15"/>
    <p:sldId id="375" r:id="rId16"/>
    <p:sldId id="376" r:id="rId17"/>
    <p:sldId id="377" r:id="rId18"/>
    <p:sldId id="402" r:id="rId19"/>
    <p:sldId id="378" r:id="rId20"/>
    <p:sldId id="380" r:id="rId21"/>
    <p:sldId id="379" r:id="rId22"/>
    <p:sldId id="381" r:id="rId23"/>
    <p:sldId id="382" r:id="rId24"/>
    <p:sldId id="384" r:id="rId25"/>
    <p:sldId id="385" r:id="rId26"/>
    <p:sldId id="386" r:id="rId27"/>
    <p:sldId id="388" r:id="rId28"/>
    <p:sldId id="389" r:id="rId29"/>
    <p:sldId id="390" r:id="rId30"/>
    <p:sldId id="391" r:id="rId31"/>
    <p:sldId id="392" r:id="rId32"/>
    <p:sldId id="394" r:id="rId33"/>
    <p:sldId id="395" r:id="rId34"/>
    <p:sldId id="396" r:id="rId35"/>
    <p:sldId id="403" r:id="rId36"/>
    <p:sldId id="397" r:id="rId37"/>
  </p:sldIdLst>
  <p:sldSz cx="9906000" cy="6858000" type="A4"/>
  <p:notesSz cx="10409238" cy="72961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64DD034-75F4-5147-85C5-57B72AD43751}">
          <p14:sldIdLst>
            <p14:sldId id="256"/>
            <p14:sldId id="399"/>
            <p14:sldId id="365"/>
            <p14:sldId id="366"/>
            <p14:sldId id="367"/>
            <p14:sldId id="368"/>
            <p14:sldId id="369"/>
            <p14:sldId id="370"/>
            <p14:sldId id="371"/>
            <p14:sldId id="372"/>
            <p14:sldId id="400"/>
            <p14:sldId id="373"/>
            <p14:sldId id="401"/>
            <p14:sldId id="374"/>
            <p14:sldId id="375"/>
            <p14:sldId id="376"/>
            <p14:sldId id="377"/>
            <p14:sldId id="402"/>
            <p14:sldId id="378"/>
            <p14:sldId id="380"/>
            <p14:sldId id="379"/>
            <p14:sldId id="381"/>
            <p14:sldId id="382"/>
            <p14:sldId id="384"/>
            <p14:sldId id="385"/>
            <p14:sldId id="386"/>
            <p14:sldId id="388"/>
            <p14:sldId id="389"/>
            <p14:sldId id="390"/>
            <p14:sldId id="391"/>
            <p14:sldId id="392"/>
            <p14:sldId id="394"/>
            <p14:sldId id="395"/>
            <p14:sldId id="396"/>
            <p14:sldId id="403"/>
            <p14:sldId id="397"/>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hn M" initials="J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37" autoAdjust="0"/>
    <p:restoredTop sz="88139" autoAdjust="0"/>
  </p:normalViewPr>
  <p:slideViewPr>
    <p:cSldViewPr snapToGrid="0" snapToObjects="1">
      <p:cViewPr varScale="1">
        <p:scale>
          <a:sx n="105" d="100"/>
          <a:sy n="105" d="100"/>
        </p:scale>
        <p:origin x="1884" y="114"/>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ZA"/>
          </a:p>
        </p:txBody>
      </p:sp>
      <p:sp>
        <p:nvSpPr>
          <p:cNvPr id="3" name="Date Placeholder 2"/>
          <p:cNvSpPr>
            <a:spLocks noGrp="1"/>
          </p:cNvSpPr>
          <p:nvPr>
            <p:ph type="dt" sz="quarter" idx="1"/>
          </p:nvPr>
        </p:nvSpPr>
        <p:spPr>
          <a:xfrm>
            <a:off x="5896159" y="0"/>
            <a:ext cx="4510670" cy="364808"/>
          </a:xfrm>
          <a:prstGeom prst="rect">
            <a:avLst/>
          </a:prstGeom>
        </p:spPr>
        <p:txBody>
          <a:bodyPr vert="horz" lIns="101169" tIns="50585" rIns="101169" bIns="50585" rtlCol="0"/>
          <a:lstStyle>
            <a:lvl1pPr algn="r">
              <a:defRPr sz="1300"/>
            </a:lvl1pPr>
          </a:lstStyle>
          <a:p>
            <a:fld id="{C605BAAB-8757-4FBD-9BED-960688D401C4}" type="datetimeFigureOut">
              <a:rPr lang="en-US" smtClean="0"/>
              <a:pPr/>
              <a:t>2/18/2024</a:t>
            </a:fld>
            <a:endParaRPr lang="en-ZA"/>
          </a:p>
        </p:txBody>
      </p:sp>
      <p:sp>
        <p:nvSpPr>
          <p:cNvPr id="4" name="Footer Placeholder 3"/>
          <p:cNvSpPr>
            <a:spLocks noGrp="1"/>
          </p:cNvSpPr>
          <p:nvPr>
            <p:ph type="ftr" sz="quarter" idx="2"/>
          </p:nvPr>
        </p:nvSpPr>
        <p:spPr>
          <a:xfrm>
            <a:off x="0" y="6930076"/>
            <a:ext cx="4510670" cy="364808"/>
          </a:xfrm>
          <a:prstGeom prst="rect">
            <a:avLst/>
          </a:prstGeom>
        </p:spPr>
        <p:txBody>
          <a:bodyPr vert="horz" lIns="101169" tIns="50585" rIns="101169" bIns="50585" rtlCol="0" anchor="b"/>
          <a:lstStyle>
            <a:lvl1pPr algn="l">
              <a:defRPr sz="1300"/>
            </a:lvl1pPr>
          </a:lstStyle>
          <a:p>
            <a:endParaRPr lang="en-ZA"/>
          </a:p>
        </p:txBody>
      </p:sp>
      <p:sp>
        <p:nvSpPr>
          <p:cNvPr id="5" name="Slide Number Placeholder 4"/>
          <p:cNvSpPr>
            <a:spLocks noGrp="1"/>
          </p:cNvSpPr>
          <p:nvPr>
            <p:ph type="sldNum" sz="quarter" idx="3"/>
          </p:nvPr>
        </p:nvSpPr>
        <p:spPr>
          <a:xfrm>
            <a:off x="5896159" y="6930076"/>
            <a:ext cx="4510670" cy="364808"/>
          </a:xfrm>
          <a:prstGeom prst="rect">
            <a:avLst/>
          </a:prstGeom>
        </p:spPr>
        <p:txBody>
          <a:bodyPr vert="horz" lIns="101169" tIns="50585" rIns="101169" bIns="50585" rtlCol="0" anchor="b"/>
          <a:lstStyle>
            <a:lvl1pPr algn="r">
              <a:defRPr sz="1300"/>
            </a:lvl1pPr>
          </a:lstStyle>
          <a:p>
            <a:fld id="{4A9A6402-836E-4507-B641-B01FDFCE6F04}" type="slidenum">
              <a:rPr lang="en-ZA" smtClean="0"/>
              <a:pPr/>
              <a:t>‹#›</a:t>
            </a:fld>
            <a:endParaRPr lang="en-ZA"/>
          </a:p>
        </p:txBody>
      </p:sp>
    </p:spTree>
    <p:extLst>
      <p:ext uri="{BB962C8B-B14F-4D97-AF65-F5344CB8AC3E}">
        <p14:creationId xmlns:p14="http://schemas.microsoft.com/office/powerpoint/2010/main" val="3606002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US"/>
          </a:p>
        </p:txBody>
      </p:sp>
      <p:sp>
        <p:nvSpPr>
          <p:cNvPr id="3" name="Date Placeholder 2"/>
          <p:cNvSpPr>
            <a:spLocks noGrp="1"/>
          </p:cNvSpPr>
          <p:nvPr>
            <p:ph type="dt" idx="1"/>
          </p:nvPr>
        </p:nvSpPr>
        <p:spPr>
          <a:xfrm>
            <a:off x="5896159" y="0"/>
            <a:ext cx="4510670" cy="364808"/>
          </a:xfrm>
          <a:prstGeom prst="rect">
            <a:avLst/>
          </a:prstGeom>
        </p:spPr>
        <p:txBody>
          <a:bodyPr vert="horz" lIns="101169" tIns="50585" rIns="101169" bIns="50585" rtlCol="0"/>
          <a:lstStyle>
            <a:lvl1pPr algn="r">
              <a:defRPr sz="1300"/>
            </a:lvl1pPr>
          </a:lstStyle>
          <a:p>
            <a:fld id="{1C2F6879-603E-754B-9B04-8AAE8D479E4C}" type="datetimeFigureOut">
              <a:rPr lang="en-US" smtClean="0"/>
              <a:pPr/>
              <a:t>2/18/2024</a:t>
            </a:fld>
            <a:endParaRPr lang="en-US"/>
          </a:p>
        </p:txBody>
      </p:sp>
      <p:sp>
        <p:nvSpPr>
          <p:cNvPr id="4" name="Slide Image Placeholder 3"/>
          <p:cNvSpPr>
            <a:spLocks noGrp="1" noRot="1" noChangeAspect="1"/>
          </p:cNvSpPr>
          <p:nvPr>
            <p:ph type="sldImg" idx="2"/>
          </p:nvPr>
        </p:nvSpPr>
        <p:spPr>
          <a:xfrm>
            <a:off x="3228975" y="547688"/>
            <a:ext cx="3951288" cy="2735262"/>
          </a:xfrm>
          <a:prstGeom prst="rect">
            <a:avLst/>
          </a:prstGeom>
          <a:noFill/>
          <a:ln w="12700">
            <a:solidFill>
              <a:prstClr val="black"/>
            </a:solidFill>
          </a:ln>
        </p:spPr>
        <p:txBody>
          <a:bodyPr vert="horz" lIns="101169" tIns="50585" rIns="101169" bIns="50585" rtlCol="0" anchor="ctr"/>
          <a:lstStyle/>
          <a:p>
            <a:endParaRPr lang="en-US"/>
          </a:p>
        </p:txBody>
      </p:sp>
      <p:sp>
        <p:nvSpPr>
          <p:cNvPr id="5" name="Notes Placeholder 4"/>
          <p:cNvSpPr>
            <a:spLocks noGrp="1"/>
          </p:cNvSpPr>
          <p:nvPr>
            <p:ph type="body" sz="quarter" idx="3"/>
          </p:nvPr>
        </p:nvSpPr>
        <p:spPr>
          <a:xfrm>
            <a:off x="1040924" y="3465671"/>
            <a:ext cx="8327390" cy="3283268"/>
          </a:xfrm>
          <a:prstGeom prst="rect">
            <a:avLst/>
          </a:prstGeom>
        </p:spPr>
        <p:txBody>
          <a:bodyPr vert="horz" lIns="101169" tIns="50585" rIns="101169" bIns="5058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30076"/>
            <a:ext cx="4510670" cy="364808"/>
          </a:xfrm>
          <a:prstGeom prst="rect">
            <a:avLst/>
          </a:prstGeom>
        </p:spPr>
        <p:txBody>
          <a:bodyPr vert="horz" lIns="101169" tIns="50585" rIns="101169" bIns="50585" rtlCol="0" anchor="b"/>
          <a:lstStyle>
            <a:lvl1pPr algn="l">
              <a:defRPr sz="1300"/>
            </a:lvl1pPr>
          </a:lstStyle>
          <a:p>
            <a:endParaRPr lang="en-US"/>
          </a:p>
        </p:txBody>
      </p:sp>
      <p:sp>
        <p:nvSpPr>
          <p:cNvPr id="7" name="Slide Number Placeholder 6"/>
          <p:cNvSpPr>
            <a:spLocks noGrp="1"/>
          </p:cNvSpPr>
          <p:nvPr>
            <p:ph type="sldNum" sz="quarter" idx="5"/>
          </p:nvPr>
        </p:nvSpPr>
        <p:spPr>
          <a:xfrm>
            <a:off x="5896159" y="6930076"/>
            <a:ext cx="4510670" cy="364808"/>
          </a:xfrm>
          <a:prstGeom prst="rect">
            <a:avLst/>
          </a:prstGeom>
        </p:spPr>
        <p:txBody>
          <a:bodyPr vert="horz" lIns="101169" tIns="50585" rIns="101169" bIns="50585" rtlCol="0" anchor="b"/>
          <a:lstStyle>
            <a:lvl1pPr algn="r">
              <a:defRPr sz="1300"/>
            </a:lvl1pPr>
          </a:lstStyle>
          <a:p>
            <a:fld id="{D14C1D86-6F9C-9646-B809-264C58FC1970}" type="slidenum">
              <a:rPr lang="en-US" smtClean="0"/>
              <a:pPr/>
              <a:t>‹#›</a:t>
            </a:fld>
            <a:endParaRPr lang="en-US"/>
          </a:p>
        </p:txBody>
      </p:sp>
    </p:spTree>
    <p:extLst>
      <p:ext uri="{BB962C8B-B14F-4D97-AF65-F5344CB8AC3E}">
        <p14:creationId xmlns:p14="http://schemas.microsoft.com/office/powerpoint/2010/main" val="320650887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14C1D86-6F9C-9646-B809-264C58FC1970}" type="slidenum">
              <a:rPr lang="en-US" smtClean="0"/>
              <a:pPr/>
              <a:t>1</a:t>
            </a:fld>
            <a:endParaRPr lang="en-US"/>
          </a:p>
        </p:txBody>
      </p:sp>
    </p:spTree>
    <p:extLst>
      <p:ext uri="{BB962C8B-B14F-4D97-AF65-F5344CB8AC3E}">
        <p14:creationId xmlns:p14="http://schemas.microsoft.com/office/powerpoint/2010/main" val="2624195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4523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MD5 hash functions as a compact digital fingerprint of a file.</a:t>
            </a:r>
          </a:p>
          <a:p>
            <a:r>
              <a:rPr lang="en-US" sz="1200" b="0" i="0" kern="1200" dirty="0">
                <a:solidFill>
                  <a:schemeClr val="tx1"/>
                </a:solidFill>
                <a:effectLst/>
                <a:latin typeface="+mn-lt"/>
                <a:ea typeface="+mn-ea"/>
                <a:cs typeface="+mn-cs"/>
              </a:rPr>
              <a:t>Depend,</a:t>
            </a:r>
            <a:r>
              <a:rPr lang="en-US" sz="1200" b="0" i="0" kern="1200" baseline="0" dirty="0">
                <a:solidFill>
                  <a:schemeClr val="tx1"/>
                </a:solidFill>
                <a:effectLst/>
                <a:latin typeface="+mn-lt"/>
                <a:ea typeface="+mn-ea"/>
                <a:cs typeface="+mn-cs"/>
              </a:rPr>
              <a:t> are files that are used with other packages such as creating specific graphs or calculations that are needed for other packages.</a:t>
            </a:r>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3</a:t>
            </a:fld>
            <a:endParaRPr lang="en-US"/>
          </a:p>
        </p:txBody>
      </p:sp>
    </p:spTree>
    <p:extLst>
      <p:ext uri="{BB962C8B-B14F-4D97-AF65-F5344CB8AC3E}">
        <p14:creationId xmlns:p14="http://schemas.microsoft.com/office/powerpoint/2010/main" val="1470671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4</a:t>
            </a:fld>
            <a:endParaRPr lang="en-US"/>
          </a:p>
        </p:txBody>
      </p:sp>
    </p:spTree>
    <p:extLst>
      <p:ext uri="{BB962C8B-B14F-4D97-AF65-F5344CB8AC3E}">
        <p14:creationId xmlns:p14="http://schemas.microsoft.com/office/powerpoint/2010/main" val="2648840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5</a:t>
            </a:fld>
            <a:endParaRPr lang="en-US"/>
          </a:p>
        </p:txBody>
      </p:sp>
    </p:spTree>
    <p:extLst>
      <p:ext uri="{BB962C8B-B14F-4D97-AF65-F5344CB8AC3E}">
        <p14:creationId xmlns:p14="http://schemas.microsoft.com/office/powerpoint/2010/main" val="114411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6</a:t>
            </a:fld>
            <a:endParaRPr lang="en-US"/>
          </a:p>
        </p:txBody>
      </p:sp>
    </p:spTree>
    <p:extLst>
      <p:ext uri="{BB962C8B-B14F-4D97-AF65-F5344CB8AC3E}">
        <p14:creationId xmlns:p14="http://schemas.microsoft.com/office/powerpoint/2010/main" val="425166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7</a:t>
            </a:fld>
            <a:endParaRPr lang="en-US"/>
          </a:p>
        </p:txBody>
      </p:sp>
    </p:spTree>
    <p:extLst>
      <p:ext uri="{BB962C8B-B14F-4D97-AF65-F5344CB8AC3E}">
        <p14:creationId xmlns:p14="http://schemas.microsoft.com/office/powerpoint/2010/main" val="2093840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24973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3.1. Annual Precipitation in US Cities. The vector </a:t>
            </a:r>
            <a:r>
              <a:rPr lang="en-US" dirty="0" err="1"/>
              <a:t>precip</a:t>
            </a:r>
            <a:r>
              <a:rPr lang="en-US" dirty="0"/>
              <a:t> contains average amount</a:t>
            </a:r>
          </a:p>
          <a:p>
            <a:r>
              <a:rPr lang="en-US" dirty="0"/>
              <a:t>of rainfall (in inches) for each of 70 cities in the United States and Puerto Rico. Let us take a look</a:t>
            </a:r>
          </a:p>
          <a:p>
            <a:r>
              <a:rPr lang="en-US" dirty="0"/>
              <a:t>at the data:</a:t>
            </a:r>
          </a:p>
        </p:txBody>
      </p:sp>
      <p:sp>
        <p:nvSpPr>
          <p:cNvPr id="4" name="Slide Number Placeholder 3"/>
          <p:cNvSpPr>
            <a:spLocks noGrp="1"/>
          </p:cNvSpPr>
          <p:nvPr>
            <p:ph type="sldNum" sz="quarter" idx="10"/>
          </p:nvPr>
        </p:nvSpPr>
        <p:spPr/>
        <p:txBody>
          <a:bodyPr/>
          <a:lstStyle/>
          <a:p>
            <a:fld id="{D14C1D86-6F9C-9646-B809-264C58FC1970}" type="slidenum">
              <a:rPr lang="en-US" smtClean="0"/>
              <a:pPr/>
              <a:t>13</a:t>
            </a:fld>
            <a:endParaRPr lang="en-US"/>
          </a:p>
        </p:txBody>
      </p:sp>
    </p:spTree>
    <p:extLst>
      <p:ext uri="{BB962C8B-B14F-4D97-AF65-F5344CB8AC3E}">
        <p14:creationId xmlns:p14="http://schemas.microsoft.com/office/powerpoint/2010/main" val="2459597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3.2. Lengths of Major North American Rivers. The U.S. Geological Survey recorded</a:t>
            </a:r>
          </a:p>
          <a:p>
            <a:r>
              <a:rPr lang="en-US" dirty="0"/>
              <a:t>the lengths (in miles) of several rivers in North America. They are stored in the vector rivers in</a:t>
            </a:r>
          </a:p>
          <a:p>
            <a:r>
              <a:rPr lang="en-US" dirty="0"/>
              <a:t>the datasets package (which ships with base R). See ?rivers. Let us take a look at the data with</a:t>
            </a:r>
          </a:p>
          <a:p>
            <a:r>
              <a:rPr lang="en-US" dirty="0"/>
              <a:t>the </a:t>
            </a:r>
            <a:r>
              <a:rPr lang="en-US" dirty="0" err="1"/>
              <a:t>str</a:t>
            </a:r>
            <a:r>
              <a:rPr lang="en-US" dirty="0"/>
              <a:t> function.</a:t>
            </a:r>
          </a:p>
        </p:txBody>
      </p:sp>
      <p:sp>
        <p:nvSpPr>
          <p:cNvPr id="4" name="Slide Number Placeholder 3"/>
          <p:cNvSpPr>
            <a:spLocks noGrp="1"/>
          </p:cNvSpPr>
          <p:nvPr>
            <p:ph type="sldNum" sz="quarter" idx="10"/>
          </p:nvPr>
        </p:nvSpPr>
        <p:spPr/>
        <p:txBody>
          <a:bodyPr/>
          <a:lstStyle/>
          <a:p>
            <a:fld id="{D14C1D86-6F9C-9646-B809-264C58FC1970}" type="slidenum">
              <a:rPr lang="en-US" smtClean="0"/>
              <a:pPr/>
              <a:t>14</a:t>
            </a:fld>
            <a:endParaRPr lang="en-US"/>
          </a:p>
        </p:txBody>
      </p:sp>
    </p:spTree>
    <p:extLst>
      <p:ext uri="{BB962C8B-B14F-4D97-AF65-F5344CB8AC3E}">
        <p14:creationId xmlns:p14="http://schemas.microsoft.com/office/powerpoint/2010/main" val="779889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17</a:t>
            </a:fld>
            <a:endParaRPr lang="en-US"/>
          </a:p>
        </p:txBody>
      </p:sp>
    </p:spTree>
    <p:extLst>
      <p:ext uri="{BB962C8B-B14F-4D97-AF65-F5344CB8AC3E}">
        <p14:creationId xmlns:p14="http://schemas.microsoft.com/office/powerpoint/2010/main" val="659395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9255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19</a:t>
            </a:fld>
            <a:endParaRPr lang="en-US"/>
          </a:p>
        </p:txBody>
      </p:sp>
    </p:spTree>
    <p:extLst>
      <p:ext uri="{BB962C8B-B14F-4D97-AF65-F5344CB8AC3E}">
        <p14:creationId xmlns:p14="http://schemas.microsoft.com/office/powerpoint/2010/main" val="820544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20</a:t>
            </a:fld>
            <a:endParaRPr lang="en-US"/>
          </a:p>
        </p:txBody>
      </p:sp>
    </p:spTree>
    <p:extLst>
      <p:ext uri="{BB962C8B-B14F-4D97-AF65-F5344CB8AC3E}">
        <p14:creationId xmlns:p14="http://schemas.microsoft.com/office/powerpoint/2010/main" val="37193081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21</a:t>
            </a:fld>
            <a:endParaRPr lang="en-US"/>
          </a:p>
        </p:txBody>
      </p:sp>
    </p:spTree>
    <p:extLst>
      <p:ext uri="{BB962C8B-B14F-4D97-AF65-F5344CB8AC3E}">
        <p14:creationId xmlns:p14="http://schemas.microsoft.com/office/powerpoint/2010/main" val="2397847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3.6. </a:t>
            </a:r>
            <a:r>
              <a:rPr lang="en-US" dirty="0" err="1"/>
              <a:t>UKDriverDeaths</a:t>
            </a:r>
            <a:r>
              <a:rPr lang="en-US" dirty="0"/>
              <a:t> is a time series that contains the total car drivers killed or seriously</a:t>
            </a:r>
          </a:p>
          <a:p>
            <a:r>
              <a:rPr lang="en-US" dirty="0"/>
              <a:t>injured in Great Britain monthly from Jan 1969 to Dec 1984. See ?</a:t>
            </a:r>
            <a:r>
              <a:rPr lang="en-US" dirty="0" err="1"/>
              <a:t>UKDriverDeaths</a:t>
            </a:r>
            <a:r>
              <a:rPr lang="en-US" dirty="0"/>
              <a:t>.</a:t>
            </a:r>
          </a:p>
          <a:p>
            <a:r>
              <a:rPr lang="en-US" dirty="0"/>
              <a:t>Compulsory seat belt use was introduced on January 31, 1983. We construct a stem and leaf diagram</a:t>
            </a:r>
          </a:p>
          <a:p>
            <a:r>
              <a:rPr lang="en-US" dirty="0"/>
              <a:t>in R with the </a:t>
            </a:r>
            <a:r>
              <a:rPr lang="en-US" dirty="0" err="1"/>
              <a:t>stem.leaf</a:t>
            </a:r>
            <a:r>
              <a:rPr lang="en-US" dirty="0"/>
              <a:t> function from the </a:t>
            </a:r>
            <a:r>
              <a:rPr lang="en-US" dirty="0" err="1"/>
              <a:t>aplpack</a:t>
            </a:r>
            <a:r>
              <a:rPr lang="en-US" dirty="0"/>
              <a:t> package [92].</a:t>
            </a:r>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22</a:t>
            </a:fld>
            <a:endParaRPr lang="en-US"/>
          </a:p>
        </p:txBody>
      </p:sp>
    </p:spTree>
    <p:extLst>
      <p:ext uri="{BB962C8B-B14F-4D97-AF65-F5344CB8AC3E}">
        <p14:creationId xmlns:p14="http://schemas.microsoft.com/office/powerpoint/2010/main" val="25953193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3.7. Level of Lake Huron 1875-1972. </a:t>
            </a:r>
            <a:r>
              <a:rPr lang="en-US" dirty="0" err="1"/>
              <a:t>Brockwell</a:t>
            </a:r>
            <a:r>
              <a:rPr lang="en-US" dirty="0"/>
              <a:t> and Davis [11] give the annual measurements</a:t>
            </a:r>
          </a:p>
          <a:p>
            <a:r>
              <a:rPr lang="en-US" dirty="0"/>
              <a:t>of the level (in feet) of Lake Huron from 1875–1972. The data are stored in the time</a:t>
            </a:r>
          </a:p>
          <a:p>
            <a:r>
              <a:rPr lang="en-US" dirty="0"/>
              <a:t>series </a:t>
            </a:r>
            <a:r>
              <a:rPr lang="en-US" dirty="0" err="1"/>
              <a:t>LakeHuron</a:t>
            </a:r>
            <a:r>
              <a:rPr lang="en-US" dirty="0"/>
              <a:t>. See ?</a:t>
            </a:r>
            <a:r>
              <a:rPr lang="en-US" dirty="0" err="1"/>
              <a:t>LakeHuron</a:t>
            </a:r>
            <a:r>
              <a:rPr lang="en-US" dirty="0"/>
              <a:t>. Figure 3.1.4 was produced with the following code:</a:t>
            </a:r>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23</a:t>
            </a:fld>
            <a:endParaRPr lang="en-US"/>
          </a:p>
        </p:txBody>
      </p:sp>
    </p:spTree>
    <p:extLst>
      <p:ext uri="{BB962C8B-B14F-4D97-AF65-F5344CB8AC3E}">
        <p14:creationId xmlns:p14="http://schemas.microsoft.com/office/powerpoint/2010/main" val="42274694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3.9. U.S. State Facts and Features. The U.S. Department of Commerce of the U.S. Census</a:t>
            </a:r>
          </a:p>
          <a:p>
            <a:r>
              <a:rPr lang="en-US" dirty="0"/>
              <a:t>Bureau releases all sorts of information in the Statistical Abstract of the United States, and the </a:t>
            </a:r>
            <a:r>
              <a:rPr lang="en-US" dirty="0" err="1"/>
              <a:t>state.region</a:t>
            </a:r>
            <a:r>
              <a:rPr lang="en-US" dirty="0"/>
              <a:t> data lists each of the 50 states and the region to which it belongs, be it Northeast,</a:t>
            </a:r>
          </a:p>
          <a:p>
            <a:r>
              <a:rPr lang="en-US" dirty="0"/>
              <a:t>South, North Central, or West. See ?</a:t>
            </a:r>
            <a:r>
              <a:rPr lang="en-US" dirty="0" err="1"/>
              <a:t>state.region</a:t>
            </a:r>
            <a:r>
              <a:rPr lang="en-US" dirty="0"/>
              <a:t>.</a:t>
            </a:r>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24</a:t>
            </a:fld>
            <a:endParaRPr lang="en-US"/>
          </a:p>
        </p:txBody>
      </p:sp>
    </p:spTree>
    <p:extLst>
      <p:ext uri="{BB962C8B-B14F-4D97-AF65-F5344CB8AC3E}">
        <p14:creationId xmlns:p14="http://schemas.microsoft.com/office/powerpoint/2010/main" val="25325936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25</a:t>
            </a:fld>
            <a:endParaRPr lang="en-US"/>
          </a:p>
        </p:txBody>
      </p:sp>
    </p:spTree>
    <p:extLst>
      <p:ext uri="{BB962C8B-B14F-4D97-AF65-F5344CB8AC3E}">
        <p14:creationId xmlns:p14="http://schemas.microsoft.com/office/powerpoint/2010/main" val="13858240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26</a:t>
            </a:fld>
            <a:endParaRPr lang="en-US"/>
          </a:p>
        </p:txBody>
      </p:sp>
    </p:spTree>
    <p:extLst>
      <p:ext uri="{BB962C8B-B14F-4D97-AF65-F5344CB8AC3E}">
        <p14:creationId xmlns:p14="http://schemas.microsoft.com/office/powerpoint/2010/main" val="14662516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27</a:t>
            </a:fld>
            <a:endParaRPr lang="en-US"/>
          </a:p>
        </p:txBody>
      </p:sp>
    </p:spTree>
    <p:extLst>
      <p:ext uri="{BB962C8B-B14F-4D97-AF65-F5344CB8AC3E}">
        <p14:creationId xmlns:p14="http://schemas.microsoft.com/office/powerpoint/2010/main" val="614162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28</a:t>
            </a:fld>
            <a:endParaRPr lang="en-US"/>
          </a:p>
        </p:txBody>
      </p:sp>
    </p:spTree>
    <p:extLst>
      <p:ext uri="{BB962C8B-B14F-4D97-AF65-F5344CB8AC3E}">
        <p14:creationId xmlns:p14="http://schemas.microsoft.com/office/powerpoint/2010/main" val="35423852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29</a:t>
            </a:fld>
            <a:endParaRPr lang="en-US"/>
          </a:p>
        </p:txBody>
      </p:sp>
    </p:spTree>
    <p:extLst>
      <p:ext uri="{BB962C8B-B14F-4D97-AF65-F5344CB8AC3E}">
        <p14:creationId xmlns:p14="http://schemas.microsoft.com/office/powerpoint/2010/main" val="9905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30</a:t>
            </a:fld>
            <a:endParaRPr lang="en-US"/>
          </a:p>
        </p:txBody>
      </p:sp>
    </p:spTree>
    <p:extLst>
      <p:ext uri="{BB962C8B-B14F-4D97-AF65-F5344CB8AC3E}">
        <p14:creationId xmlns:p14="http://schemas.microsoft.com/office/powerpoint/2010/main" val="28811661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31</a:t>
            </a:fld>
            <a:endParaRPr lang="en-US"/>
          </a:p>
        </p:txBody>
      </p:sp>
    </p:spTree>
    <p:extLst>
      <p:ext uri="{BB962C8B-B14F-4D97-AF65-F5344CB8AC3E}">
        <p14:creationId xmlns:p14="http://schemas.microsoft.com/office/powerpoint/2010/main" val="40971996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32</a:t>
            </a:fld>
            <a:endParaRPr lang="en-US"/>
          </a:p>
        </p:txBody>
      </p:sp>
    </p:spTree>
    <p:extLst>
      <p:ext uri="{BB962C8B-B14F-4D97-AF65-F5344CB8AC3E}">
        <p14:creationId xmlns:p14="http://schemas.microsoft.com/office/powerpoint/2010/main" val="18074174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33</a:t>
            </a:fld>
            <a:endParaRPr lang="en-US"/>
          </a:p>
        </p:txBody>
      </p:sp>
    </p:spTree>
    <p:extLst>
      <p:ext uri="{BB962C8B-B14F-4D97-AF65-F5344CB8AC3E}">
        <p14:creationId xmlns:p14="http://schemas.microsoft.com/office/powerpoint/2010/main" val="13621580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34</a:t>
            </a:fld>
            <a:endParaRPr lang="en-US"/>
          </a:p>
        </p:txBody>
      </p:sp>
    </p:spTree>
    <p:extLst>
      <p:ext uri="{BB962C8B-B14F-4D97-AF65-F5344CB8AC3E}">
        <p14:creationId xmlns:p14="http://schemas.microsoft.com/office/powerpoint/2010/main" val="37625843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414639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36</a:t>
            </a:fld>
            <a:endParaRPr lang="en-US"/>
          </a:p>
        </p:txBody>
      </p:sp>
    </p:spTree>
    <p:extLst>
      <p:ext uri="{BB962C8B-B14F-4D97-AF65-F5344CB8AC3E}">
        <p14:creationId xmlns:p14="http://schemas.microsoft.com/office/powerpoint/2010/main" val="524250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p:spPr>
        <p:txBody>
          <a:bodyPr/>
          <a:lstStyle/>
          <a:p>
            <a:r>
              <a:rPr lang="en-US"/>
              <a:t>Click to edit Master title style</a:t>
            </a:r>
          </a:p>
        </p:txBody>
      </p:sp>
      <p:sp>
        <p:nvSpPr>
          <p:cNvPr id="3" name="Subtitl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C4D5889-9C47-1542-89BF-71BA5CAEC00A}" type="datetimeFigureOut">
              <a:rPr lang="en-US" smtClean="0"/>
              <a:pPr/>
              <a:t>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403887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4D5889-9C47-1542-89BF-71BA5CAEC00A}" type="datetimeFigureOut">
              <a:rPr lang="en-US" smtClean="0"/>
              <a:pPr/>
              <a:t>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354433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4D5889-9C47-1542-89BF-71BA5CAEC00A}" type="datetimeFigureOut">
              <a:rPr lang="en-US" smtClean="0"/>
              <a:pPr/>
              <a:t>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6906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C4D5889-9C47-1542-89BF-71BA5CAEC00A}" type="datetimeFigureOut">
              <a:rPr lang="en-US" smtClean="0"/>
              <a:pPr/>
              <a:t>2/18/2024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70258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4D5889-9C47-1542-89BF-71BA5CAEC00A}" type="datetimeFigureOut">
              <a:rPr lang="en-US" smtClean="0"/>
              <a:pPr/>
              <a:t>2/18/2024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4858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4D5889-9C47-1542-89BF-71BA5CAEC00A}" type="datetimeFigureOut">
              <a:rPr lang="en-US" smtClean="0"/>
              <a:pPr/>
              <a:t>2/18/2024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915583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4D5889-9C47-1542-89BF-71BA5CAEC00A}" type="datetimeFigureOut">
              <a:rPr lang="en-US" smtClean="0"/>
              <a:pPr/>
              <a:t>2/18/2024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282837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2/18/2024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555946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2/18/2024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146288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4D5889-9C47-1542-89BF-71BA5CAEC00A}" type="datetimeFigureOut">
              <a:rPr lang="en-US" smtClean="0"/>
              <a:pPr/>
              <a:t>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979724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9"/>
            <a:ext cx="22288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95300" y="274639"/>
            <a:ext cx="65214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4D5889-9C47-1542-89BF-71BA5CAEC00A}" type="datetimeFigureOut">
              <a:rPr lang="en-US" smtClean="0"/>
              <a:pPr/>
              <a:t>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335751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4D5889-9C47-1542-89BF-71BA5CAEC00A}" type="datetimeFigureOut">
              <a:rPr lang="en-US" smtClean="0"/>
              <a:pPr/>
              <a:t>2/18/2024</a:t>
            </a:fld>
            <a:endParaRPr lang="en-US"/>
          </a:p>
        </p:txBody>
      </p:sp>
      <p:sp>
        <p:nvSpPr>
          <p:cNvPr id="5" name="Footer Placehold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DF8427-4C18-6C43-BFAB-BAEC5845A11E}" type="slidenum">
              <a:rPr lang="en-US" smtClean="0"/>
              <a:pPr/>
              <a:t>‹#›</a:t>
            </a:fld>
            <a:endParaRPr lang="en-US"/>
          </a:p>
        </p:txBody>
      </p:sp>
    </p:spTree>
    <p:extLst>
      <p:ext uri="{BB962C8B-B14F-4D97-AF65-F5344CB8AC3E}">
        <p14:creationId xmlns:p14="http://schemas.microsoft.com/office/powerpoint/2010/main" val="280042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1.jp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1.jpg"/><Relationship Id="rId7"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1.jpg"/><Relationship Id="rId7"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mplate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281"/>
            <a:ext cx="9906001" cy="6858000"/>
          </a:xfrm>
          <a:prstGeom prst="rect">
            <a:avLst/>
          </a:prstGeom>
        </p:spPr>
      </p:pic>
      <p:sp>
        <p:nvSpPr>
          <p:cNvPr id="5" name="Title 1"/>
          <p:cNvSpPr txBox="1">
            <a:spLocks/>
          </p:cNvSpPr>
          <p:nvPr/>
        </p:nvSpPr>
        <p:spPr>
          <a:xfrm>
            <a:off x="1092200" y="2294281"/>
            <a:ext cx="8013700" cy="333057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p:txBody>
      </p:sp>
      <p:sp>
        <p:nvSpPr>
          <p:cNvPr id="3" name="Title 2"/>
          <p:cNvSpPr>
            <a:spLocks noGrp="1"/>
          </p:cNvSpPr>
          <p:nvPr>
            <p:ph type="ctrTitle"/>
          </p:nvPr>
        </p:nvSpPr>
        <p:spPr>
          <a:xfrm>
            <a:off x="742950" y="501651"/>
            <a:ext cx="8420100" cy="1470025"/>
          </a:xfrm>
        </p:spPr>
        <p:txBody>
          <a:bodyPr>
            <a:normAutofit/>
          </a:bodyPr>
          <a:lstStyle/>
          <a:p>
            <a:br>
              <a:rPr lang="en-ZA" sz="2400" b="1" dirty="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1021978" y="2273761"/>
            <a:ext cx="7617758" cy="2062103"/>
          </a:xfrm>
          <a:prstGeom prst="rect">
            <a:avLst/>
          </a:prstGeom>
        </p:spPr>
        <p:txBody>
          <a:bodyPr wrap="square">
            <a:spAutoFit/>
          </a:bodyPr>
          <a:lstStyle/>
          <a:p>
            <a:pPr algn="ctr"/>
            <a:r>
              <a:rPr lang="en-ZA" sz="3200" b="1" spc="50" dirty="0">
                <a:ln w="0"/>
                <a:solidFill>
                  <a:schemeClr val="bg2"/>
                </a:solidFill>
                <a:effectLst>
                  <a:innerShdw blurRad="63500" dist="50800" dir="13500000">
                    <a:srgbClr val="000000">
                      <a:alpha val="50000"/>
                    </a:srgbClr>
                  </a:innerShdw>
                </a:effectLst>
              </a:rPr>
              <a:t>Basic R Operations and Concepts </a:t>
            </a:r>
          </a:p>
          <a:p>
            <a:pPr algn="ctr"/>
            <a:r>
              <a:rPr lang="en-ZA" sz="3200" b="1" spc="50" dirty="0">
                <a:ln w="0"/>
                <a:solidFill>
                  <a:schemeClr val="bg2"/>
                </a:solidFill>
                <a:effectLst>
                  <a:innerShdw blurRad="63500" dist="50800" dir="13500000">
                    <a:srgbClr val="000000">
                      <a:alpha val="50000"/>
                    </a:srgbClr>
                  </a:innerShdw>
                </a:effectLst>
              </a:rPr>
              <a:t>&amp; </a:t>
            </a:r>
          </a:p>
          <a:p>
            <a:pPr algn="ctr"/>
            <a:r>
              <a:rPr lang="en-ZA" sz="3200" b="1" spc="50" dirty="0">
                <a:ln w="0"/>
                <a:solidFill>
                  <a:schemeClr val="bg2"/>
                </a:solidFill>
                <a:effectLst>
                  <a:innerShdw blurRad="63500" dist="50800" dir="13500000">
                    <a:srgbClr val="000000">
                      <a:alpha val="50000"/>
                    </a:srgbClr>
                  </a:innerShdw>
                </a:effectLst>
              </a:rPr>
              <a:t>Data Description</a:t>
            </a:r>
          </a:p>
          <a:p>
            <a:pPr algn="ctr"/>
            <a:r>
              <a:rPr lang="en-ZA" sz="3200" b="1" spc="50" dirty="0">
                <a:ln w="0"/>
                <a:solidFill>
                  <a:schemeClr val="bg2"/>
                </a:solidFill>
                <a:effectLst>
                  <a:innerShdw blurRad="63500" dist="50800" dir="13500000">
                    <a:srgbClr val="000000">
                      <a:alpha val="50000"/>
                    </a:srgbClr>
                  </a:innerShdw>
                </a:effectLst>
              </a:rPr>
              <a:t>(IPSUR)</a:t>
            </a:r>
          </a:p>
        </p:txBody>
      </p:sp>
      <p:sp>
        <p:nvSpPr>
          <p:cNvPr id="7" name="TextBox 6"/>
          <p:cNvSpPr txBox="1"/>
          <p:nvPr/>
        </p:nvSpPr>
        <p:spPr>
          <a:xfrm>
            <a:off x="6733593" y="5032165"/>
            <a:ext cx="3172407" cy="1323439"/>
          </a:xfrm>
          <a:prstGeom prst="rect">
            <a:avLst/>
          </a:prstGeom>
          <a:noFill/>
        </p:spPr>
        <p:txBody>
          <a:bodyPr wrap="none" rtlCol="0">
            <a:spAutoFit/>
          </a:bodyPr>
          <a:lstStyle/>
          <a:p>
            <a:r>
              <a:rPr lang="en-ZA" sz="2000" b="1" spc="50" dirty="0">
                <a:ln w="0"/>
                <a:solidFill>
                  <a:schemeClr val="bg2"/>
                </a:solidFill>
                <a:effectLst>
                  <a:innerShdw blurRad="63500" dist="50800" dir="13500000">
                    <a:srgbClr val="000000">
                      <a:alpha val="50000"/>
                    </a:srgbClr>
                  </a:innerShdw>
                </a:effectLst>
              </a:rPr>
              <a:t>Matthew Wayne Valentine</a:t>
            </a:r>
          </a:p>
          <a:p>
            <a:r>
              <a:rPr lang="en-ZA" sz="2000" b="1" spc="50" dirty="0">
                <a:ln w="0"/>
                <a:solidFill>
                  <a:schemeClr val="bg2"/>
                </a:solidFill>
                <a:effectLst>
                  <a:innerShdw blurRad="63500" dist="50800" dir="13500000">
                    <a:srgbClr val="000000">
                      <a:alpha val="50000"/>
                    </a:srgbClr>
                  </a:innerShdw>
                </a:effectLst>
              </a:rPr>
              <a:t>Office 1.32</a:t>
            </a:r>
          </a:p>
          <a:p>
            <a:r>
              <a:rPr lang="en-ZA" sz="2000" b="1" spc="50" dirty="0">
                <a:ln w="0"/>
                <a:solidFill>
                  <a:schemeClr val="bg2"/>
                </a:solidFill>
                <a:effectLst>
                  <a:innerShdw blurRad="63500" dist="50800" dir="13500000">
                    <a:srgbClr val="000000">
                      <a:alpha val="50000"/>
                    </a:srgbClr>
                  </a:innerShdw>
                </a:effectLst>
              </a:rPr>
              <a:t>Lab K2 – Tech Room K2</a:t>
            </a:r>
          </a:p>
          <a:p>
            <a:r>
              <a:rPr lang="en-ZA" sz="2000" b="1" spc="50" dirty="0">
                <a:ln w="0"/>
                <a:solidFill>
                  <a:schemeClr val="bg2"/>
                </a:solidFill>
                <a:effectLst>
                  <a:innerShdw blurRad="63500" dist="50800" dir="13500000">
                    <a:srgbClr val="000000">
                      <a:alpha val="50000"/>
                    </a:srgbClr>
                  </a:innerShdw>
                </a:effectLst>
              </a:rPr>
              <a:t>mvalentine@uwc.ac.za</a:t>
            </a:r>
          </a:p>
        </p:txBody>
      </p:sp>
      <p:sp>
        <p:nvSpPr>
          <p:cNvPr id="8" name="Rectangle 7"/>
          <p:cNvSpPr/>
          <p:nvPr/>
        </p:nvSpPr>
        <p:spPr>
          <a:xfrm>
            <a:off x="841869" y="1201675"/>
            <a:ext cx="7617758" cy="584775"/>
          </a:xfrm>
          <a:prstGeom prst="rect">
            <a:avLst/>
          </a:prstGeom>
        </p:spPr>
        <p:txBody>
          <a:bodyPr wrap="square">
            <a:spAutoFit/>
          </a:bodyPr>
          <a:lstStyle/>
          <a:p>
            <a:pPr algn="ctr"/>
            <a:r>
              <a:rPr lang="en-ZA" sz="3200" b="1" spc="50" dirty="0">
                <a:ln w="0"/>
                <a:solidFill>
                  <a:schemeClr val="bg2"/>
                </a:solidFill>
                <a:effectLst>
                  <a:innerShdw blurRad="63500" dist="50800" dir="13500000">
                    <a:srgbClr val="000000">
                      <a:alpha val="50000"/>
                    </a:srgbClr>
                  </a:innerShdw>
                </a:effectLst>
              </a:rPr>
              <a:t>Chapter 2 &amp; 3</a:t>
            </a:r>
          </a:p>
        </p:txBody>
      </p:sp>
    </p:spTree>
    <p:extLst>
      <p:ext uri="{BB962C8B-B14F-4D97-AF65-F5344CB8AC3E}">
        <p14:creationId xmlns:p14="http://schemas.microsoft.com/office/powerpoint/2010/main" val="1130349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mplate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281"/>
            <a:ext cx="9906001" cy="6858000"/>
          </a:xfrm>
          <a:prstGeom prst="rect">
            <a:avLst/>
          </a:prstGeom>
        </p:spPr>
      </p:pic>
      <p:sp>
        <p:nvSpPr>
          <p:cNvPr id="5" name="Title 1"/>
          <p:cNvSpPr txBox="1">
            <a:spLocks/>
          </p:cNvSpPr>
          <p:nvPr/>
        </p:nvSpPr>
        <p:spPr>
          <a:xfrm>
            <a:off x="1092200" y="2294281"/>
            <a:ext cx="8013700" cy="333057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r" defTabSz="4572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rgbClr val="A7853E"/>
              </a:solidFill>
              <a:effectLst/>
              <a:uLnTx/>
              <a:uFillTx/>
              <a:latin typeface="Baskerville Old Face" charset="0"/>
              <a:ea typeface="+mj-ea"/>
              <a:cs typeface="+mj-cs"/>
            </a:endParaRPr>
          </a:p>
          <a:p>
            <a:pPr marL="0" marR="0" lvl="0" indent="0" algn="r" defTabSz="4572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rgbClr val="A7853E"/>
              </a:solidFill>
              <a:effectLst/>
              <a:uLnTx/>
              <a:uFillTx/>
              <a:latin typeface="Baskerville Old Face" charset="0"/>
              <a:ea typeface="+mj-ea"/>
              <a:cs typeface="+mj-cs"/>
            </a:endParaRPr>
          </a:p>
          <a:p>
            <a:pPr marL="0" marR="0" lvl="0" indent="0" algn="r" defTabSz="4572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rgbClr val="A7853E"/>
              </a:solidFill>
              <a:effectLst/>
              <a:uLnTx/>
              <a:uFillTx/>
              <a:latin typeface="Baskerville Old Face" charset="0"/>
              <a:ea typeface="+mj-ea"/>
              <a:cs typeface="+mj-cs"/>
            </a:endParaRPr>
          </a:p>
          <a:p>
            <a:pPr marL="0" marR="0" lvl="0" indent="0" algn="r" defTabSz="4572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rgbClr val="A7853E"/>
              </a:solidFill>
              <a:effectLst/>
              <a:uLnTx/>
              <a:uFillTx/>
              <a:latin typeface="Baskerville Old Face" charset="0"/>
              <a:ea typeface="+mj-ea"/>
              <a:cs typeface="+mj-cs"/>
            </a:endParaRPr>
          </a:p>
        </p:txBody>
      </p:sp>
      <p:sp>
        <p:nvSpPr>
          <p:cNvPr id="2" name="Rectangle 1"/>
          <p:cNvSpPr/>
          <p:nvPr/>
        </p:nvSpPr>
        <p:spPr>
          <a:xfrm>
            <a:off x="1092200" y="2874006"/>
            <a:ext cx="7617758" cy="584775"/>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rPr>
              <a:t>Basic R Operations and Concepts </a:t>
            </a:r>
          </a:p>
        </p:txBody>
      </p:sp>
      <p:sp>
        <p:nvSpPr>
          <p:cNvPr id="8" name="Rectangle 7"/>
          <p:cNvSpPr/>
          <p:nvPr/>
        </p:nvSpPr>
        <p:spPr>
          <a:xfrm>
            <a:off x="980414" y="1999368"/>
            <a:ext cx="7617758" cy="584775"/>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rPr>
              <a:t>Chapter 2</a:t>
            </a:r>
          </a:p>
        </p:txBody>
      </p:sp>
    </p:spTree>
    <p:extLst>
      <p:ext uri="{BB962C8B-B14F-4D97-AF65-F5344CB8AC3E}">
        <p14:creationId xmlns:p14="http://schemas.microsoft.com/office/powerpoint/2010/main" val="4070445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269436" y="324226"/>
            <a:ext cx="8915400" cy="845332"/>
          </a:xfrm>
        </p:spPr>
        <p:txBody>
          <a:bodyPr>
            <a:normAutofit/>
          </a:bodyPr>
          <a:lstStyle/>
          <a:p>
            <a:r>
              <a:rPr lang="en-ZA" sz="4000" dirty="0"/>
              <a:t>Loading Packages</a:t>
            </a:r>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5" name="TextBox 4"/>
          <p:cNvSpPr txBox="1"/>
          <p:nvPr/>
        </p:nvSpPr>
        <p:spPr>
          <a:xfrm>
            <a:off x="1075765" y="1740005"/>
            <a:ext cx="7874788" cy="3416320"/>
          </a:xfrm>
          <a:prstGeom prst="rect">
            <a:avLst/>
          </a:prstGeom>
          <a:noFill/>
        </p:spPr>
        <p:txBody>
          <a:bodyPr wrap="square" rtlCol="0">
            <a:spAutoFit/>
          </a:bodyPr>
          <a:lstStyle/>
          <a:p>
            <a:pPr marL="285750" indent="-285750" algn="just">
              <a:buFont typeface="Arial" panose="020B0604020202020204" pitchFamily="34" charset="0"/>
              <a:buChar char="•"/>
            </a:pPr>
            <a:r>
              <a:rPr lang="en-ZA" dirty="0">
                <a:latin typeface="Avenir Next Cyr W04 Regular" panose="020B0503020202020204" pitchFamily="34" charset="0"/>
              </a:rPr>
              <a:t>There are default packages and datasets that are loaded automatically with R.</a:t>
            </a:r>
          </a:p>
          <a:p>
            <a:pPr marL="285750" indent="-285750" algn="just">
              <a:buFont typeface="Arial" panose="020B0604020202020204" pitchFamily="34" charset="0"/>
              <a:buChar char="•"/>
            </a:pPr>
            <a:endParaRPr lang="en-ZA" dirty="0">
              <a:latin typeface="Avenir Next Cyr W04 Regular" panose="020B0503020202020204" pitchFamily="34" charset="0"/>
            </a:endParaRPr>
          </a:p>
          <a:p>
            <a:pPr marL="285750" indent="-285750" algn="just">
              <a:buFont typeface="Arial" panose="020B0604020202020204" pitchFamily="34" charset="0"/>
              <a:buChar char="•"/>
            </a:pPr>
            <a:r>
              <a:rPr lang="en-ZA" dirty="0">
                <a:latin typeface="Avenir Next Cyr W04 Regular" panose="020B0503020202020204" pitchFamily="34" charset="0"/>
              </a:rPr>
              <a:t>Use the </a:t>
            </a:r>
            <a:r>
              <a:rPr lang="en-ZA" i="1" dirty="0">
                <a:latin typeface="Avenir Next Cyr W04 Regular" panose="020B0503020202020204" pitchFamily="34" charset="0"/>
              </a:rPr>
              <a:t>library()</a:t>
            </a:r>
            <a:r>
              <a:rPr lang="en-ZA" dirty="0">
                <a:latin typeface="Avenir Next Cyr W04 Regular" panose="020B0503020202020204" pitchFamily="34" charset="0"/>
              </a:rPr>
              <a:t> option to check default packages.</a:t>
            </a:r>
          </a:p>
          <a:p>
            <a:pPr marL="285750" indent="-285750" algn="just">
              <a:buFont typeface="Arial" panose="020B0604020202020204" pitchFamily="34" charset="0"/>
              <a:buChar char="•"/>
            </a:pPr>
            <a:endParaRPr lang="en-ZA" dirty="0">
              <a:latin typeface="Avenir Next Cyr W04 Regular" panose="020B0503020202020204" pitchFamily="34" charset="0"/>
            </a:endParaRPr>
          </a:p>
          <a:p>
            <a:pPr marL="285750" indent="-285750" algn="just">
              <a:buFont typeface="Arial" panose="020B0604020202020204" pitchFamily="34" charset="0"/>
              <a:buChar char="•"/>
            </a:pPr>
            <a:r>
              <a:rPr lang="en-ZA" dirty="0">
                <a:latin typeface="Avenir Next Cyr W04 Regular" panose="020B0503020202020204" pitchFamily="34" charset="0"/>
              </a:rPr>
              <a:t>To attach another package to your workspace, either use the command </a:t>
            </a:r>
            <a:r>
              <a:rPr lang="en-ZA" i="1" dirty="0" err="1">
                <a:latin typeface="Avenir Next Cyr W04 Regular" panose="020B0503020202020204" pitchFamily="34" charset="0"/>
              </a:rPr>
              <a:t>install.packages</a:t>
            </a:r>
            <a:r>
              <a:rPr lang="en-ZA" i="1" dirty="0">
                <a:latin typeface="Avenir Next Cyr W04 Regular" panose="020B0503020202020204" pitchFamily="34" charset="0"/>
              </a:rPr>
              <a:t> (“PACKAGENAME”, DEPENDS=)</a:t>
            </a:r>
            <a:r>
              <a:rPr lang="en-ZA" dirty="0">
                <a:latin typeface="Avenir Next Cyr W04 Regular" panose="020B0503020202020204" pitchFamily="34" charset="0"/>
              </a:rPr>
              <a:t> ,</a:t>
            </a:r>
          </a:p>
          <a:p>
            <a:pPr marL="285750" indent="-285750" algn="just">
              <a:buFont typeface="Arial" panose="020B0604020202020204" pitchFamily="34" charset="0"/>
              <a:buChar char="•"/>
            </a:pPr>
            <a:endParaRPr lang="en-ZA" dirty="0">
              <a:latin typeface="Avenir Next Cyr W04 Regular" panose="020B0503020202020204" pitchFamily="34" charset="0"/>
            </a:endParaRPr>
          </a:p>
          <a:p>
            <a:pPr marL="285750" indent="-285750" algn="just">
              <a:buFont typeface="Arial" panose="020B0604020202020204" pitchFamily="34" charset="0"/>
              <a:buChar char="•"/>
            </a:pPr>
            <a:r>
              <a:rPr lang="en-ZA" dirty="0">
                <a:latin typeface="Avenir Next Cyr W04 Regular" panose="020B0503020202020204" pitchFamily="34" charset="0"/>
              </a:rPr>
              <a:t>Or a package can be loaded by use the “</a:t>
            </a:r>
            <a:r>
              <a:rPr lang="en-ZA" i="1" dirty="0">
                <a:latin typeface="Avenir Next Cyr W04 Regular" panose="020B0503020202020204" pitchFamily="34" charset="0"/>
              </a:rPr>
              <a:t>Packages</a:t>
            </a:r>
            <a:r>
              <a:rPr lang="en-ZA" dirty="0">
                <a:latin typeface="Avenir Next Cyr W04 Regular" panose="020B0503020202020204" pitchFamily="34" charset="0"/>
              </a:rPr>
              <a:t>” toolbar.</a:t>
            </a:r>
          </a:p>
          <a:p>
            <a:pPr marL="285750" indent="-285750" algn="just">
              <a:buFont typeface="Arial" panose="020B0604020202020204" pitchFamily="34" charset="0"/>
              <a:buChar char="•"/>
            </a:pPr>
            <a:r>
              <a:rPr lang="en-ZA" dirty="0">
                <a:latin typeface="Avenir Next Cyr W04 Regular" panose="020B0503020202020204" pitchFamily="34" charset="0"/>
              </a:rPr>
              <a:t>We need to load the package “</a:t>
            </a:r>
            <a:r>
              <a:rPr lang="en-ZA" i="1" dirty="0">
                <a:latin typeface="Avenir Next Cyr W04 Regular" panose="020B0503020202020204" pitchFamily="34" charset="0"/>
              </a:rPr>
              <a:t>IPSUR”</a:t>
            </a:r>
          </a:p>
          <a:p>
            <a:pPr marL="285750" indent="-285750" algn="just">
              <a:buFont typeface="Arial" panose="020B0604020202020204" pitchFamily="34" charset="0"/>
              <a:buChar char="•"/>
            </a:pPr>
            <a:r>
              <a:rPr lang="en-ZA" i="1" dirty="0">
                <a:latin typeface="Avenir Next Cyr W04 Regular" panose="020B0503020202020204" pitchFamily="34" charset="0"/>
              </a:rPr>
              <a:t>To install the package in R; in the R console type “ </a:t>
            </a:r>
            <a:r>
              <a:rPr lang="en-ZA" b="1" i="1" dirty="0" err="1">
                <a:latin typeface="Avenir Next Cyr W04 Regular" panose="020B0503020202020204" pitchFamily="34" charset="0"/>
              </a:rPr>
              <a:t>install.packages</a:t>
            </a:r>
            <a:r>
              <a:rPr lang="en-ZA" b="1" i="1" dirty="0">
                <a:latin typeface="Avenir Next Cyr W04 Regular" panose="020B0503020202020204" pitchFamily="34" charset="0"/>
              </a:rPr>
              <a:t>(“IPSUR”)</a:t>
            </a:r>
            <a:r>
              <a:rPr lang="en-ZA" i="1" dirty="0">
                <a:latin typeface="Avenir Next Cyr W04 Regular" panose="020B0503020202020204" pitchFamily="34" charset="0"/>
              </a:rPr>
              <a:t>” </a:t>
            </a:r>
            <a:r>
              <a:rPr lang="en-ZA" b="1" i="1" dirty="0">
                <a:latin typeface="Avenir Next Cyr W04 Regular" panose="020B0503020202020204" pitchFamily="34" charset="0"/>
              </a:rPr>
              <a:t>NB: R is case-sensitive</a:t>
            </a:r>
          </a:p>
        </p:txBody>
      </p:sp>
      <p:pic>
        <p:nvPicPr>
          <p:cNvPr id="8" name="Picture 7"/>
          <p:cNvPicPr>
            <a:picLocks noChangeAspect="1"/>
          </p:cNvPicPr>
          <p:nvPr/>
        </p:nvPicPr>
        <p:blipFill>
          <a:blip r:embed="rId5"/>
          <a:stretch>
            <a:fillRect/>
          </a:stretch>
        </p:blipFill>
        <p:spPr>
          <a:xfrm>
            <a:off x="1075765" y="5339235"/>
            <a:ext cx="8109071" cy="1019175"/>
          </a:xfrm>
          <a:prstGeom prst="rect">
            <a:avLst/>
          </a:prstGeom>
        </p:spPr>
      </p:pic>
    </p:spTree>
    <p:extLst>
      <p:ext uri="{BB962C8B-B14F-4D97-AF65-F5344CB8AC3E}">
        <p14:creationId xmlns:p14="http://schemas.microsoft.com/office/powerpoint/2010/main" val="2417313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728383" y="419157"/>
            <a:ext cx="8915400" cy="845332"/>
          </a:xfrm>
        </p:spPr>
        <p:txBody>
          <a:bodyPr>
            <a:normAutofit/>
          </a:bodyPr>
          <a:lstStyle/>
          <a:p>
            <a:r>
              <a:rPr lang="en-ZA" sz="4000" dirty="0"/>
              <a:t>Basic R Operations and Concepts</a:t>
            </a:r>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5" name="TextBox 4"/>
          <p:cNvSpPr txBox="1"/>
          <p:nvPr/>
        </p:nvSpPr>
        <p:spPr>
          <a:xfrm>
            <a:off x="4156262" y="1189553"/>
            <a:ext cx="2059641" cy="553998"/>
          </a:xfrm>
          <a:prstGeom prst="rect">
            <a:avLst/>
          </a:prstGeom>
          <a:noFill/>
        </p:spPr>
        <p:txBody>
          <a:bodyPr wrap="square" rtlCol="0">
            <a:spAutoFit/>
          </a:bodyPr>
          <a:lstStyle/>
          <a:p>
            <a:r>
              <a:rPr lang="en-ZA" sz="3000" b="1" dirty="0">
                <a:latin typeface="Avenir Next Cyr W04 Regular" panose="020B0503020202020204" pitchFamily="34" charset="0"/>
              </a:rPr>
              <a:t>Arithmetic</a:t>
            </a:r>
          </a:p>
        </p:txBody>
      </p:sp>
      <p:pic>
        <p:nvPicPr>
          <p:cNvPr id="3" name="Picture 2"/>
          <p:cNvPicPr>
            <a:picLocks noChangeAspect="1"/>
          </p:cNvPicPr>
          <p:nvPr/>
        </p:nvPicPr>
        <p:blipFill rotWithShape="1">
          <a:blip r:embed="rId5"/>
          <a:srcRect l="526" t="45288" r="91233" b="43316"/>
          <a:stretch/>
        </p:blipFill>
        <p:spPr>
          <a:xfrm>
            <a:off x="1391815" y="3847524"/>
            <a:ext cx="2892194" cy="2249425"/>
          </a:xfrm>
          <a:prstGeom prst="rect">
            <a:avLst/>
          </a:prstGeom>
        </p:spPr>
      </p:pic>
      <p:sp>
        <p:nvSpPr>
          <p:cNvPr id="8" name="TextBox 7"/>
          <p:cNvSpPr txBox="1"/>
          <p:nvPr/>
        </p:nvSpPr>
        <p:spPr>
          <a:xfrm>
            <a:off x="3639135" y="2581400"/>
            <a:ext cx="3980866" cy="1015663"/>
          </a:xfrm>
          <a:prstGeom prst="rect">
            <a:avLst/>
          </a:prstGeom>
          <a:noFill/>
        </p:spPr>
        <p:txBody>
          <a:bodyPr wrap="square" rtlCol="0">
            <a:spAutoFit/>
          </a:bodyPr>
          <a:lstStyle/>
          <a:p>
            <a:pPr marL="285750" indent="-285750">
              <a:buFont typeface="Arial" panose="020B0604020202020204" pitchFamily="34" charset="0"/>
              <a:buChar char="•"/>
            </a:pPr>
            <a:r>
              <a:rPr lang="en-ZA" sz="2000" b="1" dirty="0">
                <a:latin typeface="Avenir Next Cyr W04 Regular" panose="020B0503020202020204" pitchFamily="34" charset="0"/>
              </a:rPr>
              <a:t>Use the comment character (</a:t>
            </a:r>
            <a:r>
              <a:rPr lang="en-ZA" sz="2000" b="1" i="1" dirty="0">
                <a:latin typeface="Avenir Next Cyr W04 Regular" panose="020B0503020202020204" pitchFamily="34" charset="0"/>
              </a:rPr>
              <a:t>#</a:t>
            </a:r>
            <a:r>
              <a:rPr lang="en-ZA" sz="2000" b="1" dirty="0">
                <a:latin typeface="Avenir Next Cyr W04 Regular" panose="020B0503020202020204" pitchFamily="34" charset="0"/>
              </a:rPr>
              <a:t> ) to add comments to the code.</a:t>
            </a:r>
          </a:p>
        </p:txBody>
      </p:sp>
      <p:sp>
        <p:nvSpPr>
          <p:cNvPr id="10" name="TextBox 9"/>
          <p:cNvSpPr txBox="1"/>
          <p:nvPr/>
        </p:nvSpPr>
        <p:spPr>
          <a:xfrm>
            <a:off x="728383" y="1656600"/>
            <a:ext cx="8552329" cy="70788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These are basic calculations that can be performed in R by hard coding it.</a:t>
            </a:r>
          </a:p>
        </p:txBody>
      </p:sp>
      <p:sp>
        <p:nvSpPr>
          <p:cNvPr id="11" name="TextBox 10"/>
          <p:cNvSpPr txBox="1"/>
          <p:nvPr/>
        </p:nvSpPr>
        <p:spPr>
          <a:xfrm>
            <a:off x="660360" y="3889419"/>
            <a:ext cx="731453" cy="400110"/>
          </a:xfrm>
          <a:prstGeom prst="rect">
            <a:avLst/>
          </a:prstGeom>
          <a:noFill/>
        </p:spPr>
        <p:txBody>
          <a:bodyPr wrap="square" rtlCol="0">
            <a:spAutoFit/>
          </a:bodyPr>
          <a:lstStyle/>
          <a:p>
            <a:r>
              <a:rPr lang="en-ZA" sz="2000" dirty="0">
                <a:latin typeface="Avenir Next Cyr W04 Regular" panose="020B0503020202020204" pitchFamily="34" charset="0"/>
              </a:rPr>
              <a:t>1.</a:t>
            </a:r>
          </a:p>
        </p:txBody>
      </p:sp>
      <p:sp>
        <p:nvSpPr>
          <p:cNvPr id="12" name="TextBox 11"/>
          <p:cNvSpPr txBox="1"/>
          <p:nvPr/>
        </p:nvSpPr>
        <p:spPr>
          <a:xfrm>
            <a:off x="660361" y="4419193"/>
            <a:ext cx="731453" cy="400110"/>
          </a:xfrm>
          <a:prstGeom prst="rect">
            <a:avLst/>
          </a:prstGeom>
          <a:noFill/>
        </p:spPr>
        <p:txBody>
          <a:bodyPr wrap="square" rtlCol="0">
            <a:spAutoFit/>
          </a:bodyPr>
          <a:lstStyle/>
          <a:p>
            <a:r>
              <a:rPr lang="en-ZA" sz="2000" dirty="0">
                <a:latin typeface="Avenir Next Cyr W04 Regular" panose="020B0503020202020204" pitchFamily="34" charset="0"/>
              </a:rPr>
              <a:t>2.</a:t>
            </a:r>
          </a:p>
        </p:txBody>
      </p:sp>
      <p:sp>
        <p:nvSpPr>
          <p:cNvPr id="13" name="TextBox 12"/>
          <p:cNvSpPr txBox="1"/>
          <p:nvPr/>
        </p:nvSpPr>
        <p:spPr>
          <a:xfrm>
            <a:off x="660362" y="5023371"/>
            <a:ext cx="731453" cy="400110"/>
          </a:xfrm>
          <a:prstGeom prst="rect">
            <a:avLst/>
          </a:prstGeom>
          <a:noFill/>
        </p:spPr>
        <p:txBody>
          <a:bodyPr wrap="square" rtlCol="0">
            <a:spAutoFit/>
          </a:bodyPr>
          <a:lstStyle/>
          <a:p>
            <a:r>
              <a:rPr lang="en-ZA" sz="2000" dirty="0">
                <a:latin typeface="Avenir Next Cyr W04 Regular" panose="020B0503020202020204" pitchFamily="34" charset="0"/>
              </a:rPr>
              <a:t>3.</a:t>
            </a:r>
          </a:p>
        </p:txBody>
      </p:sp>
      <p:sp>
        <p:nvSpPr>
          <p:cNvPr id="20" name="TextBox 19"/>
          <p:cNvSpPr txBox="1"/>
          <p:nvPr/>
        </p:nvSpPr>
        <p:spPr>
          <a:xfrm>
            <a:off x="728383" y="2553847"/>
            <a:ext cx="2584075" cy="1015663"/>
          </a:xfrm>
          <a:prstGeom prst="rect">
            <a:avLst/>
          </a:prstGeom>
          <a:noFill/>
        </p:spPr>
        <p:txBody>
          <a:bodyPr wrap="square" rtlCol="0">
            <a:spAutoFit/>
          </a:bodyPr>
          <a:lstStyle/>
          <a:p>
            <a:pPr marL="285750" indent="-285750">
              <a:buFont typeface="Arial" panose="020B0604020202020204" pitchFamily="34" charset="0"/>
              <a:buChar char="•"/>
            </a:pPr>
            <a:r>
              <a:rPr lang="en-ZA" sz="2000" b="1" dirty="0">
                <a:latin typeface="Avenir Next Cyr W04 Regular" panose="020B0503020202020204" pitchFamily="34" charset="0"/>
              </a:rPr>
              <a:t>Within the R console Type the following;</a:t>
            </a:r>
          </a:p>
        </p:txBody>
      </p:sp>
      <p:pic>
        <p:nvPicPr>
          <p:cNvPr id="23" name="Picture 22"/>
          <p:cNvPicPr>
            <a:picLocks noChangeAspect="1"/>
          </p:cNvPicPr>
          <p:nvPr/>
        </p:nvPicPr>
        <p:blipFill>
          <a:blip r:embed="rId6"/>
          <a:stretch>
            <a:fillRect/>
          </a:stretch>
        </p:blipFill>
        <p:spPr>
          <a:xfrm>
            <a:off x="4021862" y="3889419"/>
            <a:ext cx="5722057" cy="1948308"/>
          </a:xfrm>
          <a:prstGeom prst="rect">
            <a:avLst/>
          </a:prstGeom>
        </p:spPr>
      </p:pic>
      <p:sp>
        <p:nvSpPr>
          <p:cNvPr id="24" name="Rectangle 23"/>
          <p:cNvSpPr/>
          <p:nvPr/>
        </p:nvSpPr>
        <p:spPr>
          <a:xfrm>
            <a:off x="660358" y="2456282"/>
            <a:ext cx="9195609" cy="3899996"/>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TextBox 24"/>
          <p:cNvSpPr txBox="1"/>
          <p:nvPr/>
        </p:nvSpPr>
        <p:spPr>
          <a:xfrm>
            <a:off x="3464777" y="3888156"/>
            <a:ext cx="731453" cy="400110"/>
          </a:xfrm>
          <a:prstGeom prst="rect">
            <a:avLst/>
          </a:prstGeom>
          <a:noFill/>
        </p:spPr>
        <p:txBody>
          <a:bodyPr wrap="square" rtlCol="0">
            <a:spAutoFit/>
          </a:bodyPr>
          <a:lstStyle/>
          <a:p>
            <a:r>
              <a:rPr lang="en-ZA" sz="2000" dirty="0">
                <a:latin typeface="Avenir Next Cyr W04 Regular" panose="020B0503020202020204" pitchFamily="34" charset="0"/>
              </a:rPr>
              <a:t>1.</a:t>
            </a:r>
          </a:p>
        </p:txBody>
      </p:sp>
      <p:sp>
        <p:nvSpPr>
          <p:cNvPr id="26" name="TextBox 25"/>
          <p:cNvSpPr txBox="1"/>
          <p:nvPr/>
        </p:nvSpPr>
        <p:spPr>
          <a:xfrm>
            <a:off x="3486816" y="4406280"/>
            <a:ext cx="731453" cy="400110"/>
          </a:xfrm>
          <a:prstGeom prst="rect">
            <a:avLst/>
          </a:prstGeom>
          <a:noFill/>
        </p:spPr>
        <p:txBody>
          <a:bodyPr wrap="square" rtlCol="0">
            <a:spAutoFit/>
          </a:bodyPr>
          <a:lstStyle/>
          <a:p>
            <a:r>
              <a:rPr lang="en-ZA" sz="2000" dirty="0">
                <a:latin typeface="Avenir Next Cyr W04 Regular" panose="020B0503020202020204" pitchFamily="34" charset="0"/>
              </a:rPr>
              <a:t>2.</a:t>
            </a:r>
          </a:p>
        </p:txBody>
      </p:sp>
      <p:sp>
        <p:nvSpPr>
          <p:cNvPr id="27" name="TextBox 26"/>
          <p:cNvSpPr txBox="1"/>
          <p:nvPr/>
        </p:nvSpPr>
        <p:spPr>
          <a:xfrm>
            <a:off x="3486815" y="5013748"/>
            <a:ext cx="731453" cy="400110"/>
          </a:xfrm>
          <a:prstGeom prst="rect">
            <a:avLst/>
          </a:prstGeom>
          <a:noFill/>
        </p:spPr>
        <p:txBody>
          <a:bodyPr wrap="square" rtlCol="0">
            <a:spAutoFit/>
          </a:bodyPr>
          <a:lstStyle/>
          <a:p>
            <a:r>
              <a:rPr lang="en-ZA" sz="2000" dirty="0">
                <a:latin typeface="Avenir Next Cyr W04 Regular" panose="020B0503020202020204" pitchFamily="34" charset="0"/>
              </a:rPr>
              <a:t>3.</a:t>
            </a:r>
          </a:p>
        </p:txBody>
      </p:sp>
      <p:cxnSp>
        <p:nvCxnSpPr>
          <p:cNvPr id="29" name="Straight Connector 28"/>
          <p:cNvCxnSpPr/>
          <p:nvPr/>
        </p:nvCxnSpPr>
        <p:spPr>
          <a:xfrm flipH="1">
            <a:off x="3464777" y="2490010"/>
            <a:ext cx="22039" cy="386626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flipH="1">
            <a:off x="660362" y="3673374"/>
            <a:ext cx="9195605" cy="953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4034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8" name="Title 1"/>
          <p:cNvSpPr>
            <a:spLocks noGrp="1"/>
          </p:cNvSpPr>
          <p:nvPr>
            <p:ph type="title"/>
          </p:nvPr>
        </p:nvSpPr>
        <p:spPr>
          <a:xfrm>
            <a:off x="269436" y="324226"/>
            <a:ext cx="8915400" cy="845332"/>
          </a:xfrm>
        </p:spPr>
        <p:txBody>
          <a:bodyPr>
            <a:normAutofit/>
          </a:bodyPr>
          <a:lstStyle/>
          <a:p>
            <a:r>
              <a:rPr lang="en-ZA" sz="4000" dirty="0"/>
              <a:t>Arithmetic Continued…</a:t>
            </a:r>
          </a:p>
        </p:txBody>
      </p:sp>
      <p:pic>
        <p:nvPicPr>
          <p:cNvPr id="3" name="Picture 2"/>
          <p:cNvPicPr>
            <a:picLocks noChangeAspect="1"/>
          </p:cNvPicPr>
          <p:nvPr/>
        </p:nvPicPr>
        <p:blipFill>
          <a:blip r:embed="rId5"/>
          <a:stretch>
            <a:fillRect/>
          </a:stretch>
        </p:blipFill>
        <p:spPr>
          <a:xfrm>
            <a:off x="384434" y="2389035"/>
            <a:ext cx="9137132" cy="3940047"/>
          </a:xfrm>
          <a:prstGeom prst="rect">
            <a:avLst/>
          </a:prstGeom>
        </p:spPr>
      </p:pic>
      <p:sp>
        <p:nvSpPr>
          <p:cNvPr id="5" name="Rectangle 4"/>
          <p:cNvSpPr/>
          <p:nvPr/>
        </p:nvSpPr>
        <p:spPr>
          <a:xfrm>
            <a:off x="384434" y="1593048"/>
            <a:ext cx="8800402" cy="646331"/>
          </a:xfrm>
          <a:prstGeom prst="rect">
            <a:avLst/>
          </a:prstGeom>
        </p:spPr>
        <p:txBody>
          <a:bodyPr wrap="square">
            <a:spAutoFit/>
          </a:bodyPr>
          <a:lstStyle/>
          <a:p>
            <a:pPr marL="285750" indent="-285750">
              <a:buFont typeface="Arial" panose="020B0604020202020204" pitchFamily="34" charset="0"/>
              <a:buChar char="•"/>
            </a:pPr>
            <a:r>
              <a:rPr lang="en-ZA" dirty="0">
                <a:latin typeface="Avenir Next Cyr W04 Regular" panose="020B0503020202020204" pitchFamily="34" charset="0"/>
              </a:rPr>
              <a:t>These are basic calculations that can be performed in R by hard coding it with a # to provide comments of the basic calculation performed</a:t>
            </a:r>
          </a:p>
        </p:txBody>
      </p:sp>
      <p:sp>
        <p:nvSpPr>
          <p:cNvPr id="10" name="Rectangle 9"/>
          <p:cNvSpPr/>
          <p:nvPr/>
        </p:nvSpPr>
        <p:spPr>
          <a:xfrm>
            <a:off x="325033" y="2239380"/>
            <a:ext cx="9196533" cy="408970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9110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1959035" y="60245"/>
            <a:ext cx="5987929" cy="1732983"/>
          </a:xfrm>
        </p:spPr>
        <p:txBody>
          <a:bodyPr>
            <a:normAutofit/>
          </a:bodyPr>
          <a:lstStyle/>
          <a:p>
            <a:r>
              <a:rPr lang="en-ZA" sz="4000" dirty="0"/>
              <a:t>Assignment, Object Names and Data Types</a:t>
            </a:r>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8" name="TextBox 7"/>
          <p:cNvSpPr txBox="1"/>
          <p:nvPr/>
        </p:nvSpPr>
        <p:spPr>
          <a:xfrm>
            <a:off x="391791" y="1654525"/>
            <a:ext cx="8552329" cy="1938992"/>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There is a convenient way to assign numbers and values to variables in order to be used later.</a:t>
            </a:r>
          </a:p>
          <a:p>
            <a:pPr marL="285750" indent="-285750">
              <a:buFont typeface="Arial" panose="020B0604020202020204" pitchFamily="34" charset="0"/>
              <a:buChar char="•"/>
            </a:pPr>
            <a:endParaRPr lang="en-ZA" sz="2000" dirty="0">
              <a:latin typeface="Avenir Next Cyr W04 Regular" panose="020B0503020202020204" pitchFamily="34" charset="0"/>
            </a:endParaRPr>
          </a:p>
          <a:p>
            <a:pPr marL="285750" indent="-285750">
              <a:buFont typeface="Arial" panose="020B0604020202020204" pitchFamily="34" charset="0"/>
              <a:buChar char="•"/>
            </a:pPr>
            <a:r>
              <a:rPr lang="en-ZA" sz="2000" dirty="0">
                <a:latin typeface="Avenir Next Cyr W04 Regular" panose="020B0503020202020204" pitchFamily="34" charset="0"/>
              </a:rPr>
              <a:t>In order to assign values to a variable is with the “&lt;-” operator, one can also use an “=“ sign but it’s recommended to use the “&lt;-” operator.</a:t>
            </a:r>
          </a:p>
        </p:txBody>
      </p:sp>
      <p:pic>
        <p:nvPicPr>
          <p:cNvPr id="5" name="Picture 4"/>
          <p:cNvPicPr>
            <a:picLocks noChangeAspect="1"/>
          </p:cNvPicPr>
          <p:nvPr/>
        </p:nvPicPr>
        <p:blipFill rotWithShape="1">
          <a:blip r:embed="rId5"/>
          <a:srcRect l="495" t="10978" r="92282" b="79786"/>
          <a:stretch/>
        </p:blipFill>
        <p:spPr>
          <a:xfrm>
            <a:off x="829229" y="3997159"/>
            <a:ext cx="2152159" cy="1548204"/>
          </a:xfrm>
          <a:prstGeom prst="rect">
            <a:avLst/>
          </a:prstGeom>
        </p:spPr>
      </p:pic>
      <p:sp>
        <p:nvSpPr>
          <p:cNvPr id="10" name="TextBox 9"/>
          <p:cNvSpPr txBox="1"/>
          <p:nvPr/>
        </p:nvSpPr>
        <p:spPr>
          <a:xfrm>
            <a:off x="3418829" y="3883443"/>
            <a:ext cx="6237790" cy="224676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 value can thus be recalled later if need be.</a:t>
            </a:r>
          </a:p>
          <a:p>
            <a:pPr marL="285750" indent="-285750">
              <a:buFont typeface="Arial" panose="020B0604020202020204" pitchFamily="34" charset="0"/>
              <a:buChar char="•"/>
            </a:pPr>
            <a:endParaRPr lang="en-ZA" sz="2000" dirty="0">
              <a:latin typeface="Avenir Next Cyr W04 Regular" panose="020B0503020202020204" pitchFamily="34" charset="0"/>
            </a:endParaRPr>
          </a:p>
          <a:p>
            <a:pPr marL="285750" indent="-285750">
              <a:buFont typeface="Arial" panose="020B0604020202020204" pitchFamily="34" charset="0"/>
              <a:buChar char="•"/>
            </a:pPr>
            <a:r>
              <a:rPr lang="en-ZA" sz="2000" dirty="0">
                <a:latin typeface="Avenir Next Cyr W04 Regular" panose="020B0503020202020204" pitchFamily="34" charset="0"/>
              </a:rPr>
              <a:t>When choosing a variable name to represent values to variables.</a:t>
            </a:r>
          </a:p>
          <a:p>
            <a:endParaRPr lang="en-ZA" sz="2000" dirty="0">
              <a:latin typeface="Avenir Next Cyr W04 Regular" panose="020B0503020202020204" pitchFamily="34" charset="0"/>
            </a:endParaRPr>
          </a:p>
          <a:p>
            <a:pPr marL="285750" indent="-285750">
              <a:buFont typeface="Arial" panose="020B0604020202020204" pitchFamily="34" charset="0"/>
              <a:buChar char="•"/>
            </a:pPr>
            <a:r>
              <a:rPr lang="en-ZA" sz="2000" dirty="0">
                <a:latin typeface="Avenir Next Cyr W04 Regular" panose="020B0503020202020204" pitchFamily="34" charset="0"/>
              </a:rPr>
              <a:t>Examples of valid names are as follows;</a:t>
            </a:r>
          </a:p>
          <a:p>
            <a:pPr marL="285750" indent="-285750">
              <a:buFont typeface="Arial" panose="020B0604020202020204" pitchFamily="34" charset="0"/>
              <a:buChar char="•"/>
            </a:pPr>
            <a:r>
              <a:rPr lang="en-ZA" sz="2000" dirty="0">
                <a:latin typeface="Avenir Next Cyr W04 Regular" panose="020B0503020202020204" pitchFamily="34" charset="0"/>
              </a:rPr>
              <a:t>x, x1, </a:t>
            </a:r>
            <a:r>
              <a:rPr lang="en-ZA" sz="2000" dirty="0" err="1">
                <a:latin typeface="Avenir Next Cyr W04 Regular" panose="020B0503020202020204" pitchFamily="34" charset="0"/>
              </a:rPr>
              <a:t>y.value</a:t>
            </a:r>
            <a:r>
              <a:rPr lang="en-ZA" sz="2000" dirty="0">
                <a:latin typeface="Avenir Next Cyr W04 Regular" panose="020B0503020202020204" pitchFamily="34" charset="0"/>
              </a:rPr>
              <a:t> or </a:t>
            </a:r>
            <a:r>
              <a:rPr lang="en-ZA" sz="2000" dirty="0" err="1">
                <a:latin typeface="Avenir Next Cyr W04 Regular" panose="020B0503020202020204" pitchFamily="34" charset="0"/>
              </a:rPr>
              <a:t>y_hat</a:t>
            </a:r>
            <a:endParaRPr lang="en-ZA" sz="2000" dirty="0">
              <a:latin typeface="Avenir Next Cyr W04 Regular" panose="020B0503020202020204" pitchFamily="34" charset="0"/>
            </a:endParaRPr>
          </a:p>
        </p:txBody>
      </p:sp>
      <p:sp>
        <p:nvSpPr>
          <p:cNvPr id="11" name="Rectangle 10"/>
          <p:cNvSpPr/>
          <p:nvPr/>
        </p:nvSpPr>
        <p:spPr>
          <a:xfrm>
            <a:off x="800921" y="4058489"/>
            <a:ext cx="2180467" cy="148687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0168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512876" y="365077"/>
            <a:ext cx="8915400" cy="845332"/>
          </a:xfrm>
        </p:spPr>
        <p:txBody>
          <a:bodyPr>
            <a:normAutofit/>
          </a:bodyPr>
          <a:lstStyle/>
          <a:p>
            <a:r>
              <a:rPr lang="en-ZA" sz="4000" dirty="0"/>
              <a:t>Vectors – Entering Data Vectors</a:t>
            </a:r>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12" name="TextBox 11"/>
          <p:cNvSpPr txBox="1"/>
          <p:nvPr/>
        </p:nvSpPr>
        <p:spPr>
          <a:xfrm>
            <a:off x="694411" y="1287205"/>
            <a:ext cx="8552329" cy="70788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Creating a data vector, one will use the </a:t>
            </a:r>
            <a:r>
              <a:rPr lang="en-ZA" sz="2000" b="1" i="1" dirty="0">
                <a:latin typeface="Avenir Next Cyr W04 Regular" panose="020B0503020202020204" pitchFamily="34" charset="0"/>
              </a:rPr>
              <a:t>c function </a:t>
            </a:r>
            <a:r>
              <a:rPr lang="en-ZA" sz="2000" dirty="0">
                <a:latin typeface="Avenir Next Cyr W04 Regular" panose="020B0503020202020204" pitchFamily="34" charset="0"/>
              </a:rPr>
              <a:t>which is placed before the first parentheses. The </a:t>
            </a:r>
            <a:r>
              <a:rPr lang="en-ZA" sz="2000" b="1" i="1" dirty="0">
                <a:latin typeface="Avenir Next Cyr W04 Regular" panose="020B0503020202020204" pitchFamily="34" charset="0"/>
              </a:rPr>
              <a:t>c function </a:t>
            </a:r>
            <a:r>
              <a:rPr lang="en-ZA" sz="2000" dirty="0">
                <a:latin typeface="Avenir Next Cyr W04 Regular" panose="020B0503020202020204" pitchFamily="34" charset="0"/>
              </a:rPr>
              <a:t>is short for Concatenate.</a:t>
            </a:r>
          </a:p>
        </p:txBody>
      </p:sp>
      <p:pic>
        <p:nvPicPr>
          <p:cNvPr id="3" name="Picture 2"/>
          <p:cNvPicPr>
            <a:picLocks noChangeAspect="1"/>
          </p:cNvPicPr>
          <p:nvPr/>
        </p:nvPicPr>
        <p:blipFill rotWithShape="1">
          <a:blip r:embed="rId5"/>
          <a:srcRect l="490" t="23093" r="80073" b="69459"/>
          <a:stretch/>
        </p:blipFill>
        <p:spPr>
          <a:xfrm>
            <a:off x="2579322" y="2101884"/>
            <a:ext cx="4782508" cy="914400"/>
          </a:xfrm>
          <a:prstGeom prst="rect">
            <a:avLst/>
          </a:prstGeom>
        </p:spPr>
      </p:pic>
      <p:sp>
        <p:nvSpPr>
          <p:cNvPr id="13" name="TextBox 12"/>
          <p:cNvSpPr txBox="1"/>
          <p:nvPr/>
        </p:nvSpPr>
        <p:spPr>
          <a:xfrm>
            <a:off x="694411" y="3123078"/>
            <a:ext cx="8552329" cy="132343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 </a:t>
            </a:r>
            <a:r>
              <a:rPr lang="en-ZA" sz="2000" b="1" i="1" dirty="0">
                <a:latin typeface="Avenir Next Cyr W04 Regular" panose="020B0503020202020204" pitchFamily="34" charset="0"/>
              </a:rPr>
              <a:t>scan() function </a:t>
            </a:r>
            <a:r>
              <a:rPr lang="en-ZA" sz="2000" dirty="0">
                <a:latin typeface="Avenir Next Cyr W04 Regular" panose="020B0503020202020204" pitchFamily="34" charset="0"/>
              </a:rPr>
              <a:t>is useful when you have data stored somewhere else. </a:t>
            </a:r>
            <a:r>
              <a:rPr lang="en-ZA" sz="2000" b="1" dirty="0">
                <a:latin typeface="Avenir Next Cyr W04 Regular" panose="020B0503020202020204" pitchFamily="34" charset="0"/>
              </a:rPr>
              <a:t>Note;</a:t>
            </a:r>
            <a:r>
              <a:rPr lang="en-ZA" sz="2000" dirty="0">
                <a:latin typeface="Avenir Next Cyr W04 Regular" panose="020B0503020202020204" pitchFamily="34" charset="0"/>
              </a:rPr>
              <a:t> when entering an empty line, the scan will stop and if you have a spreadsheet of data; you may enter all in line “1:” and it will sequentially add the next value to the next display point.</a:t>
            </a:r>
          </a:p>
        </p:txBody>
      </p:sp>
      <p:pic>
        <p:nvPicPr>
          <p:cNvPr id="7" name="Picture 6"/>
          <p:cNvPicPr>
            <a:picLocks noChangeAspect="1"/>
          </p:cNvPicPr>
          <p:nvPr/>
        </p:nvPicPr>
        <p:blipFill rotWithShape="1">
          <a:blip r:embed="rId6"/>
          <a:srcRect l="544" t="30773" r="90230" b="51780"/>
          <a:stretch/>
        </p:blipFill>
        <p:spPr>
          <a:xfrm>
            <a:off x="1152304" y="4553311"/>
            <a:ext cx="2109574" cy="1703400"/>
          </a:xfrm>
          <a:prstGeom prst="rect">
            <a:avLst/>
          </a:prstGeom>
        </p:spPr>
      </p:pic>
      <p:sp>
        <p:nvSpPr>
          <p:cNvPr id="11" name="Rectangle 10"/>
          <p:cNvSpPr/>
          <p:nvPr/>
        </p:nvSpPr>
        <p:spPr>
          <a:xfrm>
            <a:off x="2490151" y="2071887"/>
            <a:ext cx="4871679" cy="944397"/>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1152304" y="4553311"/>
            <a:ext cx="1828107" cy="17034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p:cNvSpPr txBox="1"/>
          <p:nvPr/>
        </p:nvSpPr>
        <p:spPr>
          <a:xfrm>
            <a:off x="3132811" y="4458387"/>
            <a:ext cx="5540134" cy="132343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Once you get to the </a:t>
            </a:r>
            <a:r>
              <a:rPr lang="en-ZA" sz="2000" b="1" i="1" dirty="0">
                <a:latin typeface="Avenir Next Cyr W04 Regular" panose="020B0503020202020204" pitchFamily="34" charset="0"/>
              </a:rPr>
              <a:t>6</a:t>
            </a:r>
            <a:r>
              <a:rPr lang="en-ZA" sz="2000" b="1" i="1" baseline="30000" dirty="0">
                <a:latin typeface="Avenir Next Cyr W04 Regular" panose="020B0503020202020204" pitchFamily="34" charset="0"/>
              </a:rPr>
              <a:t>th</a:t>
            </a:r>
            <a:r>
              <a:rPr lang="en-ZA" sz="2000" dirty="0">
                <a:latin typeface="Avenir Next Cyr W04 Regular" panose="020B0503020202020204" pitchFamily="34" charset="0"/>
              </a:rPr>
              <a:t> entry, all you have to do is press enter and R will understand that you want to read in 5 items or observations.</a:t>
            </a:r>
          </a:p>
        </p:txBody>
      </p:sp>
    </p:spTree>
    <p:extLst>
      <p:ext uri="{BB962C8B-B14F-4D97-AF65-F5344CB8AC3E}">
        <p14:creationId xmlns:p14="http://schemas.microsoft.com/office/powerpoint/2010/main" val="1927668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31837" y="324226"/>
            <a:ext cx="1383198" cy="865327"/>
          </a:xfrm>
          <a:prstGeom prst="rect">
            <a:avLst/>
          </a:prstGeom>
        </p:spPr>
      </p:pic>
      <p:sp>
        <p:nvSpPr>
          <p:cNvPr id="7" name="Title 1"/>
          <p:cNvSpPr>
            <a:spLocks noGrp="1"/>
          </p:cNvSpPr>
          <p:nvPr>
            <p:ph type="title"/>
          </p:nvPr>
        </p:nvSpPr>
        <p:spPr>
          <a:xfrm>
            <a:off x="269436" y="462915"/>
            <a:ext cx="8915400" cy="845332"/>
          </a:xfrm>
        </p:spPr>
        <p:txBody>
          <a:bodyPr>
            <a:normAutofit fontScale="90000"/>
          </a:bodyPr>
          <a:lstStyle/>
          <a:p>
            <a:r>
              <a:rPr lang="en-ZA" sz="4000" dirty="0"/>
              <a:t>Vectors - Entering Data </a:t>
            </a:r>
            <a:br>
              <a:rPr lang="en-ZA" sz="4000" dirty="0"/>
            </a:br>
            <a:r>
              <a:rPr lang="en-ZA" sz="4000" dirty="0"/>
              <a:t>Vectors Cont.</a:t>
            </a:r>
          </a:p>
        </p:txBody>
      </p:sp>
      <p:sp>
        <p:nvSpPr>
          <p:cNvPr id="8" name="TextBox 7"/>
          <p:cNvSpPr txBox="1"/>
          <p:nvPr/>
        </p:nvSpPr>
        <p:spPr>
          <a:xfrm>
            <a:off x="823436" y="1860792"/>
            <a:ext cx="8552329" cy="1015663"/>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 </a:t>
            </a:r>
            <a:r>
              <a:rPr lang="en-ZA" sz="2000" b="1" i="1" dirty="0" err="1">
                <a:latin typeface="Avenir Next Cyr W04 Regular" panose="020B0503020202020204" pitchFamily="34" charset="0"/>
              </a:rPr>
              <a:t>seq</a:t>
            </a:r>
            <a:r>
              <a:rPr lang="en-ZA" sz="2000" b="1" i="1" dirty="0">
                <a:latin typeface="Avenir Next Cyr W04 Regular" panose="020B0503020202020204" pitchFamily="34" charset="0"/>
              </a:rPr>
              <a:t> function </a:t>
            </a:r>
            <a:r>
              <a:rPr lang="en-ZA" sz="2000" dirty="0">
                <a:latin typeface="Avenir Next Cyr W04 Regular" panose="020B0503020202020204" pitchFamily="34" charset="0"/>
              </a:rPr>
              <a:t>allows one to generate a sequence of numbers or values. Within the </a:t>
            </a:r>
            <a:r>
              <a:rPr lang="en-ZA" sz="2000" b="1" i="1" dirty="0" err="1">
                <a:latin typeface="Avenir Next Cyr W04 Regular" panose="020B0503020202020204" pitchFamily="34" charset="0"/>
              </a:rPr>
              <a:t>seq</a:t>
            </a:r>
            <a:r>
              <a:rPr lang="en-ZA" sz="2000" b="1" i="1" dirty="0">
                <a:latin typeface="Avenir Next Cyr W04 Regular" panose="020B0503020202020204" pitchFamily="34" charset="0"/>
              </a:rPr>
              <a:t> function </a:t>
            </a:r>
            <a:r>
              <a:rPr lang="en-ZA" sz="2000" dirty="0">
                <a:latin typeface="Avenir Next Cyr W04 Regular" panose="020B0503020202020204" pitchFamily="34" charset="0"/>
              </a:rPr>
              <a:t>there are different types of arguments such as </a:t>
            </a:r>
            <a:r>
              <a:rPr lang="en-ZA" sz="2000" b="1" i="1" dirty="0">
                <a:latin typeface="Avenir Next Cyr W04 Regular" panose="020B0503020202020204" pitchFamily="34" charset="0"/>
              </a:rPr>
              <a:t>from, to, by </a:t>
            </a:r>
            <a:r>
              <a:rPr lang="en-ZA" sz="2000" dirty="0">
                <a:latin typeface="Avenir Next Cyr W04 Regular" panose="020B0503020202020204" pitchFamily="34" charset="0"/>
              </a:rPr>
              <a:t>and</a:t>
            </a:r>
            <a:r>
              <a:rPr lang="en-ZA" sz="2000" b="1" i="1" dirty="0">
                <a:latin typeface="Avenir Next Cyr W04 Regular" panose="020B0503020202020204" pitchFamily="34" charset="0"/>
              </a:rPr>
              <a:t> </a:t>
            </a:r>
            <a:r>
              <a:rPr lang="en-ZA" sz="2000" b="1" i="1" dirty="0" err="1">
                <a:latin typeface="Avenir Next Cyr W04 Regular" panose="020B0503020202020204" pitchFamily="34" charset="0"/>
              </a:rPr>
              <a:t>length.out</a:t>
            </a:r>
            <a:r>
              <a:rPr lang="en-ZA" sz="2000" dirty="0">
                <a:latin typeface="Avenir Next Cyr W04 Regular" panose="020B0503020202020204" pitchFamily="34" charset="0"/>
              </a:rPr>
              <a:t>.</a:t>
            </a:r>
          </a:p>
        </p:txBody>
      </p:sp>
      <p:pic>
        <p:nvPicPr>
          <p:cNvPr id="3" name="Picture 2"/>
          <p:cNvPicPr>
            <a:picLocks noChangeAspect="1"/>
          </p:cNvPicPr>
          <p:nvPr/>
        </p:nvPicPr>
        <p:blipFill>
          <a:blip r:embed="rId4"/>
          <a:stretch>
            <a:fillRect/>
          </a:stretch>
        </p:blipFill>
        <p:spPr>
          <a:xfrm>
            <a:off x="131837" y="3429000"/>
            <a:ext cx="9686925" cy="1714500"/>
          </a:xfrm>
          <a:prstGeom prst="rect">
            <a:avLst/>
          </a:prstGeom>
        </p:spPr>
      </p:pic>
      <p:sp>
        <p:nvSpPr>
          <p:cNvPr id="11" name="Rectangle 10"/>
          <p:cNvSpPr/>
          <p:nvPr/>
        </p:nvSpPr>
        <p:spPr>
          <a:xfrm>
            <a:off x="131837" y="3429000"/>
            <a:ext cx="9686925" cy="173701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3810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1837" y="324226"/>
            <a:ext cx="1383198" cy="865327"/>
          </a:xfrm>
          <a:prstGeom prst="rect">
            <a:avLst/>
          </a:prstGeom>
        </p:spPr>
      </p:pic>
      <p:sp>
        <p:nvSpPr>
          <p:cNvPr id="4" name="Title 1"/>
          <p:cNvSpPr>
            <a:spLocks noGrp="1"/>
          </p:cNvSpPr>
          <p:nvPr>
            <p:ph type="title"/>
          </p:nvPr>
        </p:nvSpPr>
        <p:spPr>
          <a:xfrm>
            <a:off x="269436" y="324226"/>
            <a:ext cx="8915400" cy="845332"/>
          </a:xfrm>
        </p:spPr>
        <p:txBody>
          <a:bodyPr>
            <a:normAutofit/>
          </a:bodyPr>
          <a:lstStyle/>
          <a:p>
            <a:r>
              <a:rPr lang="en-ZA" sz="4000" dirty="0"/>
              <a:t>Vectors – Indexing data vectors</a:t>
            </a:r>
          </a:p>
        </p:txBody>
      </p:sp>
      <p:sp>
        <p:nvSpPr>
          <p:cNvPr id="5" name="TextBox 4"/>
          <p:cNvSpPr txBox="1"/>
          <p:nvPr/>
        </p:nvSpPr>
        <p:spPr>
          <a:xfrm>
            <a:off x="823436" y="1340712"/>
            <a:ext cx="8552329" cy="163121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Indexing can be used to retrieve certain values from a data vector.</a:t>
            </a:r>
          </a:p>
          <a:p>
            <a:endParaRPr lang="en-ZA" sz="2000" dirty="0">
              <a:latin typeface="Avenir Next Cyr W04 Regular" panose="020B0503020202020204" pitchFamily="34" charset="0"/>
            </a:endParaRPr>
          </a:p>
          <a:p>
            <a:pPr marL="285750" indent="-285750">
              <a:buFont typeface="Arial" panose="020B0604020202020204" pitchFamily="34" charset="0"/>
              <a:buChar char="•"/>
            </a:pPr>
            <a:r>
              <a:rPr lang="en-ZA" sz="2000" dirty="0">
                <a:latin typeface="Avenir Next Cyr W04 Regular" panose="020B0503020202020204" pitchFamily="34" charset="0"/>
              </a:rPr>
              <a:t>A pre-existing data vector can be used if it was assigned an object name. Otherwise in order to use indexing a vector needs to be created.</a:t>
            </a:r>
          </a:p>
        </p:txBody>
      </p:sp>
      <p:pic>
        <p:nvPicPr>
          <p:cNvPr id="8" name="Picture 7"/>
          <p:cNvPicPr>
            <a:picLocks noChangeAspect="1"/>
          </p:cNvPicPr>
          <p:nvPr/>
        </p:nvPicPr>
        <p:blipFill>
          <a:blip r:embed="rId4"/>
          <a:stretch>
            <a:fillRect/>
          </a:stretch>
        </p:blipFill>
        <p:spPr>
          <a:xfrm>
            <a:off x="823436" y="3571441"/>
            <a:ext cx="7448550" cy="2181225"/>
          </a:xfrm>
          <a:prstGeom prst="rect">
            <a:avLst/>
          </a:prstGeom>
        </p:spPr>
      </p:pic>
      <p:sp>
        <p:nvSpPr>
          <p:cNvPr id="9" name="Rectangle 8"/>
          <p:cNvSpPr/>
          <p:nvPr/>
        </p:nvSpPr>
        <p:spPr>
          <a:xfrm>
            <a:off x="823437" y="3564514"/>
            <a:ext cx="7448550" cy="218815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8707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1837" y="324226"/>
            <a:ext cx="1383198" cy="865327"/>
          </a:xfrm>
          <a:prstGeom prst="rect">
            <a:avLst/>
          </a:prstGeom>
        </p:spPr>
      </p:pic>
      <p:sp>
        <p:nvSpPr>
          <p:cNvPr id="4" name="Title 1"/>
          <p:cNvSpPr>
            <a:spLocks noGrp="1"/>
          </p:cNvSpPr>
          <p:nvPr>
            <p:ph type="title"/>
          </p:nvPr>
        </p:nvSpPr>
        <p:spPr>
          <a:xfrm>
            <a:off x="269436" y="324226"/>
            <a:ext cx="8915400" cy="845332"/>
          </a:xfrm>
        </p:spPr>
        <p:txBody>
          <a:bodyPr>
            <a:normAutofit fontScale="90000"/>
          </a:bodyPr>
          <a:lstStyle/>
          <a:p>
            <a:r>
              <a:rPr lang="en-ZA" sz="4000" dirty="0"/>
              <a:t>Vectors – </a:t>
            </a:r>
            <a:br>
              <a:rPr lang="en-ZA" sz="4000" dirty="0"/>
            </a:br>
            <a:r>
              <a:rPr lang="en-ZA" sz="4000" dirty="0"/>
              <a:t>Functions and Expressions</a:t>
            </a:r>
          </a:p>
        </p:txBody>
      </p:sp>
      <p:pic>
        <p:nvPicPr>
          <p:cNvPr id="5" name="Picture 4"/>
          <p:cNvPicPr>
            <a:picLocks noChangeAspect="1"/>
          </p:cNvPicPr>
          <p:nvPr/>
        </p:nvPicPr>
        <p:blipFill rotWithShape="1">
          <a:blip r:embed="rId4"/>
          <a:srcRect l="536" t="10912" r="90922" b="66923"/>
          <a:stretch/>
        </p:blipFill>
        <p:spPr>
          <a:xfrm>
            <a:off x="4231836" y="2378226"/>
            <a:ext cx="2018089" cy="2662160"/>
          </a:xfrm>
          <a:prstGeom prst="rect">
            <a:avLst/>
          </a:prstGeom>
        </p:spPr>
      </p:pic>
      <p:sp>
        <p:nvSpPr>
          <p:cNvPr id="6" name="TextBox 5"/>
          <p:cNvSpPr txBox="1"/>
          <p:nvPr/>
        </p:nvSpPr>
        <p:spPr>
          <a:xfrm>
            <a:off x="823436" y="1362563"/>
            <a:ext cx="8552329" cy="1015663"/>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These functions takes arguments as inputs and returns an object as an output. Below are a few basic summary statistics; such as the min, mean and standard deviation.</a:t>
            </a:r>
          </a:p>
        </p:txBody>
      </p:sp>
      <p:sp>
        <p:nvSpPr>
          <p:cNvPr id="7" name="TextBox 6"/>
          <p:cNvSpPr txBox="1"/>
          <p:nvPr/>
        </p:nvSpPr>
        <p:spPr>
          <a:xfrm>
            <a:off x="823436" y="5031349"/>
            <a:ext cx="8552329" cy="132343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If there are specific functions that you would like to see how its been calculated; one can do so by entering the function without parentheses or arguments. Example; type what's in the “ ”. </a:t>
            </a:r>
            <a:r>
              <a:rPr lang="en-ZA" sz="2000" b="1" i="1" dirty="0">
                <a:latin typeface="Avenir Next Cyr W04 Regular" panose="020B0503020202020204" pitchFamily="34" charset="0"/>
              </a:rPr>
              <a:t>“mean” </a:t>
            </a:r>
            <a:r>
              <a:rPr lang="en-ZA" sz="2000" dirty="0">
                <a:latin typeface="Avenir Next Cyr W04 Regular" panose="020B0503020202020204" pitchFamily="34" charset="0"/>
              </a:rPr>
              <a:t>or </a:t>
            </a:r>
            <a:r>
              <a:rPr lang="en-ZA" sz="2000" b="1" i="1" dirty="0">
                <a:latin typeface="Avenir Next Cyr W04 Regular" panose="020B0503020202020204" pitchFamily="34" charset="0"/>
              </a:rPr>
              <a:t>“</a:t>
            </a:r>
            <a:r>
              <a:rPr lang="en-ZA" sz="2000" b="1" i="1" dirty="0" err="1">
                <a:latin typeface="Avenir Next Cyr W04 Regular" panose="020B0503020202020204" pitchFamily="34" charset="0"/>
              </a:rPr>
              <a:t>sd</a:t>
            </a:r>
            <a:r>
              <a:rPr lang="en-ZA" sz="2000" b="1" i="1" dirty="0">
                <a:latin typeface="Avenir Next Cyr W04 Regular" panose="020B0503020202020204" pitchFamily="34" charset="0"/>
              </a:rPr>
              <a:t>”</a:t>
            </a:r>
          </a:p>
        </p:txBody>
      </p:sp>
      <p:sp>
        <p:nvSpPr>
          <p:cNvPr id="8" name="Rectangle 7"/>
          <p:cNvSpPr/>
          <p:nvPr/>
        </p:nvSpPr>
        <p:spPr>
          <a:xfrm>
            <a:off x="4106964" y="2415359"/>
            <a:ext cx="1476418" cy="261599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7741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mplate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281"/>
            <a:ext cx="9906001" cy="6858000"/>
          </a:xfrm>
          <a:prstGeom prst="rect">
            <a:avLst/>
          </a:prstGeom>
        </p:spPr>
      </p:pic>
      <p:sp>
        <p:nvSpPr>
          <p:cNvPr id="5" name="Title 1"/>
          <p:cNvSpPr txBox="1">
            <a:spLocks/>
          </p:cNvSpPr>
          <p:nvPr/>
        </p:nvSpPr>
        <p:spPr>
          <a:xfrm>
            <a:off x="1092200" y="2294281"/>
            <a:ext cx="8013700" cy="333057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r" defTabSz="4572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rgbClr val="A7853E"/>
              </a:solidFill>
              <a:effectLst/>
              <a:uLnTx/>
              <a:uFillTx/>
              <a:latin typeface="Baskerville Old Face" charset="0"/>
              <a:ea typeface="+mj-ea"/>
              <a:cs typeface="+mj-cs"/>
            </a:endParaRPr>
          </a:p>
          <a:p>
            <a:pPr marL="0" marR="0" lvl="0" indent="0" algn="r" defTabSz="4572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rgbClr val="A7853E"/>
              </a:solidFill>
              <a:effectLst/>
              <a:uLnTx/>
              <a:uFillTx/>
              <a:latin typeface="Baskerville Old Face" charset="0"/>
              <a:ea typeface="+mj-ea"/>
              <a:cs typeface="+mj-cs"/>
            </a:endParaRPr>
          </a:p>
          <a:p>
            <a:pPr marL="0" marR="0" lvl="0" indent="0" algn="r" defTabSz="4572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rgbClr val="A7853E"/>
              </a:solidFill>
              <a:effectLst/>
              <a:uLnTx/>
              <a:uFillTx/>
              <a:latin typeface="Baskerville Old Face" charset="0"/>
              <a:ea typeface="+mj-ea"/>
              <a:cs typeface="+mj-cs"/>
            </a:endParaRPr>
          </a:p>
          <a:p>
            <a:pPr marL="0" marR="0" lvl="0" indent="0" algn="r" defTabSz="4572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rgbClr val="A7853E"/>
              </a:solidFill>
              <a:effectLst/>
              <a:uLnTx/>
              <a:uFillTx/>
              <a:latin typeface="Baskerville Old Face" charset="0"/>
              <a:ea typeface="+mj-ea"/>
              <a:cs typeface="+mj-cs"/>
            </a:endParaRPr>
          </a:p>
        </p:txBody>
      </p:sp>
      <p:sp>
        <p:nvSpPr>
          <p:cNvPr id="2" name="Rectangle 1"/>
          <p:cNvSpPr/>
          <p:nvPr/>
        </p:nvSpPr>
        <p:spPr>
          <a:xfrm>
            <a:off x="1092200" y="2874006"/>
            <a:ext cx="7617758" cy="584775"/>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rPr>
              <a:t>Data Description</a:t>
            </a:r>
          </a:p>
        </p:txBody>
      </p:sp>
      <p:sp>
        <p:nvSpPr>
          <p:cNvPr id="8" name="Rectangle 7"/>
          <p:cNvSpPr/>
          <p:nvPr/>
        </p:nvSpPr>
        <p:spPr>
          <a:xfrm>
            <a:off x="980414" y="1999368"/>
            <a:ext cx="7617758" cy="584775"/>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rPr>
              <a:t>Chapter 3</a:t>
            </a:r>
          </a:p>
        </p:txBody>
      </p:sp>
    </p:spTree>
    <p:extLst>
      <p:ext uri="{BB962C8B-B14F-4D97-AF65-F5344CB8AC3E}">
        <p14:creationId xmlns:p14="http://schemas.microsoft.com/office/powerpoint/2010/main" val="231725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1837" y="324226"/>
            <a:ext cx="1383198" cy="865327"/>
          </a:xfrm>
          <a:prstGeom prst="rect">
            <a:avLst/>
          </a:prstGeom>
        </p:spPr>
      </p:pic>
      <p:sp>
        <p:nvSpPr>
          <p:cNvPr id="4" name="Title 1"/>
          <p:cNvSpPr>
            <a:spLocks noGrp="1"/>
          </p:cNvSpPr>
          <p:nvPr>
            <p:ph type="title"/>
          </p:nvPr>
        </p:nvSpPr>
        <p:spPr>
          <a:xfrm>
            <a:off x="269436" y="324226"/>
            <a:ext cx="8915400" cy="845332"/>
          </a:xfrm>
        </p:spPr>
        <p:txBody>
          <a:bodyPr>
            <a:normAutofit/>
          </a:bodyPr>
          <a:lstStyle/>
          <a:p>
            <a:r>
              <a:rPr lang="en-ZA" sz="4000" dirty="0"/>
              <a:t>Types of Data - Quantitative</a:t>
            </a:r>
          </a:p>
        </p:txBody>
      </p:sp>
      <p:sp>
        <p:nvSpPr>
          <p:cNvPr id="6" name="TextBox 5"/>
          <p:cNvSpPr txBox="1"/>
          <p:nvPr/>
        </p:nvSpPr>
        <p:spPr>
          <a:xfrm>
            <a:off x="823436" y="1340712"/>
            <a:ext cx="8552329" cy="70788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Quantitative data are any data that measure or are associated with a measurement of the quantity of something. </a:t>
            </a:r>
            <a:r>
              <a:rPr lang="en-ZA" sz="2000" dirty="0" err="1">
                <a:latin typeface="Avenir Next Cyr W04 Regular" panose="020B0503020202020204" pitchFamily="34" charset="0"/>
              </a:rPr>
              <a:t>Eg</a:t>
            </a:r>
            <a:r>
              <a:rPr lang="en-ZA" sz="2000" dirty="0">
                <a:latin typeface="Avenir Next Cyr W04 Regular" panose="020B0503020202020204" pitchFamily="34" charset="0"/>
              </a:rPr>
              <a:t>; Numerical Values</a:t>
            </a:r>
          </a:p>
        </p:txBody>
      </p:sp>
      <p:sp>
        <p:nvSpPr>
          <p:cNvPr id="7" name="TextBox 6"/>
          <p:cNvSpPr txBox="1"/>
          <p:nvPr/>
        </p:nvSpPr>
        <p:spPr>
          <a:xfrm>
            <a:off x="823435" y="2254193"/>
            <a:ext cx="8552329" cy="70788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Quantitative data are sub-divided into two categories namely; Discrete and Continuous data.</a:t>
            </a:r>
          </a:p>
        </p:txBody>
      </p:sp>
      <p:sp>
        <p:nvSpPr>
          <p:cNvPr id="8" name="TextBox 7"/>
          <p:cNvSpPr txBox="1"/>
          <p:nvPr/>
        </p:nvSpPr>
        <p:spPr>
          <a:xfrm>
            <a:off x="823436" y="3199973"/>
            <a:ext cx="8552329" cy="70788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Discrete Data – takes on values in a finite or countably infinite set of numbers; </a:t>
            </a:r>
            <a:r>
              <a:rPr lang="en-ZA" sz="2000" dirty="0" err="1">
                <a:latin typeface="Avenir Next Cyr W04 Regular" panose="020B0503020202020204" pitchFamily="34" charset="0"/>
              </a:rPr>
              <a:t>Eg</a:t>
            </a:r>
            <a:r>
              <a:rPr lang="en-ZA" sz="2000" dirty="0">
                <a:latin typeface="Avenir Next Cyr W04 Regular" panose="020B0503020202020204" pitchFamily="34" charset="0"/>
              </a:rPr>
              <a:t>; 1,2,3, etc…</a:t>
            </a:r>
          </a:p>
        </p:txBody>
      </p:sp>
      <p:sp>
        <p:nvSpPr>
          <p:cNvPr id="9" name="TextBox 8"/>
          <p:cNvSpPr txBox="1"/>
          <p:nvPr/>
        </p:nvSpPr>
        <p:spPr>
          <a:xfrm>
            <a:off x="823436" y="4145753"/>
            <a:ext cx="8552329" cy="1015663"/>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Continuous Data – takes on values in an interval of numbers. These are also known as measurement, scale or interval data. </a:t>
            </a:r>
            <a:r>
              <a:rPr lang="en-ZA" sz="2000" dirty="0" err="1">
                <a:latin typeface="Avenir Next Cyr W04 Regular" panose="020B0503020202020204" pitchFamily="34" charset="0"/>
              </a:rPr>
              <a:t>Eg</a:t>
            </a:r>
            <a:r>
              <a:rPr lang="en-ZA" sz="2000" dirty="0">
                <a:latin typeface="Avenir Next Cyr W04 Regular" panose="020B0503020202020204" pitchFamily="34" charset="0"/>
              </a:rPr>
              <a:t>; Height, Weight, Length or Time.</a:t>
            </a:r>
          </a:p>
        </p:txBody>
      </p:sp>
      <p:sp>
        <p:nvSpPr>
          <p:cNvPr id="10" name="TextBox 9"/>
          <p:cNvSpPr txBox="1"/>
          <p:nvPr/>
        </p:nvSpPr>
        <p:spPr>
          <a:xfrm>
            <a:off x="5395435" y="6044282"/>
            <a:ext cx="4732238" cy="323165"/>
          </a:xfrm>
          <a:prstGeom prst="rect">
            <a:avLst/>
          </a:prstGeom>
          <a:noFill/>
        </p:spPr>
        <p:txBody>
          <a:bodyPr wrap="square" rtlCol="0">
            <a:spAutoFit/>
          </a:bodyPr>
          <a:lstStyle/>
          <a:p>
            <a:pPr marL="285750" indent="-285750">
              <a:buFont typeface="Arial" panose="020B0604020202020204" pitchFamily="34" charset="0"/>
              <a:buChar char="•"/>
            </a:pPr>
            <a:r>
              <a:rPr lang="en-ZA" sz="1500" dirty="0">
                <a:latin typeface="Avenir Next Cyr W04 Regular" panose="020B0503020202020204" pitchFamily="34" charset="0"/>
              </a:rPr>
              <a:t>Example 3.1: Annual Precipitation in US Cities</a:t>
            </a:r>
          </a:p>
        </p:txBody>
      </p:sp>
    </p:spTree>
    <p:extLst>
      <p:ext uri="{BB962C8B-B14F-4D97-AF65-F5344CB8AC3E}">
        <p14:creationId xmlns:p14="http://schemas.microsoft.com/office/powerpoint/2010/main" val="1762771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4" name="Title 1"/>
          <p:cNvSpPr>
            <a:spLocks noGrp="1"/>
          </p:cNvSpPr>
          <p:nvPr>
            <p:ph type="title"/>
          </p:nvPr>
        </p:nvSpPr>
        <p:spPr>
          <a:xfrm>
            <a:off x="269436" y="324226"/>
            <a:ext cx="8915400" cy="845332"/>
          </a:xfrm>
        </p:spPr>
        <p:txBody>
          <a:bodyPr>
            <a:normAutofit/>
          </a:bodyPr>
          <a:lstStyle/>
          <a:p>
            <a:r>
              <a:rPr lang="en-ZA" sz="4000" dirty="0"/>
              <a:t>Types of Data - Quantitative</a:t>
            </a:r>
          </a:p>
        </p:txBody>
      </p:sp>
      <p:sp>
        <p:nvSpPr>
          <p:cNvPr id="10" name="TextBox 9"/>
          <p:cNvSpPr txBox="1"/>
          <p:nvPr/>
        </p:nvSpPr>
        <p:spPr>
          <a:xfrm>
            <a:off x="5395435" y="6044282"/>
            <a:ext cx="4732238" cy="3231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Example 3.1: Annual Precipitation in US Cities</a:t>
            </a:r>
          </a:p>
        </p:txBody>
      </p:sp>
      <p:pic>
        <p:nvPicPr>
          <p:cNvPr id="3" name="Picture 2"/>
          <p:cNvPicPr>
            <a:picLocks noChangeAspect="1"/>
          </p:cNvPicPr>
          <p:nvPr/>
        </p:nvPicPr>
        <p:blipFill>
          <a:blip r:embed="rId5"/>
          <a:stretch>
            <a:fillRect/>
          </a:stretch>
        </p:blipFill>
        <p:spPr>
          <a:xfrm>
            <a:off x="1968515" y="3686844"/>
            <a:ext cx="5972175" cy="942975"/>
          </a:xfrm>
          <a:prstGeom prst="rect">
            <a:avLst/>
          </a:prstGeom>
        </p:spPr>
      </p:pic>
      <p:sp>
        <p:nvSpPr>
          <p:cNvPr id="11" name="TextBox 10"/>
          <p:cNvSpPr txBox="1"/>
          <p:nvPr/>
        </p:nvSpPr>
        <p:spPr>
          <a:xfrm>
            <a:off x="678439" y="1421215"/>
            <a:ext cx="8552329" cy="224676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 output shows that </a:t>
            </a:r>
            <a:r>
              <a:rPr lang="en-ZA" sz="2000" dirty="0" err="1">
                <a:latin typeface="Avenir Next Cyr W04 Regular" panose="020B0503020202020204" pitchFamily="34" charset="0"/>
              </a:rPr>
              <a:t>precip</a:t>
            </a:r>
            <a:r>
              <a:rPr lang="en-ZA" sz="2000" dirty="0">
                <a:latin typeface="Avenir Next Cyr W04 Regular" panose="020B0503020202020204" pitchFamily="34" charset="0"/>
              </a:rPr>
              <a:t> is a numeric vector which has been named.</a:t>
            </a:r>
          </a:p>
          <a:p>
            <a:pPr marL="285750" indent="-285750">
              <a:buFont typeface="Arial" panose="020B0604020202020204" pitchFamily="34" charset="0"/>
              <a:buChar char="•"/>
            </a:pPr>
            <a:r>
              <a:rPr lang="en-ZA" sz="2000" dirty="0">
                <a:latin typeface="Avenir Next Cyr W04 Regular" panose="020B0503020202020204" pitchFamily="34" charset="0"/>
              </a:rPr>
              <a:t>Named </a:t>
            </a:r>
            <a:r>
              <a:rPr lang="en-ZA" sz="2000" dirty="0" err="1">
                <a:latin typeface="Avenir Next Cyr W04 Regular" panose="020B0503020202020204" pitchFamily="34" charset="0"/>
              </a:rPr>
              <a:t>num</a:t>
            </a:r>
            <a:r>
              <a:rPr lang="en-ZA" sz="2000" dirty="0">
                <a:latin typeface="Avenir Next Cyr W04 Regular" panose="020B0503020202020204" pitchFamily="34" charset="0"/>
              </a:rPr>
              <a:t> [1:70] – indicates that there are 70 observations with </a:t>
            </a:r>
            <a:r>
              <a:rPr lang="en-ZA" sz="2000" dirty="0" err="1">
                <a:latin typeface="Avenir Next Cyr W04 Regular" panose="020B0503020202020204" pitchFamily="34" charset="0"/>
              </a:rPr>
              <a:t>with</a:t>
            </a:r>
            <a:r>
              <a:rPr lang="en-ZA" sz="2000" dirty="0">
                <a:latin typeface="Avenir Next Cyr W04 Regular" panose="020B0503020202020204" pitchFamily="34" charset="0"/>
              </a:rPr>
              <a:t> each city provided with an attributed name.</a:t>
            </a:r>
          </a:p>
          <a:p>
            <a:pPr marL="285750" indent="-285750">
              <a:buFont typeface="Arial" panose="020B0604020202020204" pitchFamily="34" charset="0"/>
              <a:buChar char="•"/>
            </a:pPr>
            <a:r>
              <a:rPr lang="en-ZA" sz="2000" dirty="0" err="1">
                <a:latin typeface="Avenir Next Cyr W04 Regular" panose="020B0503020202020204" pitchFamily="34" charset="0"/>
              </a:rPr>
              <a:t>precip</a:t>
            </a:r>
            <a:r>
              <a:rPr lang="en-ZA" sz="2000" dirty="0">
                <a:latin typeface="Avenir Next Cyr W04 Regular" panose="020B0503020202020204" pitchFamily="34" charset="0"/>
              </a:rPr>
              <a:t>[1:4] – indicates that we would like to see only the first 4 Cities </a:t>
            </a:r>
            <a:r>
              <a:rPr lang="en-ZA" sz="2000" dirty="0" err="1">
                <a:latin typeface="Avenir Next Cyr W04 Regular" panose="020B0503020202020204" pitchFamily="34" charset="0"/>
              </a:rPr>
              <a:t>precip</a:t>
            </a:r>
            <a:r>
              <a:rPr lang="en-ZA" sz="2000" dirty="0">
                <a:latin typeface="Avenir Next Cyr W04 Regular" panose="020B0503020202020204" pitchFamily="34" charset="0"/>
              </a:rPr>
              <a:t> values that are in the data vector. These values are continuous in nature.</a:t>
            </a:r>
          </a:p>
        </p:txBody>
      </p:sp>
      <p:sp>
        <p:nvSpPr>
          <p:cNvPr id="12" name="TextBox 11"/>
          <p:cNvSpPr txBox="1"/>
          <p:nvPr/>
        </p:nvSpPr>
        <p:spPr>
          <a:xfrm>
            <a:off x="823436" y="4747364"/>
            <a:ext cx="8552329" cy="70788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If you want to see the whole data vector; type “&gt;</a:t>
            </a:r>
            <a:r>
              <a:rPr lang="en-ZA" sz="2000" dirty="0" err="1">
                <a:latin typeface="Avenir Next Cyr W04 Regular" panose="020B0503020202020204" pitchFamily="34" charset="0"/>
              </a:rPr>
              <a:t>precip</a:t>
            </a:r>
            <a:r>
              <a:rPr lang="en-ZA" sz="2000" dirty="0">
                <a:latin typeface="Avenir Next Cyr W04 Regular" panose="020B0503020202020204" pitchFamily="34" charset="0"/>
              </a:rPr>
              <a:t>” and it will display the entire data vector.</a:t>
            </a:r>
          </a:p>
        </p:txBody>
      </p:sp>
      <p:sp>
        <p:nvSpPr>
          <p:cNvPr id="13" name="Rectangle 12"/>
          <p:cNvSpPr/>
          <p:nvPr/>
        </p:nvSpPr>
        <p:spPr>
          <a:xfrm>
            <a:off x="1968515" y="3664513"/>
            <a:ext cx="5972175" cy="94297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6992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4" name="Title 1"/>
          <p:cNvSpPr>
            <a:spLocks noGrp="1"/>
          </p:cNvSpPr>
          <p:nvPr>
            <p:ph type="title"/>
          </p:nvPr>
        </p:nvSpPr>
        <p:spPr>
          <a:xfrm>
            <a:off x="645458" y="334223"/>
            <a:ext cx="8915400" cy="845332"/>
          </a:xfrm>
        </p:spPr>
        <p:txBody>
          <a:bodyPr>
            <a:normAutofit/>
          </a:bodyPr>
          <a:lstStyle/>
          <a:p>
            <a:r>
              <a:rPr lang="en-ZA" sz="4000" dirty="0"/>
              <a:t>Types of Data – Quantitative cont.</a:t>
            </a:r>
          </a:p>
        </p:txBody>
      </p:sp>
      <p:sp>
        <p:nvSpPr>
          <p:cNvPr id="6" name="TextBox 5"/>
          <p:cNvSpPr txBox="1"/>
          <p:nvPr/>
        </p:nvSpPr>
        <p:spPr>
          <a:xfrm>
            <a:off x="4771980" y="6044282"/>
            <a:ext cx="5854457" cy="3231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Example 3.2:</a:t>
            </a:r>
            <a:r>
              <a:rPr kumimoji="0" lang="en-ZA" sz="15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Lengths of Major North American Rivers</a:t>
            </a:r>
            <a:endPar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sp>
        <p:nvSpPr>
          <p:cNvPr id="7" name="TextBox 6"/>
          <p:cNvSpPr txBox="1"/>
          <p:nvPr/>
        </p:nvSpPr>
        <p:spPr>
          <a:xfrm>
            <a:off x="678439" y="1421215"/>
            <a:ext cx="8552329" cy="1938992"/>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 output shows that rivers is a numeric vector which has been not been named.</a:t>
            </a:r>
          </a:p>
          <a:p>
            <a:pPr marL="285750" indent="-285750">
              <a:buFont typeface="Arial" panose="020B0604020202020204" pitchFamily="34" charset="0"/>
              <a:buChar char="•"/>
            </a:pPr>
            <a:r>
              <a:rPr lang="en-ZA" sz="2000" dirty="0" err="1">
                <a:latin typeface="Avenir Next Cyr W04 Regular" panose="020B0503020202020204" pitchFamily="34" charset="0"/>
              </a:rPr>
              <a:t>str</a:t>
            </a:r>
            <a:r>
              <a:rPr lang="en-ZA" sz="2000" dirty="0">
                <a:latin typeface="Avenir Next Cyr W04 Regular" panose="020B0503020202020204" pitchFamily="34" charset="0"/>
              </a:rPr>
              <a:t>(rivers) – indicates that there are 141 lengths of rivers that were recorded for this specific data vector of American rivers. This type of data is discrete in nature. But for statistical purposes it’s continuous in nature.</a:t>
            </a:r>
          </a:p>
        </p:txBody>
      </p:sp>
      <p:pic>
        <p:nvPicPr>
          <p:cNvPr id="3" name="Picture 2"/>
          <p:cNvPicPr>
            <a:picLocks noChangeAspect="1"/>
          </p:cNvPicPr>
          <p:nvPr/>
        </p:nvPicPr>
        <p:blipFill>
          <a:blip r:embed="rId5"/>
          <a:stretch>
            <a:fillRect/>
          </a:stretch>
        </p:blipFill>
        <p:spPr>
          <a:xfrm>
            <a:off x="958562" y="3360207"/>
            <a:ext cx="5772150" cy="2657475"/>
          </a:xfrm>
          <a:prstGeom prst="rect">
            <a:avLst/>
          </a:prstGeom>
        </p:spPr>
      </p:pic>
      <p:sp>
        <p:nvSpPr>
          <p:cNvPr id="8" name="Rectangle 7"/>
          <p:cNvSpPr/>
          <p:nvPr/>
        </p:nvSpPr>
        <p:spPr>
          <a:xfrm>
            <a:off x="958562" y="3367120"/>
            <a:ext cx="6315074" cy="265056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5153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1837" y="324226"/>
            <a:ext cx="1383198" cy="865327"/>
          </a:xfrm>
          <a:prstGeom prst="rect">
            <a:avLst/>
          </a:prstGeom>
        </p:spPr>
      </p:pic>
      <p:sp>
        <p:nvSpPr>
          <p:cNvPr id="4" name="Title 1"/>
          <p:cNvSpPr>
            <a:spLocks noGrp="1"/>
          </p:cNvSpPr>
          <p:nvPr>
            <p:ph type="title"/>
          </p:nvPr>
        </p:nvSpPr>
        <p:spPr>
          <a:xfrm>
            <a:off x="269436" y="324226"/>
            <a:ext cx="8915400" cy="845332"/>
          </a:xfrm>
        </p:spPr>
        <p:txBody>
          <a:bodyPr>
            <a:normAutofit/>
          </a:bodyPr>
          <a:lstStyle/>
          <a:p>
            <a:r>
              <a:rPr lang="en-ZA" sz="4000" dirty="0"/>
              <a:t>Displaying - Quantitative Data</a:t>
            </a:r>
          </a:p>
        </p:txBody>
      </p:sp>
      <p:sp>
        <p:nvSpPr>
          <p:cNvPr id="6" name="TextBox 5"/>
          <p:cNvSpPr txBox="1"/>
          <p:nvPr/>
        </p:nvSpPr>
        <p:spPr>
          <a:xfrm>
            <a:off x="823436" y="1383715"/>
            <a:ext cx="8552329" cy="132343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When confronted with Quantitative data, one needs to make some sort of visualization of the data in order to gain insight into the data structure.</a:t>
            </a:r>
          </a:p>
          <a:p>
            <a:pPr marL="285750" indent="-285750">
              <a:buFont typeface="Arial" panose="020B0604020202020204" pitchFamily="34" charset="0"/>
              <a:buChar char="•"/>
            </a:pPr>
            <a:r>
              <a:rPr lang="en-ZA" sz="2000" dirty="0">
                <a:latin typeface="Avenir Next Cyr W04 Regular" panose="020B0503020202020204" pitchFamily="34" charset="0"/>
              </a:rPr>
              <a:t>These are some ways in which one can describe data.</a:t>
            </a:r>
          </a:p>
        </p:txBody>
      </p:sp>
      <p:sp>
        <p:nvSpPr>
          <p:cNvPr id="7" name="TextBox 6"/>
          <p:cNvSpPr txBox="1"/>
          <p:nvPr/>
        </p:nvSpPr>
        <p:spPr>
          <a:xfrm>
            <a:off x="823436" y="2707154"/>
            <a:ext cx="8552329" cy="132343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Strip charts (Also known as Dot Plots) – Can be used for discrete or continuous data. Along the horizontal axis is a numerical scale above which the data values are plotted. This can be done using the </a:t>
            </a:r>
            <a:r>
              <a:rPr lang="en-ZA" sz="2000" b="1" i="1" dirty="0" err="1">
                <a:latin typeface="Avenir Next Cyr W04 Regular" panose="020B0503020202020204" pitchFamily="34" charset="0"/>
              </a:rPr>
              <a:t>stripchart</a:t>
            </a:r>
            <a:r>
              <a:rPr lang="en-ZA" sz="2000" b="1" i="1" dirty="0">
                <a:latin typeface="Avenir Next Cyr W04 Regular" panose="020B0503020202020204" pitchFamily="34" charset="0"/>
              </a:rPr>
              <a:t> function</a:t>
            </a:r>
            <a:r>
              <a:rPr lang="en-ZA" sz="2000" dirty="0">
                <a:latin typeface="Avenir Next Cyr W04 Regular" panose="020B0503020202020204" pitchFamily="34" charset="0"/>
              </a:rPr>
              <a:t>.</a:t>
            </a:r>
          </a:p>
        </p:txBody>
      </p:sp>
      <p:sp>
        <p:nvSpPr>
          <p:cNvPr id="8" name="TextBox 7"/>
          <p:cNvSpPr txBox="1"/>
          <p:nvPr/>
        </p:nvSpPr>
        <p:spPr>
          <a:xfrm>
            <a:off x="823435" y="4030593"/>
            <a:ext cx="8552329" cy="224676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These are the methods that can be used as displays;</a:t>
            </a:r>
          </a:p>
          <a:p>
            <a:pPr marL="285750" indent="-285750">
              <a:buFont typeface="Arial" panose="020B0604020202020204" pitchFamily="34" charset="0"/>
              <a:buChar char="•"/>
            </a:pPr>
            <a:r>
              <a:rPr lang="en-ZA" sz="2000" b="1" dirty="0" err="1">
                <a:latin typeface="Avenir Next Cyr W04 Regular" panose="020B0503020202020204" pitchFamily="34" charset="0"/>
              </a:rPr>
              <a:t>overplot</a:t>
            </a:r>
            <a:r>
              <a:rPr lang="en-ZA" sz="2000" b="1" dirty="0">
                <a:latin typeface="Avenir Next Cyr W04 Regular" panose="020B0503020202020204" pitchFamily="34" charset="0"/>
              </a:rPr>
              <a:t> – </a:t>
            </a:r>
            <a:r>
              <a:rPr lang="en-ZA" sz="2000" dirty="0">
                <a:latin typeface="Avenir Next Cyr W04 Regular" panose="020B0503020202020204" pitchFamily="34" charset="0"/>
              </a:rPr>
              <a:t>plots ties covering each other. We use it to display distinct values within a dataset.</a:t>
            </a:r>
          </a:p>
          <a:p>
            <a:pPr marL="285750" indent="-285750">
              <a:buFont typeface="Arial" panose="020B0604020202020204" pitchFamily="34" charset="0"/>
              <a:buChar char="•"/>
            </a:pPr>
            <a:r>
              <a:rPr lang="en-ZA" sz="2000" b="1" dirty="0">
                <a:latin typeface="Avenir Next Cyr W04 Regular" panose="020B0503020202020204" pitchFamily="34" charset="0"/>
              </a:rPr>
              <a:t>jitter – </a:t>
            </a:r>
            <a:r>
              <a:rPr lang="en-ZA" sz="2000" dirty="0">
                <a:latin typeface="Avenir Next Cyr W04 Regular" panose="020B0503020202020204" pitchFamily="34" charset="0"/>
              </a:rPr>
              <a:t>adds some noise to the data in the y direction in which case the data values are not covered up by ties.</a:t>
            </a:r>
          </a:p>
          <a:p>
            <a:pPr marL="285750" indent="-285750">
              <a:buFont typeface="Arial" panose="020B0604020202020204" pitchFamily="34" charset="0"/>
              <a:buChar char="•"/>
            </a:pPr>
            <a:r>
              <a:rPr lang="en-ZA" sz="2000" b="1" dirty="0">
                <a:latin typeface="Avenir Next Cyr W04 Regular" panose="020B0503020202020204" pitchFamily="34" charset="0"/>
              </a:rPr>
              <a:t>stack – </a:t>
            </a:r>
            <a:r>
              <a:rPr lang="en-ZA" sz="2000" dirty="0">
                <a:latin typeface="Avenir Next Cyr W04 Regular" panose="020B0503020202020204" pitchFamily="34" charset="0"/>
              </a:rPr>
              <a:t>plots repeated values stacked on top of one another, used for discrete data.</a:t>
            </a:r>
          </a:p>
        </p:txBody>
      </p:sp>
    </p:spTree>
    <p:extLst>
      <p:ext uri="{BB962C8B-B14F-4D97-AF65-F5344CB8AC3E}">
        <p14:creationId xmlns:p14="http://schemas.microsoft.com/office/powerpoint/2010/main" val="2964129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1837" y="324226"/>
            <a:ext cx="1383198" cy="865327"/>
          </a:xfrm>
          <a:prstGeom prst="rect">
            <a:avLst/>
          </a:prstGeom>
        </p:spPr>
      </p:pic>
      <p:sp>
        <p:nvSpPr>
          <p:cNvPr id="4" name="Title 1"/>
          <p:cNvSpPr>
            <a:spLocks noGrp="1"/>
          </p:cNvSpPr>
          <p:nvPr>
            <p:ph type="title"/>
          </p:nvPr>
        </p:nvSpPr>
        <p:spPr>
          <a:xfrm>
            <a:off x="269436" y="324226"/>
            <a:ext cx="8915400" cy="845332"/>
          </a:xfrm>
        </p:spPr>
        <p:txBody>
          <a:bodyPr>
            <a:normAutofit/>
          </a:bodyPr>
          <a:lstStyle/>
          <a:p>
            <a:r>
              <a:rPr lang="en-ZA" sz="4000" dirty="0"/>
              <a:t>Displaying - </a:t>
            </a:r>
            <a:r>
              <a:rPr lang="en-ZA" sz="4000" dirty="0" err="1"/>
              <a:t>Overplot</a:t>
            </a:r>
            <a:endParaRPr lang="en-ZA" sz="4000" dirty="0"/>
          </a:p>
        </p:txBody>
      </p:sp>
      <p:pic>
        <p:nvPicPr>
          <p:cNvPr id="3" name="Picture 2"/>
          <p:cNvPicPr>
            <a:picLocks noChangeAspect="1"/>
          </p:cNvPicPr>
          <p:nvPr/>
        </p:nvPicPr>
        <p:blipFill>
          <a:blip r:embed="rId4"/>
          <a:stretch>
            <a:fillRect/>
          </a:stretch>
        </p:blipFill>
        <p:spPr>
          <a:xfrm>
            <a:off x="2550673" y="1892443"/>
            <a:ext cx="4352925" cy="4486275"/>
          </a:xfrm>
          <a:prstGeom prst="rect">
            <a:avLst/>
          </a:prstGeom>
        </p:spPr>
      </p:pic>
      <p:pic>
        <p:nvPicPr>
          <p:cNvPr id="7" name="Picture 6"/>
          <p:cNvPicPr>
            <a:picLocks noChangeAspect="1"/>
          </p:cNvPicPr>
          <p:nvPr/>
        </p:nvPicPr>
        <p:blipFill>
          <a:blip r:embed="rId5"/>
          <a:stretch>
            <a:fillRect/>
          </a:stretch>
        </p:blipFill>
        <p:spPr>
          <a:xfrm>
            <a:off x="2403035" y="1523132"/>
            <a:ext cx="4648200" cy="352425"/>
          </a:xfrm>
          <a:prstGeom prst="rect">
            <a:avLst/>
          </a:prstGeom>
        </p:spPr>
      </p:pic>
      <p:sp>
        <p:nvSpPr>
          <p:cNvPr id="8" name="Rectangle 7"/>
          <p:cNvSpPr/>
          <p:nvPr/>
        </p:nvSpPr>
        <p:spPr>
          <a:xfrm>
            <a:off x="2217898" y="1413164"/>
            <a:ext cx="5014176" cy="46239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5395435" y="6044282"/>
            <a:ext cx="4732238" cy="3231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Example 3.1: Annual Precipitation in US Cities</a:t>
            </a:r>
          </a:p>
        </p:txBody>
      </p:sp>
    </p:spTree>
    <p:extLst>
      <p:ext uri="{BB962C8B-B14F-4D97-AF65-F5344CB8AC3E}">
        <p14:creationId xmlns:p14="http://schemas.microsoft.com/office/powerpoint/2010/main" val="2796790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4" name="Title 1"/>
          <p:cNvSpPr>
            <a:spLocks noGrp="1"/>
          </p:cNvSpPr>
          <p:nvPr>
            <p:ph type="title"/>
          </p:nvPr>
        </p:nvSpPr>
        <p:spPr>
          <a:xfrm>
            <a:off x="269436" y="324226"/>
            <a:ext cx="8915400" cy="845332"/>
          </a:xfrm>
        </p:spPr>
        <p:txBody>
          <a:bodyPr>
            <a:normAutofit/>
          </a:bodyPr>
          <a:lstStyle/>
          <a:p>
            <a:r>
              <a:rPr lang="en-ZA" sz="4000" dirty="0"/>
              <a:t>Displaying - Jitter</a:t>
            </a:r>
          </a:p>
        </p:txBody>
      </p:sp>
      <p:pic>
        <p:nvPicPr>
          <p:cNvPr id="5" name="Picture 4"/>
          <p:cNvPicPr>
            <a:picLocks noChangeAspect="1"/>
          </p:cNvPicPr>
          <p:nvPr/>
        </p:nvPicPr>
        <p:blipFill>
          <a:blip r:embed="rId5"/>
          <a:stretch>
            <a:fillRect/>
          </a:stretch>
        </p:blipFill>
        <p:spPr>
          <a:xfrm>
            <a:off x="2564961" y="1717530"/>
            <a:ext cx="4324350" cy="4448175"/>
          </a:xfrm>
          <a:prstGeom prst="rect">
            <a:avLst/>
          </a:prstGeom>
        </p:spPr>
      </p:pic>
      <p:pic>
        <p:nvPicPr>
          <p:cNvPr id="6" name="Picture 5"/>
          <p:cNvPicPr>
            <a:picLocks noChangeAspect="1"/>
          </p:cNvPicPr>
          <p:nvPr/>
        </p:nvPicPr>
        <p:blipFill>
          <a:blip r:embed="rId6"/>
          <a:stretch>
            <a:fillRect/>
          </a:stretch>
        </p:blipFill>
        <p:spPr>
          <a:xfrm>
            <a:off x="2564961" y="1298430"/>
            <a:ext cx="4229100" cy="419100"/>
          </a:xfrm>
          <a:prstGeom prst="rect">
            <a:avLst/>
          </a:prstGeom>
        </p:spPr>
      </p:pic>
      <p:sp>
        <p:nvSpPr>
          <p:cNvPr id="7" name="Rectangle 6"/>
          <p:cNvSpPr/>
          <p:nvPr/>
        </p:nvSpPr>
        <p:spPr>
          <a:xfrm>
            <a:off x="2220048" y="1249075"/>
            <a:ext cx="5014176" cy="46239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4771980" y="6044282"/>
            <a:ext cx="5854457" cy="3231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Example 3.2:</a:t>
            </a:r>
            <a:r>
              <a:rPr kumimoji="0" lang="en-ZA" sz="15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Lengths of Major North American Rivers</a:t>
            </a:r>
            <a:endPar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spTree>
    <p:extLst>
      <p:ext uri="{BB962C8B-B14F-4D97-AF65-F5344CB8AC3E}">
        <p14:creationId xmlns:p14="http://schemas.microsoft.com/office/powerpoint/2010/main" val="1463099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4" name="Title 1"/>
          <p:cNvSpPr>
            <a:spLocks noGrp="1"/>
          </p:cNvSpPr>
          <p:nvPr>
            <p:ph type="title"/>
          </p:nvPr>
        </p:nvSpPr>
        <p:spPr>
          <a:xfrm>
            <a:off x="269436" y="324226"/>
            <a:ext cx="8915400" cy="845332"/>
          </a:xfrm>
        </p:spPr>
        <p:txBody>
          <a:bodyPr>
            <a:normAutofit/>
          </a:bodyPr>
          <a:lstStyle/>
          <a:p>
            <a:r>
              <a:rPr lang="en-ZA" sz="4000" dirty="0"/>
              <a:t>Displaying - Stack</a:t>
            </a:r>
          </a:p>
        </p:txBody>
      </p:sp>
      <p:pic>
        <p:nvPicPr>
          <p:cNvPr id="5" name="Picture 4"/>
          <p:cNvPicPr>
            <a:picLocks noChangeAspect="1"/>
          </p:cNvPicPr>
          <p:nvPr/>
        </p:nvPicPr>
        <p:blipFill>
          <a:blip r:embed="rId5"/>
          <a:stretch>
            <a:fillRect/>
          </a:stretch>
        </p:blipFill>
        <p:spPr>
          <a:xfrm>
            <a:off x="2809875" y="1694584"/>
            <a:ext cx="4286250" cy="4438650"/>
          </a:xfrm>
          <a:prstGeom prst="rect">
            <a:avLst/>
          </a:prstGeom>
        </p:spPr>
      </p:pic>
      <p:pic>
        <p:nvPicPr>
          <p:cNvPr id="6" name="Picture 5"/>
          <p:cNvPicPr>
            <a:picLocks noChangeAspect="1"/>
          </p:cNvPicPr>
          <p:nvPr/>
        </p:nvPicPr>
        <p:blipFill>
          <a:blip r:embed="rId6"/>
          <a:stretch>
            <a:fillRect/>
          </a:stretch>
        </p:blipFill>
        <p:spPr>
          <a:xfrm>
            <a:off x="2628900" y="1304059"/>
            <a:ext cx="4648200" cy="390525"/>
          </a:xfrm>
          <a:prstGeom prst="rect">
            <a:avLst/>
          </a:prstGeom>
        </p:spPr>
      </p:pic>
      <p:sp>
        <p:nvSpPr>
          <p:cNvPr id="7" name="Rectangle 6"/>
          <p:cNvSpPr/>
          <p:nvPr/>
        </p:nvSpPr>
        <p:spPr>
          <a:xfrm>
            <a:off x="2445912" y="1189553"/>
            <a:ext cx="5014176" cy="46239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4727136" y="6061837"/>
            <a:ext cx="5411110" cy="3231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Example 3.1: Yearly</a:t>
            </a:r>
            <a:r>
              <a:rPr kumimoji="0" lang="en-ZA" sz="15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Numbers of Important Discoveries</a:t>
            </a:r>
            <a:endPar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spTree>
    <p:extLst>
      <p:ext uri="{BB962C8B-B14F-4D97-AF65-F5344CB8AC3E}">
        <p14:creationId xmlns:p14="http://schemas.microsoft.com/office/powerpoint/2010/main" val="1894291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4" name="Title 1"/>
          <p:cNvSpPr>
            <a:spLocks noGrp="1"/>
          </p:cNvSpPr>
          <p:nvPr>
            <p:ph type="title"/>
          </p:nvPr>
        </p:nvSpPr>
        <p:spPr>
          <a:xfrm>
            <a:off x="269436" y="324226"/>
            <a:ext cx="8915400" cy="845332"/>
          </a:xfrm>
        </p:spPr>
        <p:txBody>
          <a:bodyPr>
            <a:normAutofit/>
          </a:bodyPr>
          <a:lstStyle/>
          <a:p>
            <a:r>
              <a:rPr lang="en-ZA" sz="4000" dirty="0"/>
              <a:t>Displaying - Histogram</a:t>
            </a:r>
          </a:p>
        </p:txBody>
      </p:sp>
      <p:sp>
        <p:nvSpPr>
          <p:cNvPr id="6" name="TextBox 5"/>
          <p:cNvSpPr txBox="1"/>
          <p:nvPr/>
        </p:nvSpPr>
        <p:spPr>
          <a:xfrm>
            <a:off x="823436" y="1350722"/>
            <a:ext cx="8552329" cy="132343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Histograms are typically used for continuous data. Use the function </a:t>
            </a:r>
            <a:r>
              <a:rPr lang="en-ZA" sz="2000" i="1" dirty="0" err="1">
                <a:latin typeface="Avenir Next Cyr W04 Regular" panose="020B0503020202020204" pitchFamily="34" charset="0"/>
              </a:rPr>
              <a:t>hist</a:t>
            </a:r>
            <a:r>
              <a:rPr lang="en-ZA" sz="2000" i="1" dirty="0">
                <a:latin typeface="Avenir Next Cyr W04 Regular" panose="020B0503020202020204" pitchFamily="34" charset="0"/>
              </a:rPr>
              <a:t>()</a:t>
            </a:r>
            <a:r>
              <a:rPr lang="en-ZA" sz="2000" dirty="0">
                <a:latin typeface="Avenir Next Cyr W04 Regular" panose="020B0503020202020204" pitchFamily="34" charset="0"/>
              </a:rPr>
              <a:t> to display a histogram. We would like to investigate the nature of the datasets distribution for the Precipitation of rainfall for the US Cities.</a:t>
            </a:r>
          </a:p>
        </p:txBody>
      </p:sp>
      <p:pic>
        <p:nvPicPr>
          <p:cNvPr id="3" name="Picture 2"/>
          <p:cNvPicPr>
            <a:picLocks noChangeAspect="1"/>
          </p:cNvPicPr>
          <p:nvPr/>
        </p:nvPicPr>
        <p:blipFill>
          <a:blip r:embed="rId5"/>
          <a:stretch>
            <a:fillRect/>
          </a:stretch>
        </p:blipFill>
        <p:spPr>
          <a:xfrm>
            <a:off x="1086422" y="2674161"/>
            <a:ext cx="3640714" cy="3561724"/>
          </a:xfrm>
          <a:prstGeom prst="rect">
            <a:avLst/>
          </a:prstGeom>
        </p:spPr>
      </p:pic>
      <p:sp>
        <p:nvSpPr>
          <p:cNvPr id="7" name="TextBox 6"/>
          <p:cNvSpPr txBox="1"/>
          <p:nvPr/>
        </p:nvSpPr>
        <p:spPr>
          <a:xfrm>
            <a:off x="4837973" y="4611122"/>
            <a:ext cx="4911615" cy="163121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 data is skewed to the right.</a:t>
            </a:r>
          </a:p>
          <a:p>
            <a:pPr marL="285750" indent="-285750">
              <a:buFont typeface="Arial" panose="020B0604020202020204" pitchFamily="34" charset="0"/>
              <a:buChar char="•"/>
            </a:pPr>
            <a:r>
              <a:rPr lang="en-ZA" sz="2000" dirty="0">
                <a:latin typeface="Avenir Next Cyr W04 Regular" panose="020B0503020202020204" pitchFamily="34" charset="0"/>
              </a:rPr>
              <a:t>In order to investigate the histogram further, the default bins should be changed to gain further insight into the dataset’s distribution.</a:t>
            </a:r>
          </a:p>
        </p:txBody>
      </p:sp>
      <p:sp>
        <p:nvSpPr>
          <p:cNvPr id="8" name="Rectangle 7"/>
          <p:cNvSpPr/>
          <p:nvPr/>
        </p:nvSpPr>
        <p:spPr>
          <a:xfrm>
            <a:off x="1086422" y="2736482"/>
            <a:ext cx="3751551" cy="349940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4922469" y="2699658"/>
            <a:ext cx="2036032" cy="40485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6"/>
          <a:stretch>
            <a:fillRect/>
          </a:stretch>
        </p:blipFill>
        <p:spPr>
          <a:xfrm>
            <a:off x="4990122" y="2748711"/>
            <a:ext cx="1952625" cy="342900"/>
          </a:xfrm>
          <a:prstGeom prst="rect">
            <a:avLst/>
          </a:prstGeom>
        </p:spPr>
      </p:pic>
      <p:sp>
        <p:nvSpPr>
          <p:cNvPr id="12" name="TextBox 11"/>
          <p:cNvSpPr txBox="1"/>
          <p:nvPr/>
        </p:nvSpPr>
        <p:spPr>
          <a:xfrm>
            <a:off x="4837973" y="3146394"/>
            <a:ext cx="4911615" cy="132343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Main = “” argument supresses the main title from being displayed. It would have said </a:t>
            </a:r>
            <a:r>
              <a:rPr lang="en-ZA" sz="2000" b="1" i="1" dirty="0">
                <a:latin typeface="Avenir Next Cyr W04 Regular" panose="020B0503020202020204" pitchFamily="34" charset="0"/>
              </a:rPr>
              <a:t>“Histogram of </a:t>
            </a:r>
            <a:r>
              <a:rPr lang="en-ZA" sz="2000" b="1" i="1" dirty="0" err="1">
                <a:latin typeface="Avenir Next Cyr W04 Regular" panose="020B0503020202020204" pitchFamily="34" charset="0"/>
              </a:rPr>
              <a:t>precip</a:t>
            </a:r>
            <a:r>
              <a:rPr lang="en-ZA" sz="2000" b="1" i="1" dirty="0">
                <a:latin typeface="Avenir Next Cyr W04 Regular" panose="020B0503020202020204" pitchFamily="34" charset="0"/>
              </a:rPr>
              <a:t>”.</a:t>
            </a:r>
          </a:p>
        </p:txBody>
      </p:sp>
    </p:spTree>
    <p:extLst>
      <p:ext uri="{BB962C8B-B14F-4D97-AF65-F5344CB8AC3E}">
        <p14:creationId xmlns:p14="http://schemas.microsoft.com/office/powerpoint/2010/main" val="1189933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4" name="Title 1"/>
          <p:cNvSpPr>
            <a:spLocks noGrp="1"/>
          </p:cNvSpPr>
          <p:nvPr>
            <p:ph type="title"/>
          </p:nvPr>
        </p:nvSpPr>
        <p:spPr>
          <a:xfrm>
            <a:off x="504964" y="334223"/>
            <a:ext cx="8915400" cy="845332"/>
          </a:xfrm>
        </p:spPr>
        <p:txBody>
          <a:bodyPr>
            <a:normAutofit/>
          </a:bodyPr>
          <a:lstStyle/>
          <a:p>
            <a:r>
              <a:rPr lang="en-ZA" sz="4000" dirty="0"/>
              <a:t>Displaying – Histogram cont.</a:t>
            </a:r>
          </a:p>
        </p:txBody>
      </p:sp>
      <p:pic>
        <p:nvPicPr>
          <p:cNvPr id="6" name="Picture 5"/>
          <p:cNvPicPr>
            <a:picLocks noChangeAspect="1"/>
          </p:cNvPicPr>
          <p:nvPr/>
        </p:nvPicPr>
        <p:blipFill>
          <a:blip r:embed="rId5"/>
          <a:stretch>
            <a:fillRect/>
          </a:stretch>
        </p:blipFill>
        <p:spPr>
          <a:xfrm>
            <a:off x="836035" y="1817156"/>
            <a:ext cx="4772025" cy="4476750"/>
          </a:xfrm>
          <a:prstGeom prst="rect">
            <a:avLst/>
          </a:prstGeom>
        </p:spPr>
      </p:pic>
      <p:pic>
        <p:nvPicPr>
          <p:cNvPr id="7" name="Picture 6"/>
          <p:cNvPicPr>
            <a:picLocks noChangeAspect="1"/>
          </p:cNvPicPr>
          <p:nvPr/>
        </p:nvPicPr>
        <p:blipFill>
          <a:blip r:embed="rId6"/>
          <a:stretch>
            <a:fillRect/>
          </a:stretch>
        </p:blipFill>
        <p:spPr>
          <a:xfrm>
            <a:off x="1717822" y="1394919"/>
            <a:ext cx="2990850" cy="285750"/>
          </a:xfrm>
          <a:prstGeom prst="rect">
            <a:avLst/>
          </a:prstGeom>
        </p:spPr>
      </p:pic>
      <p:sp>
        <p:nvSpPr>
          <p:cNvPr id="8" name="Rectangle 7"/>
          <p:cNvSpPr/>
          <p:nvPr/>
        </p:nvSpPr>
        <p:spPr>
          <a:xfrm>
            <a:off x="1665435" y="1333301"/>
            <a:ext cx="3297229" cy="40485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5608061" y="2886380"/>
            <a:ext cx="4103976" cy="1015663"/>
          </a:xfrm>
          <a:prstGeom prst="rect">
            <a:avLst/>
          </a:prstGeom>
          <a:noFill/>
        </p:spPr>
        <p:txBody>
          <a:bodyPr wrap="square" rtlCol="0">
            <a:spAutoFit/>
          </a:bodyPr>
          <a:lstStyle/>
          <a:p>
            <a:pPr marL="285750" indent="-285750">
              <a:buFont typeface="Arial" panose="020B0604020202020204" pitchFamily="34" charset="0"/>
              <a:buChar char="•"/>
            </a:pPr>
            <a:r>
              <a:rPr lang="en-ZA" sz="2000" b="1" i="1" dirty="0" err="1">
                <a:latin typeface="Avenir Next Cyr W04 Regular" panose="020B0503020202020204" pitchFamily="34" charset="0"/>
              </a:rPr>
              <a:t>Freq</a:t>
            </a:r>
            <a:r>
              <a:rPr lang="en-ZA" sz="2000" b="1" i="1" dirty="0">
                <a:latin typeface="Avenir Next Cyr W04 Regular" panose="020B0503020202020204" pitchFamily="34" charset="0"/>
              </a:rPr>
              <a:t> = FALSE – </a:t>
            </a:r>
            <a:r>
              <a:rPr lang="en-ZA" sz="2000" dirty="0">
                <a:latin typeface="Avenir Next Cyr W04 Regular" panose="020B0503020202020204" pitchFamily="34" charset="0"/>
              </a:rPr>
              <a:t>indicates that one would like to display a relative frequency plot</a:t>
            </a:r>
          </a:p>
        </p:txBody>
      </p:sp>
    </p:spTree>
    <p:extLst>
      <p:ext uri="{BB962C8B-B14F-4D97-AF65-F5344CB8AC3E}">
        <p14:creationId xmlns:p14="http://schemas.microsoft.com/office/powerpoint/2010/main" val="1555710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4" name="Title 1"/>
          <p:cNvSpPr>
            <a:spLocks noGrp="1"/>
          </p:cNvSpPr>
          <p:nvPr>
            <p:ph type="title"/>
          </p:nvPr>
        </p:nvSpPr>
        <p:spPr>
          <a:xfrm>
            <a:off x="269436" y="324226"/>
            <a:ext cx="8915400" cy="845332"/>
          </a:xfrm>
        </p:spPr>
        <p:txBody>
          <a:bodyPr>
            <a:normAutofit fontScale="90000"/>
          </a:bodyPr>
          <a:lstStyle/>
          <a:p>
            <a:r>
              <a:rPr lang="en-ZA" sz="4000" dirty="0"/>
              <a:t>Displaying – Histogram </a:t>
            </a:r>
            <a:br>
              <a:rPr lang="en-ZA" sz="4000" dirty="0"/>
            </a:br>
            <a:r>
              <a:rPr lang="en-ZA" sz="4000" dirty="0"/>
              <a:t>(Changing Bins)</a:t>
            </a:r>
          </a:p>
        </p:txBody>
      </p:sp>
      <p:pic>
        <p:nvPicPr>
          <p:cNvPr id="7" name="Picture 6"/>
          <p:cNvPicPr>
            <a:picLocks noChangeAspect="1"/>
          </p:cNvPicPr>
          <p:nvPr/>
        </p:nvPicPr>
        <p:blipFill>
          <a:blip r:embed="rId5"/>
          <a:stretch>
            <a:fillRect/>
          </a:stretch>
        </p:blipFill>
        <p:spPr>
          <a:xfrm>
            <a:off x="269436" y="2363064"/>
            <a:ext cx="4232132" cy="3941121"/>
          </a:xfrm>
          <a:prstGeom prst="rect">
            <a:avLst/>
          </a:prstGeom>
        </p:spPr>
      </p:pic>
      <p:pic>
        <p:nvPicPr>
          <p:cNvPr id="8" name="Picture 7"/>
          <p:cNvPicPr>
            <a:picLocks noChangeAspect="1"/>
          </p:cNvPicPr>
          <p:nvPr/>
        </p:nvPicPr>
        <p:blipFill>
          <a:blip r:embed="rId6"/>
          <a:stretch>
            <a:fillRect/>
          </a:stretch>
        </p:blipFill>
        <p:spPr>
          <a:xfrm>
            <a:off x="589250" y="1825769"/>
            <a:ext cx="3019425" cy="352425"/>
          </a:xfrm>
          <a:prstGeom prst="rect">
            <a:avLst/>
          </a:prstGeom>
        </p:spPr>
      </p:pic>
      <p:pic>
        <p:nvPicPr>
          <p:cNvPr id="9" name="Picture 8"/>
          <p:cNvPicPr>
            <a:picLocks noChangeAspect="1"/>
          </p:cNvPicPr>
          <p:nvPr/>
        </p:nvPicPr>
        <p:blipFill>
          <a:blip r:embed="rId7"/>
          <a:stretch>
            <a:fillRect/>
          </a:stretch>
        </p:blipFill>
        <p:spPr>
          <a:xfrm>
            <a:off x="5166879" y="2178194"/>
            <a:ext cx="4253717" cy="4125991"/>
          </a:xfrm>
          <a:prstGeom prst="rect">
            <a:avLst/>
          </a:prstGeom>
        </p:spPr>
      </p:pic>
      <p:pic>
        <p:nvPicPr>
          <p:cNvPr id="10" name="Picture 9"/>
          <p:cNvPicPr>
            <a:picLocks noChangeAspect="1"/>
          </p:cNvPicPr>
          <p:nvPr/>
        </p:nvPicPr>
        <p:blipFill>
          <a:blip r:embed="rId8"/>
          <a:stretch>
            <a:fillRect/>
          </a:stretch>
        </p:blipFill>
        <p:spPr>
          <a:xfrm>
            <a:off x="5645122" y="1846833"/>
            <a:ext cx="3009900" cy="361950"/>
          </a:xfrm>
          <a:prstGeom prst="rect">
            <a:avLst/>
          </a:prstGeom>
        </p:spPr>
      </p:pic>
      <p:sp>
        <p:nvSpPr>
          <p:cNvPr id="11" name="Rectangle 10"/>
          <p:cNvSpPr/>
          <p:nvPr/>
        </p:nvSpPr>
        <p:spPr>
          <a:xfrm>
            <a:off x="450347" y="1799551"/>
            <a:ext cx="3297229" cy="40485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5501458" y="1799550"/>
            <a:ext cx="3297229" cy="40485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61580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4" name="Title 1"/>
          <p:cNvSpPr>
            <a:spLocks noGrp="1"/>
          </p:cNvSpPr>
          <p:nvPr>
            <p:ph type="title"/>
          </p:nvPr>
        </p:nvSpPr>
        <p:spPr>
          <a:xfrm>
            <a:off x="269436" y="324226"/>
            <a:ext cx="8915400" cy="845332"/>
          </a:xfrm>
        </p:spPr>
        <p:txBody>
          <a:bodyPr>
            <a:normAutofit/>
          </a:bodyPr>
          <a:lstStyle/>
          <a:p>
            <a:r>
              <a:rPr lang="en-ZA" sz="4000" dirty="0"/>
              <a:t>Displaying – </a:t>
            </a:r>
            <a:r>
              <a:rPr lang="en-ZA" sz="4000" dirty="0" err="1"/>
              <a:t>Stemplot</a:t>
            </a:r>
            <a:endParaRPr lang="en-ZA" sz="4000" dirty="0"/>
          </a:p>
        </p:txBody>
      </p:sp>
      <p:sp>
        <p:nvSpPr>
          <p:cNvPr id="5" name="TextBox 4"/>
          <p:cNvSpPr txBox="1"/>
          <p:nvPr/>
        </p:nvSpPr>
        <p:spPr>
          <a:xfrm>
            <a:off x="823436" y="1350722"/>
            <a:ext cx="8552329" cy="1015663"/>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Stem and Leaf plots have to basic parts namely; Stem and Leaves.</a:t>
            </a:r>
          </a:p>
          <a:p>
            <a:pPr marL="285750" indent="-285750">
              <a:buFont typeface="Arial" panose="020B0604020202020204" pitchFamily="34" charset="0"/>
              <a:buChar char="•"/>
            </a:pPr>
            <a:r>
              <a:rPr lang="en-ZA" sz="2000" dirty="0">
                <a:latin typeface="Avenir Next Cyr W04 Regular" panose="020B0503020202020204" pitchFamily="34" charset="0"/>
              </a:rPr>
              <a:t>The final digit of the data values is taken to be a leaf , and the leading digits is taken to be the stems.</a:t>
            </a:r>
          </a:p>
        </p:txBody>
      </p:sp>
      <p:sp>
        <p:nvSpPr>
          <p:cNvPr id="6" name="TextBox 5"/>
          <p:cNvSpPr txBox="1"/>
          <p:nvPr/>
        </p:nvSpPr>
        <p:spPr>
          <a:xfrm>
            <a:off x="823436" y="5398104"/>
            <a:ext cx="8552329" cy="70788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You might need to install the </a:t>
            </a:r>
            <a:r>
              <a:rPr lang="en-ZA" sz="2000" i="1" dirty="0" err="1">
                <a:latin typeface="Avenir Next Cyr W04 Regular" panose="020B0503020202020204" pitchFamily="34" charset="0"/>
              </a:rPr>
              <a:t>aplpack</a:t>
            </a:r>
            <a:r>
              <a:rPr lang="en-ZA" sz="2000" dirty="0">
                <a:latin typeface="Avenir Next Cyr W04 Regular" panose="020B0503020202020204" pitchFamily="34" charset="0"/>
              </a:rPr>
              <a:t> package and then load it using the </a:t>
            </a:r>
            <a:r>
              <a:rPr lang="en-ZA" sz="2000" i="1" dirty="0">
                <a:latin typeface="Avenir Next Cyr W04 Regular" panose="020B0503020202020204" pitchFamily="34" charset="0"/>
              </a:rPr>
              <a:t>library</a:t>
            </a:r>
            <a:r>
              <a:rPr lang="en-ZA" sz="2000" dirty="0">
                <a:latin typeface="Avenir Next Cyr W04 Regular" panose="020B0503020202020204" pitchFamily="34" charset="0"/>
              </a:rPr>
              <a:t>() function.</a:t>
            </a:r>
          </a:p>
        </p:txBody>
      </p:sp>
      <p:pic>
        <p:nvPicPr>
          <p:cNvPr id="7" name="Picture 6"/>
          <p:cNvPicPr>
            <a:picLocks noChangeAspect="1"/>
          </p:cNvPicPr>
          <p:nvPr/>
        </p:nvPicPr>
        <p:blipFill>
          <a:blip r:embed="rId5"/>
          <a:stretch>
            <a:fillRect/>
          </a:stretch>
        </p:blipFill>
        <p:spPr>
          <a:xfrm>
            <a:off x="1158154" y="2366386"/>
            <a:ext cx="2818101" cy="3031718"/>
          </a:xfrm>
          <a:prstGeom prst="rect">
            <a:avLst/>
          </a:prstGeom>
        </p:spPr>
      </p:pic>
      <p:sp>
        <p:nvSpPr>
          <p:cNvPr id="8" name="TextBox 7"/>
          <p:cNvSpPr txBox="1"/>
          <p:nvPr/>
        </p:nvSpPr>
        <p:spPr>
          <a:xfrm>
            <a:off x="4727136" y="2366384"/>
            <a:ext cx="4648629"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Avenir Next Cyr W04 Regular" panose="020B0503020202020204" pitchFamily="34" charset="0"/>
              </a:rPr>
              <a:t>The display shows a more or less balanced mound-shaped distribution, with one or maybe two</a:t>
            </a:r>
          </a:p>
          <a:p>
            <a:pPr marL="285750" indent="-285750">
              <a:buFont typeface="Arial" panose="020B0604020202020204" pitchFamily="34" charset="0"/>
              <a:buChar char="•"/>
            </a:pPr>
            <a:r>
              <a:rPr lang="en-US" sz="2000" dirty="0">
                <a:latin typeface="Avenir Next Cyr W04 Regular" panose="020B0503020202020204" pitchFamily="34" charset="0"/>
              </a:rPr>
              <a:t>humps, a big one and a smaller one just to its right. Note that the data have been rounded to the</a:t>
            </a:r>
          </a:p>
          <a:p>
            <a:pPr marL="285750" indent="-285750">
              <a:buFont typeface="Arial" panose="020B0604020202020204" pitchFamily="34" charset="0"/>
              <a:buChar char="•"/>
            </a:pPr>
            <a:r>
              <a:rPr lang="en-US" sz="2000" dirty="0">
                <a:latin typeface="Avenir Next Cyr W04 Regular" panose="020B0503020202020204" pitchFamily="34" charset="0"/>
              </a:rPr>
              <a:t>tens place so that each datum gets only one leaf to the right of the dividing line.</a:t>
            </a:r>
            <a:endParaRPr lang="en-ZA" sz="2000" dirty="0">
              <a:latin typeface="Avenir Next Cyr W04 Regular" panose="020B0503020202020204" pitchFamily="34" charset="0"/>
            </a:endParaRPr>
          </a:p>
        </p:txBody>
      </p:sp>
      <p:sp>
        <p:nvSpPr>
          <p:cNvPr id="9" name="Rectangle 8"/>
          <p:cNvSpPr/>
          <p:nvPr/>
        </p:nvSpPr>
        <p:spPr>
          <a:xfrm>
            <a:off x="1122287" y="2345811"/>
            <a:ext cx="2992513" cy="305229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4727136" y="6061837"/>
            <a:ext cx="5411110" cy="3231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Example 3.6: </a:t>
            </a:r>
            <a:r>
              <a:rPr kumimoji="0" lang="en-ZA" sz="1500" b="0" i="0" u="none" strike="noStrike" kern="1200" cap="none" spc="0" normalizeH="0" baseline="0" noProof="0" dirty="0" err="1">
                <a:ln>
                  <a:noFill/>
                </a:ln>
                <a:solidFill>
                  <a:prstClr val="black"/>
                </a:solidFill>
                <a:effectLst/>
                <a:uLnTx/>
                <a:uFillTx/>
                <a:latin typeface="Avenir Next Cyr W04 Regular" panose="020B0503020202020204" pitchFamily="34" charset="0"/>
                <a:ea typeface="+mn-ea"/>
                <a:cs typeface="+mn-cs"/>
              </a:rPr>
              <a:t>UKDriverDeaths</a:t>
            </a:r>
            <a:r>
              <a:rPr kumimoji="0" lang="en-ZA" sz="15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 Time Series Dataset</a:t>
            </a:r>
            <a:endPar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spTree>
    <p:extLst>
      <p:ext uri="{BB962C8B-B14F-4D97-AF65-F5344CB8AC3E}">
        <p14:creationId xmlns:p14="http://schemas.microsoft.com/office/powerpoint/2010/main" val="1862799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4" name="Title 1"/>
          <p:cNvSpPr>
            <a:spLocks noGrp="1"/>
          </p:cNvSpPr>
          <p:nvPr>
            <p:ph type="title"/>
          </p:nvPr>
        </p:nvSpPr>
        <p:spPr>
          <a:xfrm>
            <a:off x="269436" y="324226"/>
            <a:ext cx="8915400" cy="845332"/>
          </a:xfrm>
        </p:spPr>
        <p:txBody>
          <a:bodyPr>
            <a:normAutofit/>
          </a:bodyPr>
          <a:lstStyle/>
          <a:p>
            <a:r>
              <a:rPr lang="en-ZA" sz="4000" dirty="0"/>
              <a:t>Displaying – Index Plot</a:t>
            </a:r>
          </a:p>
        </p:txBody>
      </p:sp>
      <p:sp>
        <p:nvSpPr>
          <p:cNvPr id="5" name="TextBox 4"/>
          <p:cNvSpPr txBox="1"/>
          <p:nvPr/>
        </p:nvSpPr>
        <p:spPr>
          <a:xfrm>
            <a:off x="153090" y="1250584"/>
            <a:ext cx="9378837" cy="553998"/>
          </a:xfrm>
          <a:prstGeom prst="rect">
            <a:avLst/>
          </a:prstGeom>
          <a:noFill/>
        </p:spPr>
        <p:txBody>
          <a:bodyPr wrap="square" rtlCol="0">
            <a:spAutoFit/>
          </a:bodyPr>
          <a:lstStyle/>
          <a:p>
            <a:pPr marL="285750" indent="-285750" algn="just">
              <a:buFont typeface="Arial" panose="020B0604020202020204" pitchFamily="34" charset="0"/>
              <a:buChar char="•"/>
            </a:pPr>
            <a:r>
              <a:rPr lang="en-ZA" sz="1500" dirty="0">
                <a:latin typeface="Avenir Next Cyr W04 Regular" panose="020B0503020202020204" pitchFamily="34" charset="0"/>
              </a:rPr>
              <a:t>The index plot is usually good for plotting data which are ordered. These are usually time series datasets, when data is measured over time.</a:t>
            </a:r>
          </a:p>
        </p:txBody>
      </p:sp>
      <p:sp>
        <p:nvSpPr>
          <p:cNvPr id="6" name="Rectangle 5"/>
          <p:cNvSpPr/>
          <p:nvPr/>
        </p:nvSpPr>
        <p:spPr>
          <a:xfrm>
            <a:off x="153090" y="1766925"/>
            <a:ext cx="9378837" cy="553998"/>
          </a:xfrm>
          <a:prstGeom prst="rect">
            <a:avLst/>
          </a:prstGeom>
        </p:spPr>
        <p:txBody>
          <a:bodyPr wrap="square">
            <a:spAutoFit/>
          </a:bodyPr>
          <a:lstStyle/>
          <a:p>
            <a:pPr marL="285750" indent="-285750">
              <a:buFont typeface="Arial" panose="020B0604020202020204" pitchFamily="34" charset="0"/>
              <a:buChar char="•"/>
            </a:pPr>
            <a:r>
              <a:rPr lang="en-ZA" sz="1500" dirty="0">
                <a:latin typeface="Avenir Next Cyr W04 Regular" panose="020B0503020202020204" pitchFamily="34" charset="0"/>
              </a:rPr>
              <a:t>There are 2 types of Index plots</a:t>
            </a:r>
            <a:r>
              <a:rPr lang="en-ZA" sz="1500" i="1" dirty="0">
                <a:latin typeface="Avenir Next Cyr W04 Regular" panose="020B0503020202020204" pitchFamily="34" charset="0"/>
              </a:rPr>
              <a:t>, spikes </a:t>
            </a:r>
            <a:r>
              <a:rPr lang="en-ZA" sz="1500" dirty="0">
                <a:latin typeface="Avenir Next Cyr W04 Regular" panose="020B0503020202020204" pitchFamily="34" charset="0"/>
              </a:rPr>
              <a:t>or points</a:t>
            </a:r>
            <a:r>
              <a:rPr lang="en-ZA" sz="1500" i="1" dirty="0">
                <a:latin typeface="Avenir Next Cyr W04 Regular" panose="020B0503020202020204" pitchFamily="34" charset="0"/>
              </a:rPr>
              <a:t> </a:t>
            </a:r>
            <a:r>
              <a:rPr lang="en-ZA" sz="1500" dirty="0">
                <a:latin typeface="Avenir Next Cyr W04 Regular" panose="020B0503020202020204" pitchFamily="34" charset="0"/>
              </a:rPr>
              <a:t>plots. Use the </a:t>
            </a:r>
            <a:r>
              <a:rPr lang="en-ZA" sz="1500" b="1" i="1" dirty="0">
                <a:latin typeface="Avenir Next Cyr W04 Regular" panose="020B0503020202020204" pitchFamily="34" charset="0"/>
              </a:rPr>
              <a:t>plot() function </a:t>
            </a:r>
            <a:r>
              <a:rPr lang="en-ZA" sz="1500" dirty="0">
                <a:latin typeface="Avenir Next Cyr W04 Regular" panose="020B0503020202020204" pitchFamily="34" charset="0"/>
              </a:rPr>
              <a:t>with the option type </a:t>
            </a:r>
            <a:r>
              <a:rPr lang="en-ZA" sz="1500" b="1" i="1" dirty="0">
                <a:latin typeface="Avenir Next Cyr W04 Regular" panose="020B0503020202020204" pitchFamily="34" charset="0"/>
              </a:rPr>
              <a:t>“h”</a:t>
            </a:r>
            <a:r>
              <a:rPr lang="en-ZA" sz="1500" b="1" dirty="0">
                <a:latin typeface="Avenir Next Cyr W04 Regular" panose="020B0503020202020204" pitchFamily="34" charset="0"/>
              </a:rPr>
              <a:t> </a:t>
            </a:r>
            <a:r>
              <a:rPr lang="en-ZA" sz="1500" dirty="0">
                <a:latin typeface="Avenir Next Cyr W04 Regular" panose="020B0503020202020204" pitchFamily="34" charset="0"/>
              </a:rPr>
              <a:t>or </a:t>
            </a:r>
            <a:r>
              <a:rPr lang="en-ZA" sz="1500" b="1" i="1" dirty="0">
                <a:latin typeface="Avenir Next Cyr W04 Regular" panose="020B0503020202020204" pitchFamily="34" charset="0"/>
              </a:rPr>
              <a:t>“p”</a:t>
            </a:r>
            <a:r>
              <a:rPr lang="en-ZA" sz="1500" b="1" dirty="0">
                <a:latin typeface="Avenir Next Cyr W04 Regular" panose="020B0503020202020204" pitchFamily="34" charset="0"/>
              </a:rPr>
              <a:t> </a:t>
            </a:r>
            <a:r>
              <a:rPr lang="en-ZA" sz="1500" dirty="0">
                <a:latin typeface="Avenir Next Cyr W04 Regular" panose="020B0503020202020204" pitchFamily="34" charset="0"/>
              </a:rPr>
              <a:t>respectively.</a:t>
            </a:r>
          </a:p>
        </p:txBody>
      </p:sp>
      <p:sp>
        <p:nvSpPr>
          <p:cNvPr id="7" name="TextBox 6"/>
          <p:cNvSpPr txBox="1"/>
          <p:nvPr/>
        </p:nvSpPr>
        <p:spPr>
          <a:xfrm>
            <a:off x="5406009" y="6041529"/>
            <a:ext cx="5411110" cy="3231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Example 3.7:</a:t>
            </a:r>
            <a:r>
              <a:rPr kumimoji="0" lang="en-ZA" sz="15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Level of Lake Huron 1875 - 1972</a:t>
            </a:r>
            <a:endPar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pic>
        <p:nvPicPr>
          <p:cNvPr id="8" name="Picture 7"/>
          <p:cNvPicPr>
            <a:picLocks noChangeAspect="1"/>
          </p:cNvPicPr>
          <p:nvPr/>
        </p:nvPicPr>
        <p:blipFill>
          <a:blip r:embed="rId5"/>
          <a:stretch>
            <a:fillRect/>
          </a:stretch>
        </p:blipFill>
        <p:spPr>
          <a:xfrm>
            <a:off x="269436" y="2703552"/>
            <a:ext cx="4454964" cy="3337977"/>
          </a:xfrm>
          <a:prstGeom prst="rect">
            <a:avLst/>
          </a:prstGeom>
        </p:spPr>
      </p:pic>
      <p:pic>
        <p:nvPicPr>
          <p:cNvPr id="9" name="Picture 8"/>
          <p:cNvPicPr>
            <a:picLocks noChangeAspect="1"/>
          </p:cNvPicPr>
          <p:nvPr/>
        </p:nvPicPr>
        <p:blipFill>
          <a:blip r:embed="rId6"/>
          <a:stretch>
            <a:fillRect/>
          </a:stretch>
        </p:blipFill>
        <p:spPr>
          <a:xfrm>
            <a:off x="5029200" y="2678948"/>
            <a:ext cx="4155636" cy="3362581"/>
          </a:xfrm>
          <a:prstGeom prst="rect">
            <a:avLst/>
          </a:prstGeom>
        </p:spPr>
      </p:pic>
      <p:pic>
        <p:nvPicPr>
          <p:cNvPr id="10" name="Picture 9"/>
          <p:cNvPicPr>
            <a:picLocks noChangeAspect="1"/>
          </p:cNvPicPr>
          <p:nvPr/>
        </p:nvPicPr>
        <p:blipFill>
          <a:blip r:embed="rId7"/>
          <a:stretch>
            <a:fillRect/>
          </a:stretch>
        </p:blipFill>
        <p:spPr>
          <a:xfrm>
            <a:off x="1653021" y="2526548"/>
            <a:ext cx="2305050" cy="152400"/>
          </a:xfrm>
          <a:prstGeom prst="rect">
            <a:avLst/>
          </a:prstGeom>
        </p:spPr>
      </p:pic>
      <p:pic>
        <p:nvPicPr>
          <p:cNvPr id="11" name="Picture 10"/>
          <p:cNvPicPr>
            <a:picLocks noChangeAspect="1"/>
          </p:cNvPicPr>
          <p:nvPr/>
        </p:nvPicPr>
        <p:blipFill>
          <a:blip r:embed="rId8"/>
          <a:stretch>
            <a:fillRect/>
          </a:stretch>
        </p:blipFill>
        <p:spPr>
          <a:xfrm>
            <a:off x="5964018" y="2510786"/>
            <a:ext cx="2286000" cy="180975"/>
          </a:xfrm>
          <a:prstGeom prst="rect">
            <a:avLst/>
          </a:prstGeom>
        </p:spPr>
      </p:pic>
      <p:sp>
        <p:nvSpPr>
          <p:cNvPr id="12" name="Rectangle 11"/>
          <p:cNvSpPr/>
          <p:nvPr/>
        </p:nvSpPr>
        <p:spPr>
          <a:xfrm>
            <a:off x="1515035" y="2489086"/>
            <a:ext cx="2579348" cy="20267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5887607" y="2489085"/>
            <a:ext cx="2362411" cy="23989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6572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4" name="Title 1"/>
          <p:cNvSpPr>
            <a:spLocks noGrp="1"/>
          </p:cNvSpPr>
          <p:nvPr>
            <p:ph type="title"/>
          </p:nvPr>
        </p:nvSpPr>
        <p:spPr>
          <a:xfrm>
            <a:off x="763051" y="334223"/>
            <a:ext cx="8915400" cy="845332"/>
          </a:xfrm>
        </p:spPr>
        <p:txBody>
          <a:bodyPr>
            <a:normAutofit/>
          </a:bodyPr>
          <a:lstStyle/>
          <a:p>
            <a:r>
              <a:rPr lang="en-ZA" sz="4000" dirty="0"/>
              <a:t>Types of Data - Qualitative Data</a:t>
            </a:r>
          </a:p>
        </p:txBody>
      </p:sp>
      <p:sp>
        <p:nvSpPr>
          <p:cNvPr id="5" name="TextBox 4"/>
          <p:cNvSpPr txBox="1"/>
          <p:nvPr/>
        </p:nvSpPr>
        <p:spPr>
          <a:xfrm>
            <a:off x="264287" y="1340670"/>
            <a:ext cx="9641713" cy="1015663"/>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Qualitative data is simply any type of data that is not numerical, or does not represent numerical quantities. </a:t>
            </a:r>
            <a:r>
              <a:rPr lang="en-ZA" sz="2000" dirty="0" err="1">
                <a:latin typeface="Avenir Next Cyr W04 Regular" panose="020B0503020202020204" pitchFamily="34" charset="0"/>
              </a:rPr>
              <a:t>Eg</a:t>
            </a:r>
            <a:r>
              <a:rPr lang="en-ZA" sz="2000" dirty="0">
                <a:latin typeface="Avenir Next Cyr W04 Regular" panose="020B0503020202020204" pitchFamily="34" charset="0"/>
              </a:rPr>
              <a:t>; Name, Gender, Race/Ethnicity or Social Security Number.</a:t>
            </a:r>
            <a:endParaRPr lang="en-ZA" sz="2000" i="1" dirty="0">
              <a:latin typeface="Avenir Next Cyr W04 Regular" panose="020B0503020202020204" pitchFamily="34" charset="0"/>
            </a:endParaRPr>
          </a:p>
        </p:txBody>
      </p:sp>
      <p:sp>
        <p:nvSpPr>
          <p:cNvPr id="6" name="TextBox 5"/>
          <p:cNvSpPr txBox="1"/>
          <p:nvPr/>
        </p:nvSpPr>
        <p:spPr>
          <a:xfrm>
            <a:off x="264287" y="2321976"/>
            <a:ext cx="9544731" cy="1015663"/>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Some data may seem Quantitative in nature but it’s actually qualitative. </a:t>
            </a:r>
            <a:r>
              <a:rPr lang="en-ZA" sz="2000" dirty="0" err="1">
                <a:latin typeface="Avenir Next Cyr W04 Regular" panose="020B0503020202020204" pitchFamily="34" charset="0"/>
              </a:rPr>
              <a:t>Eg</a:t>
            </a:r>
            <a:r>
              <a:rPr lang="en-ZA" sz="2000" dirty="0">
                <a:latin typeface="Avenir Next Cyr W04 Regular" panose="020B0503020202020204" pitchFamily="34" charset="0"/>
              </a:rPr>
              <a:t>; Shoe Size – if we have a shoe size 8 and 9. If we add them we do not get a size 17.</a:t>
            </a:r>
          </a:p>
        </p:txBody>
      </p:sp>
      <p:sp>
        <p:nvSpPr>
          <p:cNvPr id="7" name="TextBox 6"/>
          <p:cNvSpPr txBox="1"/>
          <p:nvPr/>
        </p:nvSpPr>
        <p:spPr>
          <a:xfrm>
            <a:off x="5633558" y="6041529"/>
            <a:ext cx="4272442" cy="3231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Example 3.9:</a:t>
            </a:r>
            <a:r>
              <a:rPr kumimoji="0" lang="en-ZA" sz="15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US State Facts and Features</a:t>
            </a:r>
            <a:endPar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sp>
        <p:nvSpPr>
          <p:cNvPr id="8" name="TextBox 7"/>
          <p:cNvSpPr txBox="1"/>
          <p:nvPr/>
        </p:nvSpPr>
        <p:spPr>
          <a:xfrm>
            <a:off x="6032986" y="3345687"/>
            <a:ext cx="3401959" cy="2446824"/>
          </a:xfrm>
          <a:prstGeom prst="rect">
            <a:avLst/>
          </a:prstGeom>
          <a:noFill/>
        </p:spPr>
        <p:txBody>
          <a:bodyPr wrap="square" rtlCol="0">
            <a:spAutoFit/>
          </a:bodyPr>
          <a:lstStyle/>
          <a:p>
            <a:pPr marL="285750" indent="-285750">
              <a:buFont typeface="Arial" panose="020B0604020202020204" pitchFamily="34" charset="0"/>
              <a:buChar char="•"/>
            </a:pPr>
            <a:r>
              <a:rPr lang="en-ZA" sz="1700" dirty="0">
                <a:latin typeface="Avenir Next Cyr W04 Regular" panose="020B0503020202020204" pitchFamily="34" charset="0"/>
              </a:rPr>
              <a:t>These types of variables that are qualitative nature will be used to categorize data into various sections, but does not play a role alone concerning the statistics.</a:t>
            </a:r>
          </a:p>
          <a:p>
            <a:pPr marL="285750" indent="-285750">
              <a:buFont typeface="Arial" panose="020B0604020202020204" pitchFamily="34" charset="0"/>
              <a:buChar char="•"/>
            </a:pPr>
            <a:r>
              <a:rPr lang="en-ZA" sz="1700" dirty="0">
                <a:latin typeface="Avenir Next Cyr W04 Regular" panose="020B0503020202020204" pitchFamily="34" charset="0"/>
              </a:rPr>
              <a:t>There are two types of Qualitative data namely; Nominal and Ordinal.</a:t>
            </a:r>
          </a:p>
        </p:txBody>
      </p:sp>
      <p:pic>
        <p:nvPicPr>
          <p:cNvPr id="9" name="Picture 8"/>
          <p:cNvPicPr>
            <a:picLocks noChangeAspect="1"/>
          </p:cNvPicPr>
          <p:nvPr/>
        </p:nvPicPr>
        <p:blipFill>
          <a:blip r:embed="rId5"/>
          <a:stretch>
            <a:fillRect/>
          </a:stretch>
        </p:blipFill>
        <p:spPr>
          <a:xfrm>
            <a:off x="264287" y="3374186"/>
            <a:ext cx="5705475" cy="2828925"/>
          </a:xfrm>
          <a:prstGeom prst="rect">
            <a:avLst/>
          </a:prstGeom>
        </p:spPr>
      </p:pic>
      <p:sp>
        <p:nvSpPr>
          <p:cNvPr id="10" name="Rectangle 9"/>
          <p:cNvSpPr/>
          <p:nvPr/>
        </p:nvSpPr>
        <p:spPr>
          <a:xfrm>
            <a:off x="201063" y="3374186"/>
            <a:ext cx="5768699" cy="282892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7730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6" name="Title 1"/>
          <p:cNvSpPr txBox="1">
            <a:spLocks/>
          </p:cNvSpPr>
          <p:nvPr/>
        </p:nvSpPr>
        <p:spPr>
          <a:xfrm>
            <a:off x="636198" y="371361"/>
            <a:ext cx="8915400" cy="84533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a:lstStyle>
          <a:p>
            <a:r>
              <a:rPr lang="en-ZA" sz="4000" dirty="0"/>
              <a:t>Types of Data – Qualitative cont.</a:t>
            </a:r>
          </a:p>
        </p:txBody>
      </p:sp>
      <p:sp>
        <p:nvSpPr>
          <p:cNvPr id="5" name="TextBox 4"/>
          <p:cNvSpPr txBox="1"/>
          <p:nvPr/>
        </p:nvSpPr>
        <p:spPr>
          <a:xfrm>
            <a:off x="5633558" y="6041529"/>
            <a:ext cx="4272442" cy="3231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Example 3.9:</a:t>
            </a:r>
            <a:r>
              <a:rPr kumimoji="0" lang="en-ZA" sz="15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US State Facts and Features</a:t>
            </a:r>
            <a:endPar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pic>
        <p:nvPicPr>
          <p:cNvPr id="4" name="Picture 3"/>
          <p:cNvPicPr>
            <a:picLocks noChangeAspect="1"/>
          </p:cNvPicPr>
          <p:nvPr/>
        </p:nvPicPr>
        <p:blipFill>
          <a:blip r:embed="rId5"/>
          <a:stretch>
            <a:fillRect/>
          </a:stretch>
        </p:blipFill>
        <p:spPr>
          <a:xfrm>
            <a:off x="1759504" y="1933661"/>
            <a:ext cx="6162675" cy="3390900"/>
          </a:xfrm>
          <a:prstGeom prst="rect">
            <a:avLst/>
          </a:prstGeom>
        </p:spPr>
      </p:pic>
      <p:sp>
        <p:nvSpPr>
          <p:cNvPr id="7" name="Rectangle 6"/>
          <p:cNvSpPr/>
          <p:nvPr/>
        </p:nvSpPr>
        <p:spPr>
          <a:xfrm>
            <a:off x="1759504" y="1808622"/>
            <a:ext cx="6162675" cy="341454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3437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5" name="Title 1"/>
          <p:cNvSpPr>
            <a:spLocks noGrp="1"/>
          </p:cNvSpPr>
          <p:nvPr>
            <p:ph type="title"/>
          </p:nvPr>
        </p:nvSpPr>
        <p:spPr>
          <a:xfrm>
            <a:off x="269436" y="324226"/>
            <a:ext cx="8915400" cy="845332"/>
          </a:xfrm>
        </p:spPr>
        <p:txBody>
          <a:bodyPr>
            <a:normAutofit/>
          </a:bodyPr>
          <a:lstStyle/>
          <a:p>
            <a:r>
              <a:rPr lang="en-ZA" sz="4000" dirty="0"/>
              <a:t>Qualitative Data</a:t>
            </a:r>
          </a:p>
        </p:txBody>
      </p:sp>
      <p:sp>
        <p:nvSpPr>
          <p:cNvPr id="6" name="TextBox 5"/>
          <p:cNvSpPr txBox="1"/>
          <p:nvPr/>
        </p:nvSpPr>
        <p:spPr>
          <a:xfrm>
            <a:off x="763051" y="1520509"/>
            <a:ext cx="8552329" cy="70788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 table() function – is used to display qualitative data in the form of a table of data values. </a:t>
            </a:r>
          </a:p>
        </p:txBody>
      </p:sp>
      <p:pic>
        <p:nvPicPr>
          <p:cNvPr id="3" name="Picture 2"/>
          <p:cNvPicPr>
            <a:picLocks noChangeAspect="1"/>
          </p:cNvPicPr>
          <p:nvPr/>
        </p:nvPicPr>
        <p:blipFill>
          <a:blip r:embed="rId5"/>
          <a:stretch>
            <a:fillRect/>
          </a:stretch>
        </p:blipFill>
        <p:spPr>
          <a:xfrm>
            <a:off x="1802961" y="2353086"/>
            <a:ext cx="5848350" cy="3733800"/>
          </a:xfrm>
          <a:prstGeom prst="rect">
            <a:avLst/>
          </a:prstGeom>
        </p:spPr>
      </p:pic>
      <p:sp>
        <p:nvSpPr>
          <p:cNvPr id="8" name="Rectangle 7"/>
          <p:cNvSpPr/>
          <p:nvPr/>
        </p:nvSpPr>
        <p:spPr>
          <a:xfrm>
            <a:off x="1759504" y="2353086"/>
            <a:ext cx="5891807" cy="37338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60635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5" name="Title 1"/>
          <p:cNvSpPr>
            <a:spLocks noGrp="1"/>
          </p:cNvSpPr>
          <p:nvPr>
            <p:ph type="title"/>
          </p:nvPr>
        </p:nvSpPr>
        <p:spPr>
          <a:xfrm>
            <a:off x="269436" y="324226"/>
            <a:ext cx="8915400" cy="845332"/>
          </a:xfrm>
        </p:spPr>
        <p:txBody>
          <a:bodyPr>
            <a:normAutofit/>
          </a:bodyPr>
          <a:lstStyle/>
          <a:p>
            <a:r>
              <a:rPr lang="en-ZA" sz="4000" dirty="0"/>
              <a:t>Displaying - </a:t>
            </a:r>
            <a:r>
              <a:rPr lang="en-ZA" sz="4000" dirty="0" err="1"/>
              <a:t>Barplot</a:t>
            </a:r>
            <a:endParaRPr lang="en-ZA" sz="4000" dirty="0"/>
          </a:p>
        </p:txBody>
      </p:sp>
      <p:sp>
        <p:nvSpPr>
          <p:cNvPr id="4" name="TextBox 3"/>
          <p:cNvSpPr txBox="1"/>
          <p:nvPr/>
        </p:nvSpPr>
        <p:spPr>
          <a:xfrm>
            <a:off x="763051" y="1189553"/>
            <a:ext cx="8552329" cy="1015663"/>
          </a:xfrm>
          <a:prstGeom prst="rect">
            <a:avLst/>
          </a:prstGeom>
          <a:noFill/>
        </p:spPr>
        <p:txBody>
          <a:bodyPr wrap="square" rtlCol="0">
            <a:spAutoFit/>
          </a:bodyPr>
          <a:lstStyle/>
          <a:p>
            <a:pPr marL="285750" indent="-285750">
              <a:buFont typeface="Arial" panose="020B0604020202020204" pitchFamily="34" charset="0"/>
              <a:buChar char="•"/>
            </a:pPr>
            <a:r>
              <a:rPr lang="en-ZA" sz="1500" dirty="0">
                <a:latin typeface="Avenir Next Cyr W04 Regular" panose="020B0503020202020204" pitchFamily="34" charset="0"/>
              </a:rPr>
              <a:t>A bar graph is used to display categorical data, which displays each level of a specific factors, with the height of the bars being proportional to the frequencies of the observations failing in the respective categories. It will display an awkward pattern but should be interpreted as a histogram.</a:t>
            </a:r>
          </a:p>
        </p:txBody>
      </p:sp>
      <p:sp>
        <p:nvSpPr>
          <p:cNvPr id="8" name="TextBox 7"/>
          <p:cNvSpPr txBox="1"/>
          <p:nvPr/>
        </p:nvSpPr>
        <p:spPr>
          <a:xfrm>
            <a:off x="5758249" y="6132260"/>
            <a:ext cx="4272442" cy="3231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Example 3.10:</a:t>
            </a:r>
            <a:r>
              <a:rPr kumimoji="0" lang="en-ZA" sz="15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US State Facts and Features</a:t>
            </a:r>
            <a:endPar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pic>
        <p:nvPicPr>
          <p:cNvPr id="9" name="Picture 8"/>
          <p:cNvPicPr>
            <a:picLocks noChangeAspect="1"/>
          </p:cNvPicPr>
          <p:nvPr/>
        </p:nvPicPr>
        <p:blipFill>
          <a:blip r:embed="rId5"/>
          <a:stretch>
            <a:fillRect/>
          </a:stretch>
        </p:blipFill>
        <p:spPr>
          <a:xfrm>
            <a:off x="662998" y="2590799"/>
            <a:ext cx="3835890" cy="3450729"/>
          </a:xfrm>
          <a:prstGeom prst="rect">
            <a:avLst/>
          </a:prstGeom>
        </p:spPr>
      </p:pic>
      <p:pic>
        <p:nvPicPr>
          <p:cNvPr id="10" name="Picture 9"/>
          <p:cNvPicPr>
            <a:picLocks noChangeAspect="1"/>
          </p:cNvPicPr>
          <p:nvPr/>
        </p:nvPicPr>
        <p:blipFill>
          <a:blip r:embed="rId6"/>
          <a:stretch>
            <a:fillRect/>
          </a:stretch>
        </p:blipFill>
        <p:spPr>
          <a:xfrm>
            <a:off x="5633557" y="2590458"/>
            <a:ext cx="3813511" cy="3451070"/>
          </a:xfrm>
          <a:prstGeom prst="rect">
            <a:avLst/>
          </a:prstGeom>
        </p:spPr>
      </p:pic>
      <p:pic>
        <p:nvPicPr>
          <p:cNvPr id="11" name="Picture 10"/>
          <p:cNvPicPr>
            <a:picLocks noChangeAspect="1"/>
          </p:cNvPicPr>
          <p:nvPr/>
        </p:nvPicPr>
        <p:blipFill>
          <a:blip r:embed="rId7"/>
          <a:stretch>
            <a:fillRect/>
          </a:stretch>
        </p:blipFill>
        <p:spPr>
          <a:xfrm>
            <a:off x="800775" y="2331162"/>
            <a:ext cx="3686175" cy="133350"/>
          </a:xfrm>
          <a:prstGeom prst="rect">
            <a:avLst/>
          </a:prstGeom>
        </p:spPr>
      </p:pic>
      <p:pic>
        <p:nvPicPr>
          <p:cNvPr id="12" name="Picture 11"/>
          <p:cNvPicPr>
            <a:picLocks noChangeAspect="1"/>
          </p:cNvPicPr>
          <p:nvPr/>
        </p:nvPicPr>
        <p:blipFill>
          <a:blip r:embed="rId8"/>
          <a:stretch>
            <a:fillRect/>
          </a:stretch>
        </p:blipFill>
        <p:spPr>
          <a:xfrm>
            <a:off x="5273362" y="2316874"/>
            <a:ext cx="4533900" cy="161925"/>
          </a:xfrm>
          <a:prstGeom prst="rect">
            <a:avLst/>
          </a:prstGeom>
        </p:spPr>
      </p:pic>
      <p:sp>
        <p:nvSpPr>
          <p:cNvPr id="13" name="Rectangle 12"/>
          <p:cNvSpPr/>
          <p:nvPr/>
        </p:nvSpPr>
        <p:spPr>
          <a:xfrm>
            <a:off x="763050" y="2284815"/>
            <a:ext cx="3723899" cy="17969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5168795" y="2284815"/>
            <a:ext cx="4638467" cy="179697"/>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92735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5" name="Title 1"/>
          <p:cNvSpPr>
            <a:spLocks noGrp="1"/>
          </p:cNvSpPr>
          <p:nvPr>
            <p:ph type="title"/>
          </p:nvPr>
        </p:nvSpPr>
        <p:spPr>
          <a:xfrm>
            <a:off x="581515" y="334223"/>
            <a:ext cx="8915400" cy="845332"/>
          </a:xfrm>
        </p:spPr>
        <p:txBody>
          <a:bodyPr>
            <a:normAutofit/>
          </a:bodyPr>
          <a:lstStyle/>
          <a:p>
            <a:r>
              <a:rPr lang="en-ZA" sz="4000" dirty="0"/>
              <a:t>Displaying – Pareto Diagram</a:t>
            </a:r>
          </a:p>
        </p:txBody>
      </p:sp>
      <p:sp>
        <p:nvSpPr>
          <p:cNvPr id="4" name="TextBox 3"/>
          <p:cNvSpPr txBox="1"/>
          <p:nvPr/>
        </p:nvSpPr>
        <p:spPr>
          <a:xfrm>
            <a:off x="255400" y="1179555"/>
            <a:ext cx="8552329" cy="615553"/>
          </a:xfrm>
          <a:prstGeom prst="rect">
            <a:avLst/>
          </a:prstGeom>
          <a:noFill/>
        </p:spPr>
        <p:txBody>
          <a:bodyPr wrap="square" rtlCol="0">
            <a:spAutoFit/>
          </a:bodyPr>
          <a:lstStyle/>
          <a:p>
            <a:pPr marL="285750" indent="-285750">
              <a:buFont typeface="Arial" panose="020B0604020202020204" pitchFamily="34" charset="0"/>
              <a:buChar char="•"/>
            </a:pPr>
            <a:r>
              <a:rPr lang="en-ZA" sz="1700" dirty="0">
                <a:latin typeface="Avenir Next Cyr W04 Regular" panose="020B0503020202020204" pitchFamily="34" charset="0"/>
              </a:rPr>
              <a:t>A Pareto Diagram is similar to a </a:t>
            </a:r>
            <a:r>
              <a:rPr lang="en-ZA" sz="1700" dirty="0" err="1">
                <a:latin typeface="Avenir Next Cyr W04 Regular" panose="020B0503020202020204" pitchFamily="34" charset="0"/>
              </a:rPr>
              <a:t>Barplot</a:t>
            </a:r>
            <a:r>
              <a:rPr lang="en-ZA" sz="1700" dirty="0">
                <a:latin typeface="Avenir Next Cyr W04 Regular" panose="020B0503020202020204" pitchFamily="34" charset="0"/>
              </a:rPr>
              <a:t>, but it displays the bars in descending order according to the height of the bars from left to right.</a:t>
            </a:r>
          </a:p>
        </p:txBody>
      </p:sp>
      <p:sp>
        <p:nvSpPr>
          <p:cNvPr id="7" name="TextBox 6"/>
          <p:cNvSpPr txBox="1"/>
          <p:nvPr/>
        </p:nvSpPr>
        <p:spPr>
          <a:xfrm>
            <a:off x="5758249" y="6132260"/>
            <a:ext cx="4272442" cy="3231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Example 3.11:</a:t>
            </a:r>
            <a:r>
              <a:rPr kumimoji="0" lang="en-ZA" sz="15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US State Facts and Features</a:t>
            </a:r>
            <a:endParaRPr kumimoji="0" lang="en-ZA" sz="15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sp>
        <p:nvSpPr>
          <p:cNvPr id="8" name="TextBox 7"/>
          <p:cNvSpPr txBox="1"/>
          <p:nvPr/>
        </p:nvSpPr>
        <p:spPr>
          <a:xfrm>
            <a:off x="255400" y="5678289"/>
            <a:ext cx="8552329" cy="615553"/>
          </a:xfrm>
          <a:prstGeom prst="rect">
            <a:avLst/>
          </a:prstGeom>
          <a:noFill/>
        </p:spPr>
        <p:txBody>
          <a:bodyPr wrap="square" rtlCol="0">
            <a:spAutoFit/>
          </a:bodyPr>
          <a:lstStyle/>
          <a:p>
            <a:pPr marL="285750" indent="-285750">
              <a:buFont typeface="Arial" panose="020B0604020202020204" pitchFamily="34" charset="0"/>
              <a:buChar char="•"/>
            </a:pPr>
            <a:r>
              <a:rPr lang="en-ZA" sz="1700" dirty="0">
                <a:latin typeface="Avenir Next Cyr W04 Regular" panose="020B0503020202020204" pitchFamily="34" charset="0"/>
              </a:rPr>
              <a:t>You might need to install the </a:t>
            </a:r>
            <a:r>
              <a:rPr lang="en-ZA" sz="1700" i="1" dirty="0" err="1">
                <a:latin typeface="Avenir Next Cyr W04 Regular" panose="020B0503020202020204" pitchFamily="34" charset="0"/>
              </a:rPr>
              <a:t>qcc</a:t>
            </a:r>
            <a:r>
              <a:rPr lang="en-ZA" sz="1700" dirty="0">
                <a:latin typeface="Avenir Next Cyr W04 Regular" panose="020B0503020202020204" pitchFamily="34" charset="0"/>
              </a:rPr>
              <a:t> package and then load it using the </a:t>
            </a:r>
            <a:r>
              <a:rPr lang="en-ZA" sz="1700" i="1" dirty="0">
                <a:latin typeface="Avenir Next Cyr W04 Regular" panose="020B0503020202020204" pitchFamily="34" charset="0"/>
              </a:rPr>
              <a:t>library</a:t>
            </a:r>
            <a:r>
              <a:rPr lang="en-ZA" sz="1700" dirty="0">
                <a:latin typeface="Avenir Next Cyr W04 Regular" panose="020B0503020202020204" pitchFamily="34" charset="0"/>
              </a:rPr>
              <a:t>() function.</a:t>
            </a:r>
          </a:p>
        </p:txBody>
      </p:sp>
      <p:pic>
        <p:nvPicPr>
          <p:cNvPr id="9" name="Picture 8"/>
          <p:cNvPicPr>
            <a:picLocks noChangeAspect="1"/>
          </p:cNvPicPr>
          <p:nvPr/>
        </p:nvPicPr>
        <p:blipFill>
          <a:blip r:embed="rId5"/>
          <a:stretch>
            <a:fillRect/>
          </a:stretch>
        </p:blipFill>
        <p:spPr>
          <a:xfrm>
            <a:off x="131837" y="1863540"/>
            <a:ext cx="5029200" cy="3571875"/>
          </a:xfrm>
          <a:prstGeom prst="rect">
            <a:avLst/>
          </a:prstGeom>
        </p:spPr>
      </p:pic>
      <p:pic>
        <p:nvPicPr>
          <p:cNvPr id="10" name="Picture 9"/>
          <p:cNvPicPr>
            <a:picLocks noChangeAspect="1"/>
          </p:cNvPicPr>
          <p:nvPr/>
        </p:nvPicPr>
        <p:blipFill>
          <a:blip r:embed="rId6"/>
          <a:stretch>
            <a:fillRect/>
          </a:stretch>
        </p:blipFill>
        <p:spPr>
          <a:xfrm>
            <a:off x="5483802" y="1863541"/>
            <a:ext cx="4145107" cy="3571874"/>
          </a:xfrm>
          <a:prstGeom prst="rect">
            <a:avLst/>
          </a:prstGeom>
        </p:spPr>
      </p:pic>
    </p:spTree>
    <p:extLst>
      <p:ext uri="{BB962C8B-B14F-4D97-AF65-F5344CB8AC3E}">
        <p14:creationId xmlns:p14="http://schemas.microsoft.com/office/powerpoint/2010/main" val="1167191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5" name="Title 1"/>
          <p:cNvSpPr>
            <a:spLocks noGrp="1"/>
          </p:cNvSpPr>
          <p:nvPr>
            <p:ph type="title"/>
          </p:nvPr>
        </p:nvSpPr>
        <p:spPr>
          <a:xfrm>
            <a:off x="269436" y="324226"/>
            <a:ext cx="8915400" cy="845332"/>
          </a:xfrm>
        </p:spPr>
        <p:txBody>
          <a:bodyPr>
            <a:normAutofit/>
          </a:bodyPr>
          <a:lstStyle/>
          <a:p>
            <a:r>
              <a:rPr lang="en-ZA" sz="4000" dirty="0"/>
              <a:t>Displaying – Dot Chart</a:t>
            </a:r>
          </a:p>
        </p:txBody>
      </p:sp>
      <p:sp>
        <p:nvSpPr>
          <p:cNvPr id="4" name="TextBox 3"/>
          <p:cNvSpPr txBox="1"/>
          <p:nvPr/>
        </p:nvSpPr>
        <p:spPr>
          <a:xfrm>
            <a:off x="763051" y="1354254"/>
            <a:ext cx="8552329" cy="70788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A dot plot is similar to a bar graph instead it is turned on one side with the bars replaced by dots on horizontal lines.</a:t>
            </a:r>
          </a:p>
        </p:txBody>
      </p:sp>
      <p:pic>
        <p:nvPicPr>
          <p:cNvPr id="7" name="Picture 6"/>
          <p:cNvPicPr>
            <a:picLocks noChangeAspect="1"/>
          </p:cNvPicPr>
          <p:nvPr/>
        </p:nvPicPr>
        <p:blipFill>
          <a:blip r:embed="rId5"/>
          <a:stretch>
            <a:fillRect/>
          </a:stretch>
        </p:blipFill>
        <p:spPr>
          <a:xfrm>
            <a:off x="823436" y="2062140"/>
            <a:ext cx="4810125" cy="4200525"/>
          </a:xfrm>
          <a:prstGeom prst="rect">
            <a:avLst/>
          </a:prstGeom>
        </p:spPr>
      </p:pic>
      <p:pic>
        <p:nvPicPr>
          <p:cNvPr id="8" name="Picture 7"/>
          <p:cNvPicPr>
            <a:picLocks noChangeAspect="1"/>
          </p:cNvPicPr>
          <p:nvPr/>
        </p:nvPicPr>
        <p:blipFill>
          <a:blip r:embed="rId6"/>
          <a:stretch>
            <a:fillRect/>
          </a:stretch>
        </p:blipFill>
        <p:spPr>
          <a:xfrm>
            <a:off x="6019730" y="3564948"/>
            <a:ext cx="3295650" cy="476250"/>
          </a:xfrm>
          <a:prstGeom prst="rect">
            <a:avLst/>
          </a:prstGeom>
        </p:spPr>
      </p:pic>
      <p:sp>
        <p:nvSpPr>
          <p:cNvPr id="9" name="Rectangle 8"/>
          <p:cNvSpPr/>
          <p:nvPr/>
        </p:nvSpPr>
        <p:spPr>
          <a:xfrm>
            <a:off x="6019730" y="3577206"/>
            <a:ext cx="3295650" cy="46399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8062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5" name="Title 1"/>
          <p:cNvSpPr>
            <a:spLocks noGrp="1"/>
          </p:cNvSpPr>
          <p:nvPr>
            <p:ph type="title"/>
          </p:nvPr>
        </p:nvSpPr>
        <p:spPr>
          <a:xfrm>
            <a:off x="269436" y="324226"/>
            <a:ext cx="8915400" cy="845332"/>
          </a:xfrm>
        </p:spPr>
        <p:txBody>
          <a:bodyPr>
            <a:normAutofit/>
          </a:bodyPr>
          <a:lstStyle/>
          <a:p>
            <a:r>
              <a:rPr lang="en-ZA" sz="4000" dirty="0"/>
              <a:t>Logical Data</a:t>
            </a:r>
          </a:p>
        </p:txBody>
      </p:sp>
      <p:sp>
        <p:nvSpPr>
          <p:cNvPr id="6" name="TextBox 5"/>
          <p:cNvSpPr txBox="1"/>
          <p:nvPr/>
        </p:nvSpPr>
        <p:spPr>
          <a:xfrm>
            <a:off x="763051" y="1354254"/>
            <a:ext cx="8552329" cy="70788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 value of data can either be true and false; </a:t>
            </a:r>
            <a:r>
              <a:rPr lang="en-ZA" sz="2000" dirty="0" err="1">
                <a:latin typeface="Avenir Next Cyr W04 Regular" panose="020B0503020202020204" pitchFamily="34" charset="0"/>
              </a:rPr>
              <a:t>Eg</a:t>
            </a:r>
            <a:r>
              <a:rPr lang="en-ZA" sz="2000" dirty="0">
                <a:latin typeface="Avenir Next Cyr W04 Regular" panose="020B0503020202020204" pitchFamily="34" charset="0"/>
              </a:rPr>
              <a:t>; does a person have a drivers license or not.</a:t>
            </a:r>
          </a:p>
        </p:txBody>
      </p:sp>
      <p:pic>
        <p:nvPicPr>
          <p:cNvPr id="4" name="Picture 3"/>
          <p:cNvPicPr>
            <a:picLocks noChangeAspect="1"/>
          </p:cNvPicPr>
          <p:nvPr/>
        </p:nvPicPr>
        <p:blipFill>
          <a:blip r:embed="rId5"/>
          <a:stretch>
            <a:fillRect/>
          </a:stretch>
        </p:blipFill>
        <p:spPr>
          <a:xfrm>
            <a:off x="823436" y="2257424"/>
            <a:ext cx="3462296" cy="1039957"/>
          </a:xfrm>
          <a:prstGeom prst="rect">
            <a:avLst/>
          </a:prstGeom>
        </p:spPr>
      </p:pic>
      <p:sp>
        <p:nvSpPr>
          <p:cNvPr id="7" name="TextBox 6"/>
          <p:cNvSpPr txBox="1"/>
          <p:nvPr/>
        </p:nvSpPr>
        <p:spPr>
          <a:xfrm>
            <a:off x="4727136" y="2062140"/>
            <a:ext cx="4317941" cy="163121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We have made assigned x to be a data vector from 5 to 9.</a:t>
            </a:r>
          </a:p>
          <a:p>
            <a:pPr marL="285750" indent="-285750">
              <a:buFont typeface="Arial" panose="020B0604020202020204" pitchFamily="34" charset="0"/>
              <a:buChar char="•"/>
            </a:pPr>
            <a:r>
              <a:rPr lang="en-ZA" sz="2000" dirty="0">
                <a:latin typeface="Avenir Next Cyr W04 Regular" panose="020B0503020202020204" pitchFamily="34" charset="0"/>
              </a:rPr>
              <a:t>We have assigned y to indicated whether x &lt; is less than 5, 6, 7, 8 &amp; 9.</a:t>
            </a:r>
          </a:p>
        </p:txBody>
      </p:sp>
      <p:sp>
        <p:nvSpPr>
          <p:cNvPr id="8" name="Rectangle 7"/>
          <p:cNvSpPr/>
          <p:nvPr/>
        </p:nvSpPr>
        <p:spPr>
          <a:xfrm>
            <a:off x="763051" y="2212201"/>
            <a:ext cx="3693782" cy="108517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6"/>
          <a:stretch>
            <a:fillRect/>
          </a:stretch>
        </p:blipFill>
        <p:spPr>
          <a:xfrm>
            <a:off x="823436" y="4396654"/>
            <a:ext cx="3633398" cy="609892"/>
          </a:xfrm>
          <a:prstGeom prst="rect">
            <a:avLst/>
          </a:prstGeom>
        </p:spPr>
      </p:pic>
      <p:sp>
        <p:nvSpPr>
          <p:cNvPr id="10" name="Rectangle 9"/>
          <p:cNvSpPr/>
          <p:nvPr/>
        </p:nvSpPr>
        <p:spPr>
          <a:xfrm>
            <a:off x="793244" y="4382799"/>
            <a:ext cx="3693782" cy="62374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4727136" y="4298660"/>
            <a:ext cx="4317941" cy="70788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We can swap TRUE with FALSE with the exclamation point !.</a:t>
            </a:r>
          </a:p>
        </p:txBody>
      </p:sp>
    </p:spTree>
    <p:extLst>
      <p:ext uri="{BB962C8B-B14F-4D97-AF65-F5344CB8AC3E}">
        <p14:creationId xmlns:p14="http://schemas.microsoft.com/office/powerpoint/2010/main" val="2617268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5" name="Title 1"/>
          <p:cNvSpPr>
            <a:spLocks noGrp="1"/>
          </p:cNvSpPr>
          <p:nvPr>
            <p:ph type="title"/>
          </p:nvPr>
        </p:nvSpPr>
        <p:spPr>
          <a:xfrm>
            <a:off x="269436" y="324226"/>
            <a:ext cx="8915400" cy="845332"/>
          </a:xfrm>
        </p:spPr>
        <p:txBody>
          <a:bodyPr>
            <a:normAutofit/>
          </a:bodyPr>
          <a:lstStyle/>
          <a:p>
            <a:r>
              <a:rPr lang="en-ZA" sz="4000" dirty="0"/>
              <a:t>Missing Data</a:t>
            </a:r>
          </a:p>
        </p:txBody>
      </p:sp>
      <p:sp>
        <p:nvSpPr>
          <p:cNvPr id="6" name="TextBox 5"/>
          <p:cNvSpPr txBox="1"/>
          <p:nvPr/>
        </p:nvSpPr>
        <p:spPr>
          <a:xfrm>
            <a:off x="763051" y="1409673"/>
            <a:ext cx="8552329" cy="1015663"/>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Missing data is a </a:t>
            </a:r>
            <a:r>
              <a:rPr lang="en-ZA" sz="2000" dirty="0" err="1">
                <a:latin typeface="Avenir Next Cyr W04 Regular" panose="020B0503020202020204" pitchFamily="34" charset="0"/>
              </a:rPr>
              <a:t>persistant</a:t>
            </a:r>
            <a:r>
              <a:rPr lang="en-ZA" sz="2000" dirty="0">
                <a:latin typeface="Avenir Next Cyr W04 Regular" panose="020B0503020202020204" pitchFamily="34" charset="0"/>
              </a:rPr>
              <a:t> problem in many statistical analyses. If we decide to calculate a summation of a continuous variable with Null values it will end up producing a results of Null summation.</a:t>
            </a:r>
          </a:p>
        </p:txBody>
      </p:sp>
      <p:pic>
        <p:nvPicPr>
          <p:cNvPr id="4" name="Picture 3"/>
          <p:cNvPicPr>
            <a:picLocks noChangeAspect="1"/>
          </p:cNvPicPr>
          <p:nvPr/>
        </p:nvPicPr>
        <p:blipFill>
          <a:blip r:embed="rId5"/>
          <a:stretch>
            <a:fillRect/>
          </a:stretch>
        </p:blipFill>
        <p:spPr>
          <a:xfrm>
            <a:off x="3443373" y="2665451"/>
            <a:ext cx="2567525" cy="1085243"/>
          </a:xfrm>
          <a:prstGeom prst="rect">
            <a:avLst/>
          </a:prstGeom>
        </p:spPr>
      </p:pic>
      <p:pic>
        <p:nvPicPr>
          <p:cNvPr id="8" name="Picture 7"/>
          <p:cNvPicPr>
            <a:picLocks noChangeAspect="1"/>
          </p:cNvPicPr>
          <p:nvPr/>
        </p:nvPicPr>
        <p:blipFill>
          <a:blip r:embed="rId6"/>
          <a:stretch>
            <a:fillRect/>
          </a:stretch>
        </p:blipFill>
        <p:spPr>
          <a:xfrm>
            <a:off x="2961113" y="3990808"/>
            <a:ext cx="3532044" cy="2151094"/>
          </a:xfrm>
          <a:prstGeom prst="rect">
            <a:avLst/>
          </a:prstGeom>
        </p:spPr>
      </p:pic>
      <p:sp>
        <p:nvSpPr>
          <p:cNvPr id="9" name="Rectangle 8"/>
          <p:cNvSpPr/>
          <p:nvPr/>
        </p:nvSpPr>
        <p:spPr>
          <a:xfrm>
            <a:off x="3443373" y="2645456"/>
            <a:ext cx="2567525" cy="110523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2961112" y="3961117"/>
            <a:ext cx="3532045" cy="218078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59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5" name="Title 1"/>
          <p:cNvSpPr>
            <a:spLocks noGrp="1"/>
          </p:cNvSpPr>
          <p:nvPr>
            <p:ph type="title"/>
          </p:nvPr>
        </p:nvSpPr>
        <p:spPr>
          <a:xfrm>
            <a:off x="269436" y="324226"/>
            <a:ext cx="8915400" cy="845332"/>
          </a:xfrm>
        </p:spPr>
        <p:txBody>
          <a:bodyPr>
            <a:normAutofit fontScale="90000"/>
          </a:bodyPr>
          <a:lstStyle/>
          <a:p>
            <a:r>
              <a:rPr lang="en-ZA" sz="4000" dirty="0"/>
              <a:t>Types of Data – </a:t>
            </a:r>
            <a:br>
              <a:rPr lang="en-ZA" sz="4000" dirty="0"/>
            </a:br>
            <a:r>
              <a:rPr lang="en-ZA" sz="4000" dirty="0"/>
              <a:t>Features of Data Distributions</a:t>
            </a:r>
          </a:p>
        </p:txBody>
      </p:sp>
      <p:sp>
        <p:nvSpPr>
          <p:cNvPr id="6" name="TextBox 5"/>
          <p:cNvSpPr txBox="1"/>
          <p:nvPr/>
        </p:nvSpPr>
        <p:spPr>
          <a:xfrm>
            <a:off x="763051" y="1770675"/>
            <a:ext cx="8552329" cy="2554545"/>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 mean of the data can be calculated using the </a:t>
            </a:r>
            <a:r>
              <a:rPr lang="en-ZA" sz="2000" i="1" dirty="0">
                <a:latin typeface="Avenir Next Cyr W04 Regular" panose="020B0503020202020204" pitchFamily="34" charset="0"/>
              </a:rPr>
              <a:t>mean</a:t>
            </a:r>
            <a:r>
              <a:rPr lang="en-ZA" sz="2000" dirty="0">
                <a:latin typeface="Avenir Next Cyr W04 Regular" panose="020B0503020202020204" pitchFamily="34" charset="0"/>
              </a:rPr>
              <a:t>() function. It is possible to calculate a trimmed mean using the </a:t>
            </a:r>
            <a:r>
              <a:rPr lang="en-ZA" sz="2000" i="1" dirty="0">
                <a:latin typeface="Avenir Next Cyr W04 Regular" panose="020B0503020202020204" pitchFamily="34" charset="0"/>
              </a:rPr>
              <a:t>trim</a:t>
            </a:r>
            <a:r>
              <a:rPr lang="en-ZA" sz="2000" dirty="0">
                <a:latin typeface="Avenir Next Cyr W04 Regular" panose="020B0503020202020204" pitchFamily="34" charset="0"/>
              </a:rPr>
              <a:t> option.</a:t>
            </a:r>
          </a:p>
          <a:p>
            <a:pPr marL="285750" indent="-285750">
              <a:buFont typeface="Arial" panose="020B0604020202020204" pitchFamily="34" charset="0"/>
              <a:buChar char="•"/>
            </a:pPr>
            <a:endParaRPr lang="en-ZA" sz="2000" dirty="0">
              <a:latin typeface="Avenir Next Cyr W04 Regular" panose="020B0503020202020204" pitchFamily="34" charset="0"/>
            </a:endParaRPr>
          </a:p>
          <a:p>
            <a:pPr marL="285750" indent="-285750">
              <a:buFont typeface="Arial" panose="020B0604020202020204" pitchFamily="34" charset="0"/>
              <a:buChar char="•"/>
            </a:pPr>
            <a:r>
              <a:rPr lang="en-ZA" sz="2000" dirty="0">
                <a:latin typeface="Avenir Next Cyr W04 Regular" panose="020B0503020202020204" pitchFamily="34" charset="0"/>
              </a:rPr>
              <a:t>The median of the data can be calculated using the </a:t>
            </a:r>
            <a:r>
              <a:rPr lang="en-ZA" sz="2000" i="1" dirty="0">
                <a:latin typeface="Avenir Next Cyr W04 Regular" panose="020B0503020202020204" pitchFamily="34" charset="0"/>
              </a:rPr>
              <a:t>median()</a:t>
            </a:r>
            <a:r>
              <a:rPr lang="en-ZA" sz="2000" dirty="0">
                <a:latin typeface="Avenir Next Cyr W04 Regular" panose="020B0503020202020204" pitchFamily="34" charset="0"/>
              </a:rPr>
              <a:t> function.</a:t>
            </a:r>
          </a:p>
          <a:p>
            <a:pPr marL="285750" indent="-285750">
              <a:buFont typeface="Arial" panose="020B0604020202020204" pitchFamily="34" charset="0"/>
              <a:buChar char="•"/>
            </a:pPr>
            <a:endParaRPr lang="en-ZA" sz="2000" dirty="0">
              <a:latin typeface="Avenir Next Cyr W04 Regular" panose="020B0503020202020204" pitchFamily="34" charset="0"/>
            </a:endParaRPr>
          </a:p>
          <a:p>
            <a:pPr marL="285750" indent="-285750">
              <a:buFont typeface="Arial" panose="020B0604020202020204" pitchFamily="34" charset="0"/>
              <a:buChar char="•"/>
            </a:pPr>
            <a:r>
              <a:rPr lang="en-ZA" sz="2000" dirty="0">
                <a:latin typeface="Avenir Next Cyr W04 Regular" panose="020B0503020202020204" pitchFamily="34" charset="0"/>
              </a:rPr>
              <a:t>Quantiles can be calculated using the </a:t>
            </a:r>
            <a:r>
              <a:rPr lang="en-ZA" sz="2000" i="1" dirty="0">
                <a:latin typeface="Avenir Next Cyr W04 Regular" panose="020B0503020202020204" pitchFamily="34" charset="0"/>
              </a:rPr>
              <a:t>quantile()</a:t>
            </a:r>
            <a:r>
              <a:rPr lang="en-ZA" sz="2000" dirty="0">
                <a:latin typeface="Avenir Next Cyr W04 Regular" panose="020B0503020202020204" pitchFamily="34" charset="0"/>
              </a:rPr>
              <a:t> function but sort the data first using the </a:t>
            </a:r>
            <a:r>
              <a:rPr lang="en-ZA" sz="2000" i="1" dirty="0">
                <a:latin typeface="Avenir Next Cyr W04 Regular" panose="020B0503020202020204" pitchFamily="34" charset="0"/>
              </a:rPr>
              <a:t>sort</a:t>
            </a:r>
            <a:r>
              <a:rPr lang="en-ZA" sz="2000" dirty="0">
                <a:latin typeface="Avenir Next Cyr W04 Regular" panose="020B0503020202020204" pitchFamily="34" charset="0"/>
              </a:rPr>
              <a:t>() function.</a:t>
            </a:r>
          </a:p>
        </p:txBody>
      </p:sp>
      <p:pic>
        <p:nvPicPr>
          <p:cNvPr id="4" name="Picture 3"/>
          <p:cNvPicPr>
            <a:picLocks noChangeAspect="1"/>
          </p:cNvPicPr>
          <p:nvPr/>
        </p:nvPicPr>
        <p:blipFill rotWithShape="1">
          <a:blip r:embed="rId5"/>
          <a:srcRect l="492" t="10173" r="81488" b="77497"/>
          <a:stretch/>
        </p:blipFill>
        <p:spPr>
          <a:xfrm>
            <a:off x="3014793" y="4513330"/>
            <a:ext cx="3424686" cy="1318127"/>
          </a:xfrm>
          <a:prstGeom prst="rect">
            <a:avLst/>
          </a:prstGeom>
        </p:spPr>
      </p:pic>
      <p:sp>
        <p:nvSpPr>
          <p:cNvPr id="7" name="Rectangle 6"/>
          <p:cNvSpPr/>
          <p:nvPr/>
        </p:nvSpPr>
        <p:spPr>
          <a:xfrm>
            <a:off x="3014793" y="4619773"/>
            <a:ext cx="3233607" cy="121168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3675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5" name="Title 1"/>
          <p:cNvSpPr>
            <a:spLocks noGrp="1"/>
          </p:cNvSpPr>
          <p:nvPr>
            <p:ph type="title"/>
          </p:nvPr>
        </p:nvSpPr>
        <p:spPr>
          <a:xfrm>
            <a:off x="269436" y="324226"/>
            <a:ext cx="8915400" cy="845332"/>
          </a:xfrm>
        </p:spPr>
        <p:txBody>
          <a:bodyPr>
            <a:normAutofit/>
          </a:bodyPr>
          <a:lstStyle/>
          <a:p>
            <a:r>
              <a:rPr lang="en-ZA" sz="4000" dirty="0"/>
              <a:t>Measures of spread</a:t>
            </a:r>
          </a:p>
        </p:txBody>
      </p:sp>
      <p:sp>
        <p:nvSpPr>
          <p:cNvPr id="6" name="TextBox 5"/>
          <p:cNvSpPr txBox="1"/>
          <p:nvPr/>
        </p:nvSpPr>
        <p:spPr>
          <a:xfrm>
            <a:off x="763051" y="1770675"/>
            <a:ext cx="8552329" cy="224676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Sample variance can be calculated using the </a:t>
            </a:r>
            <a:r>
              <a:rPr lang="en-ZA" sz="2000" i="1" dirty="0" err="1">
                <a:latin typeface="Avenir Next Cyr W04 Regular" panose="020B0503020202020204" pitchFamily="34" charset="0"/>
              </a:rPr>
              <a:t>var</a:t>
            </a:r>
            <a:r>
              <a:rPr lang="en-ZA" sz="2000" i="1" dirty="0">
                <a:latin typeface="Avenir Next Cyr W04 Regular" panose="020B0503020202020204" pitchFamily="34" charset="0"/>
              </a:rPr>
              <a:t>()</a:t>
            </a:r>
            <a:r>
              <a:rPr lang="en-ZA" sz="2000" dirty="0">
                <a:latin typeface="Avenir Next Cyr W04 Regular" panose="020B0503020202020204" pitchFamily="34" charset="0"/>
              </a:rPr>
              <a:t> function.</a:t>
            </a:r>
          </a:p>
          <a:p>
            <a:pPr marL="285750" indent="-285750">
              <a:buFont typeface="Arial" panose="020B0604020202020204" pitchFamily="34" charset="0"/>
              <a:buChar char="•"/>
            </a:pPr>
            <a:endParaRPr lang="en-ZA" sz="2000" dirty="0">
              <a:latin typeface="Avenir Next Cyr W04 Regular" panose="020B0503020202020204" pitchFamily="34" charset="0"/>
            </a:endParaRPr>
          </a:p>
          <a:p>
            <a:pPr marL="285750" indent="-285750">
              <a:buFont typeface="Arial" panose="020B0604020202020204" pitchFamily="34" charset="0"/>
              <a:buChar char="•"/>
            </a:pPr>
            <a:r>
              <a:rPr lang="en-ZA" sz="2000" dirty="0">
                <a:latin typeface="Avenir Next Cyr W04 Regular" panose="020B0503020202020204" pitchFamily="34" charset="0"/>
              </a:rPr>
              <a:t>To calculate the sample standard deviation use the formula </a:t>
            </a:r>
            <a:r>
              <a:rPr lang="en-ZA" sz="2000" i="1" dirty="0" err="1">
                <a:latin typeface="Avenir Next Cyr W04 Regular" panose="020B0503020202020204" pitchFamily="34" charset="0"/>
              </a:rPr>
              <a:t>sd</a:t>
            </a:r>
            <a:r>
              <a:rPr lang="en-ZA" sz="2000" i="1" dirty="0">
                <a:latin typeface="Avenir Next Cyr W04 Regular" panose="020B0503020202020204" pitchFamily="34" charset="0"/>
              </a:rPr>
              <a:t>()</a:t>
            </a:r>
            <a:r>
              <a:rPr lang="en-ZA" sz="2000" dirty="0">
                <a:latin typeface="Avenir Next Cyr W04 Regular" panose="020B0503020202020204" pitchFamily="34" charset="0"/>
              </a:rPr>
              <a:t> or calculate the square root of the sample variance using the </a:t>
            </a:r>
            <a:r>
              <a:rPr lang="en-ZA" sz="2000" i="1" dirty="0" err="1">
                <a:latin typeface="Avenir Next Cyr W04 Regular" panose="020B0503020202020204" pitchFamily="34" charset="0"/>
              </a:rPr>
              <a:t>sqrt</a:t>
            </a:r>
            <a:r>
              <a:rPr lang="en-ZA" sz="2000" i="1" dirty="0">
                <a:latin typeface="Avenir Next Cyr W04 Regular" panose="020B0503020202020204" pitchFamily="34" charset="0"/>
              </a:rPr>
              <a:t>()</a:t>
            </a:r>
            <a:r>
              <a:rPr lang="en-ZA" sz="2000" dirty="0">
                <a:latin typeface="Avenir Next Cyr W04 Regular" panose="020B0503020202020204" pitchFamily="34" charset="0"/>
              </a:rPr>
              <a:t> function.</a:t>
            </a:r>
          </a:p>
          <a:p>
            <a:pPr marL="285750" indent="-285750">
              <a:buFont typeface="Arial" panose="020B0604020202020204" pitchFamily="34" charset="0"/>
              <a:buChar char="•"/>
            </a:pPr>
            <a:endParaRPr lang="en-ZA" sz="2000" dirty="0">
              <a:latin typeface="Avenir Next Cyr W04 Regular" panose="020B0503020202020204" pitchFamily="34" charset="0"/>
            </a:endParaRPr>
          </a:p>
          <a:p>
            <a:pPr marL="285750" indent="-285750">
              <a:buFont typeface="Arial" panose="020B0604020202020204" pitchFamily="34" charset="0"/>
              <a:buChar char="•"/>
            </a:pPr>
            <a:r>
              <a:rPr lang="en-ZA" sz="2000" dirty="0">
                <a:latin typeface="Avenir Next Cyr W04 Regular" panose="020B0503020202020204" pitchFamily="34" charset="0"/>
              </a:rPr>
              <a:t>The Interquartile Range can be calculated using the </a:t>
            </a:r>
            <a:r>
              <a:rPr lang="en-ZA" sz="2000" i="1" dirty="0">
                <a:latin typeface="Avenir Next Cyr W04 Regular" panose="020B0503020202020204" pitchFamily="34" charset="0"/>
              </a:rPr>
              <a:t>IQR()</a:t>
            </a:r>
            <a:r>
              <a:rPr lang="en-ZA" sz="2000" dirty="0">
                <a:latin typeface="Avenir Next Cyr W04 Regular" panose="020B0503020202020204" pitchFamily="34" charset="0"/>
              </a:rPr>
              <a:t> function.</a:t>
            </a:r>
          </a:p>
        </p:txBody>
      </p:sp>
    </p:spTree>
    <p:extLst>
      <p:ext uri="{BB962C8B-B14F-4D97-AF65-F5344CB8AC3E}">
        <p14:creationId xmlns:p14="http://schemas.microsoft.com/office/powerpoint/2010/main" val="25090592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5" name="Title 1"/>
          <p:cNvSpPr>
            <a:spLocks noGrp="1"/>
          </p:cNvSpPr>
          <p:nvPr>
            <p:ph type="title"/>
          </p:nvPr>
        </p:nvSpPr>
        <p:spPr>
          <a:xfrm>
            <a:off x="269436" y="324226"/>
            <a:ext cx="8915400" cy="845332"/>
          </a:xfrm>
        </p:spPr>
        <p:txBody>
          <a:bodyPr>
            <a:normAutofit/>
          </a:bodyPr>
          <a:lstStyle/>
          <a:p>
            <a:r>
              <a:rPr lang="en-ZA" sz="4000" dirty="0"/>
              <a:t>Measures of shape</a:t>
            </a:r>
          </a:p>
        </p:txBody>
      </p:sp>
      <p:sp>
        <p:nvSpPr>
          <p:cNvPr id="4" name="TextBox 3"/>
          <p:cNvSpPr txBox="1"/>
          <p:nvPr/>
        </p:nvSpPr>
        <p:spPr>
          <a:xfrm>
            <a:off x="632507" y="1368893"/>
            <a:ext cx="8552329" cy="4801314"/>
          </a:xfrm>
          <a:prstGeom prst="rect">
            <a:avLst/>
          </a:prstGeom>
          <a:noFill/>
        </p:spPr>
        <p:txBody>
          <a:bodyPr wrap="square" rtlCol="0">
            <a:spAutoFit/>
          </a:bodyPr>
          <a:lstStyle/>
          <a:p>
            <a:pPr marL="342900" indent="-342900">
              <a:buFont typeface="Arial" panose="020B0604020202020204" pitchFamily="34" charset="0"/>
              <a:buChar char="•"/>
            </a:pPr>
            <a:r>
              <a:rPr lang="en-ZA" sz="1700" dirty="0">
                <a:latin typeface="Avenir Next Cyr W04 Regular" panose="020B0503020202020204" pitchFamily="34" charset="0"/>
              </a:rPr>
              <a:t>To calculate skewness use the </a:t>
            </a:r>
            <a:r>
              <a:rPr lang="en-ZA" sz="1700" i="1" dirty="0">
                <a:latin typeface="Avenir Next Cyr W04 Regular" panose="020B0503020202020204" pitchFamily="34" charset="0"/>
              </a:rPr>
              <a:t>skewness()</a:t>
            </a:r>
            <a:r>
              <a:rPr lang="en-ZA" sz="1700" dirty="0">
                <a:latin typeface="Avenir Next Cyr W04 Regular" panose="020B0503020202020204" pitchFamily="34" charset="0"/>
              </a:rPr>
              <a:t> function. </a:t>
            </a:r>
          </a:p>
          <a:p>
            <a:pPr marL="342900" indent="-342900">
              <a:buFont typeface="Arial" panose="020B0604020202020204" pitchFamily="34" charset="0"/>
              <a:buChar char="•"/>
            </a:pPr>
            <a:endParaRPr lang="en-ZA" sz="1700" dirty="0">
              <a:latin typeface="Avenir Next Cyr W04 Regular" panose="020B0503020202020204" pitchFamily="34" charset="0"/>
            </a:endParaRPr>
          </a:p>
          <a:p>
            <a:pPr marL="342900" indent="-342900">
              <a:buFont typeface="Arial" panose="020B0604020202020204" pitchFamily="34" charset="0"/>
              <a:buChar char="•"/>
            </a:pPr>
            <a:endParaRPr lang="en-ZA" sz="1700" dirty="0">
              <a:latin typeface="Avenir Next Cyr W04 Regular" panose="020B0503020202020204" pitchFamily="34" charset="0"/>
            </a:endParaRPr>
          </a:p>
          <a:p>
            <a:pPr marL="342900" indent="-342900">
              <a:buFont typeface="Arial" panose="020B0604020202020204" pitchFamily="34" charset="0"/>
              <a:buChar char="•"/>
            </a:pPr>
            <a:endParaRPr lang="en-ZA" sz="1700" dirty="0">
              <a:latin typeface="Avenir Next Cyr W04 Regular" panose="020B0503020202020204" pitchFamily="34" charset="0"/>
            </a:endParaRPr>
          </a:p>
          <a:p>
            <a:pPr marL="342900" indent="-342900">
              <a:buFont typeface="Arial" panose="020B0604020202020204" pitchFamily="34" charset="0"/>
              <a:buChar char="•"/>
            </a:pPr>
            <a:r>
              <a:rPr lang="en-US" sz="1700" dirty="0">
                <a:latin typeface="Avenir Next Cyr W04 Regular" panose="020B0503020202020204" pitchFamily="34" charset="0"/>
              </a:rPr>
              <a:t>The sample skewness can be any value - </a:t>
            </a:r>
            <a:r>
              <a:rPr lang="en-US" sz="1700" dirty="0"/>
              <a:t>∞</a:t>
            </a:r>
            <a:r>
              <a:rPr lang="en-US" sz="1700" dirty="0">
                <a:latin typeface="Avenir Next Cyr W04 Regular" panose="020B0503020202020204" pitchFamily="34" charset="0"/>
              </a:rPr>
              <a:t> &lt; g1 &lt; </a:t>
            </a:r>
            <a:r>
              <a:rPr lang="en-US" sz="1700" dirty="0"/>
              <a:t>∞</a:t>
            </a:r>
            <a:r>
              <a:rPr lang="en-US" sz="1700" dirty="0">
                <a:latin typeface="Avenir Next Cyr W04 Regular" panose="020B0503020202020204" pitchFamily="34" charset="0"/>
              </a:rPr>
              <a:t> . The sign of g1 indicates the direction of skewness of the distribution. Samples that have g1 &gt; 0 indicate right-skewed distributions (or positively skewed), and samples with g1 &lt; 0 indicate left-skewed distributions (or negatively skewed). Values of g1 near zero indicate a symmetric distribution</a:t>
            </a:r>
            <a:endParaRPr lang="en-ZA" sz="1700" dirty="0">
              <a:latin typeface="Avenir Next Cyr W04 Regular" panose="020B0503020202020204" pitchFamily="34" charset="0"/>
            </a:endParaRPr>
          </a:p>
          <a:p>
            <a:pPr marL="285750" indent="-285750">
              <a:buFont typeface="Arial" panose="020B0604020202020204" pitchFamily="34" charset="0"/>
              <a:buChar char="•"/>
            </a:pPr>
            <a:endParaRPr lang="en-ZA" sz="1700" dirty="0">
              <a:latin typeface="Avenir Next Cyr W04 Regular" panose="020B0503020202020204" pitchFamily="34" charset="0"/>
            </a:endParaRPr>
          </a:p>
          <a:p>
            <a:pPr marL="285750" indent="-285750">
              <a:buFont typeface="Arial" panose="020B0604020202020204" pitchFamily="34" charset="0"/>
              <a:buChar char="•"/>
            </a:pPr>
            <a:r>
              <a:rPr lang="en-ZA" sz="1700" dirty="0">
                <a:latin typeface="Avenir Next Cyr W04 Regular" panose="020B0503020202020204" pitchFamily="34" charset="0"/>
              </a:rPr>
              <a:t>Kurtosis can be calculated using the </a:t>
            </a:r>
            <a:r>
              <a:rPr lang="en-ZA" sz="1700" i="1" dirty="0">
                <a:latin typeface="Avenir Next Cyr W04 Regular" panose="020B0503020202020204" pitchFamily="34" charset="0"/>
              </a:rPr>
              <a:t>kurtosis()</a:t>
            </a:r>
            <a:r>
              <a:rPr lang="en-ZA" sz="1700" dirty="0">
                <a:latin typeface="Avenir Next Cyr W04 Regular" panose="020B0503020202020204" pitchFamily="34" charset="0"/>
              </a:rPr>
              <a:t> function. </a:t>
            </a:r>
          </a:p>
          <a:p>
            <a:pPr marL="285750" indent="-285750">
              <a:buFont typeface="Arial" panose="020B0604020202020204" pitchFamily="34" charset="0"/>
              <a:buChar char="•"/>
            </a:pPr>
            <a:endParaRPr lang="en-ZA" sz="1700" dirty="0">
              <a:latin typeface="Avenir Next Cyr W04 Regular" panose="020B0503020202020204" pitchFamily="34" charset="0"/>
            </a:endParaRPr>
          </a:p>
          <a:p>
            <a:pPr marL="285750" indent="-285750">
              <a:buFont typeface="Arial" panose="020B0604020202020204" pitchFamily="34" charset="0"/>
              <a:buChar char="•"/>
            </a:pPr>
            <a:endParaRPr lang="en-ZA" sz="1700" dirty="0">
              <a:latin typeface="Avenir Next Cyr W04 Regular" panose="020B0503020202020204" pitchFamily="34" charset="0"/>
            </a:endParaRPr>
          </a:p>
          <a:p>
            <a:pPr marL="285750" indent="-285750">
              <a:buFont typeface="Arial" panose="020B0604020202020204" pitchFamily="34" charset="0"/>
              <a:buChar char="•"/>
            </a:pPr>
            <a:endParaRPr lang="en-ZA" sz="1700" dirty="0">
              <a:latin typeface="Avenir Next Cyr W04 Regular" panose="020B0503020202020204" pitchFamily="34" charset="0"/>
            </a:endParaRPr>
          </a:p>
          <a:p>
            <a:pPr marL="285750" indent="-285750">
              <a:buFont typeface="Arial" panose="020B0604020202020204" pitchFamily="34" charset="0"/>
              <a:buChar char="•"/>
            </a:pPr>
            <a:r>
              <a:rPr lang="en-US" sz="1700" dirty="0">
                <a:latin typeface="Avenir Next Cyr W04 Regular" panose="020B0503020202020204" pitchFamily="34" charset="0"/>
              </a:rPr>
              <a:t>The sample excess kurtosis takes values - 2≤ g2 &lt; </a:t>
            </a:r>
            <a:r>
              <a:rPr lang="en-US" sz="1700" dirty="0"/>
              <a:t>∞</a:t>
            </a:r>
            <a:r>
              <a:rPr lang="en-US" sz="1700" dirty="0">
                <a:latin typeface="Avenir Next Cyr W04 Regular" panose="020B0503020202020204" pitchFamily="34" charset="0"/>
              </a:rPr>
              <a:t>. The subtraction of 3 may seem mysterious but it is done so that mound shaped samples have values of g2 near zero. Samples with g2 &gt; 0 are called leptokurtic, and samples with g2 &lt; 0 are called </a:t>
            </a:r>
            <a:r>
              <a:rPr lang="en-US" sz="1700" dirty="0" err="1">
                <a:latin typeface="Avenir Next Cyr W04 Regular" panose="020B0503020202020204" pitchFamily="34" charset="0"/>
              </a:rPr>
              <a:t>platykurtic</a:t>
            </a:r>
            <a:r>
              <a:rPr lang="en-US" sz="1700" dirty="0">
                <a:latin typeface="Avenir Next Cyr W04 Regular" panose="020B0503020202020204" pitchFamily="34" charset="0"/>
              </a:rPr>
              <a:t>.</a:t>
            </a:r>
            <a:endParaRPr lang="en-ZA" sz="1700" dirty="0">
              <a:latin typeface="Avenir Next Cyr W04 Regular" panose="020B0503020202020204" pitchFamily="34" charset="0"/>
            </a:endParaRPr>
          </a:p>
        </p:txBody>
      </p:sp>
      <p:pic>
        <p:nvPicPr>
          <p:cNvPr id="3" name="Picture 2"/>
          <p:cNvPicPr>
            <a:picLocks noChangeAspect="1"/>
          </p:cNvPicPr>
          <p:nvPr/>
        </p:nvPicPr>
        <p:blipFill>
          <a:blip r:embed="rId5"/>
          <a:stretch>
            <a:fillRect/>
          </a:stretch>
        </p:blipFill>
        <p:spPr>
          <a:xfrm>
            <a:off x="3513190" y="1767320"/>
            <a:ext cx="1847850" cy="552450"/>
          </a:xfrm>
          <a:prstGeom prst="rect">
            <a:avLst/>
          </a:prstGeom>
        </p:spPr>
      </p:pic>
      <p:pic>
        <p:nvPicPr>
          <p:cNvPr id="7" name="Picture 6"/>
          <p:cNvPicPr>
            <a:picLocks noChangeAspect="1"/>
          </p:cNvPicPr>
          <p:nvPr/>
        </p:nvPicPr>
        <p:blipFill>
          <a:blip r:embed="rId6"/>
          <a:stretch>
            <a:fillRect/>
          </a:stretch>
        </p:blipFill>
        <p:spPr>
          <a:xfrm>
            <a:off x="3698436" y="4340631"/>
            <a:ext cx="2057400" cy="600075"/>
          </a:xfrm>
          <a:prstGeom prst="rect">
            <a:avLst/>
          </a:prstGeom>
        </p:spPr>
      </p:pic>
      <p:sp>
        <p:nvSpPr>
          <p:cNvPr id="8" name="Rectangle 7"/>
          <p:cNvSpPr/>
          <p:nvPr/>
        </p:nvSpPr>
        <p:spPr>
          <a:xfrm>
            <a:off x="3513190" y="1723763"/>
            <a:ext cx="1896098" cy="63956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779087" y="4297074"/>
            <a:ext cx="1896098" cy="63956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4095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5" name="Title 1"/>
          <p:cNvSpPr>
            <a:spLocks noGrp="1"/>
          </p:cNvSpPr>
          <p:nvPr>
            <p:ph type="title"/>
          </p:nvPr>
        </p:nvSpPr>
        <p:spPr>
          <a:xfrm>
            <a:off x="269436" y="324226"/>
            <a:ext cx="8915400" cy="845332"/>
          </a:xfrm>
        </p:spPr>
        <p:txBody>
          <a:bodyPr>
            <a:normAutofit/>
          </a:bodyPr>
          <a:lstStyle/>
          <a:p>
            <a:r>
              <a:rPr lang="en-ZA" sz="4000" dirty="0"/>
              <a:t>Measures of shape</a:t>
            </a:r>
          </a:p>
        </p:txBody>
      </p:sp>
      <p:sp>
        <p:nvSpPr>
          <p:cNvPr id="4" name="TextBox 3"/>
          <p:cNvSpPr txBox="1"/>
          <p:nvPr/>
        </p:nvSpPr>
        <p:spPr>
          <a:xfrm>
            <a:off x="632507" y="5042741"/>
            <a:ext cx="8552329" cy="615553"/>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7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Remember to check for excess skewness and kurtosis using the formulae 3.3.6 and 3.3.7 in IPSUR.</a:t>
            </a:r>
          </a:p>
        </p:txBody>
      </p:sp>
      <p:sp>
        <p:nvSpPr>
          <p:cNvPr id="8" name="TextBox 7"/>
          <p:cNvSpPr txBox="1"/>
          <p:nvPr/>
        </p:nvSpPr>
        <p:spPr>
          <a:xfrm>
            <a:off x="632506" y="5678289"/>
            <a:ext cx="8552329" cy="615553"/>
          </a:xfrm>
          <a:prstGeom prst="rect">
            <a:avLst/>
          </a:prstGeom>
          <a:noFill/>
        </p:spPr>
        <p:txBody>
          <a:bodyPr wrap="square" rtlCol="0">
            <a:spAutoFit/>
          </a:bodyPr>
          <a:lstStyle/>
          <a:p>
            <a:pPr marL="285750" indent="-285750">
              <a:buFont typeface="Arial" panose="020B0604020202020204" pitchFamily="34" charset="0"/>
              <a:buChar char="•"/>
            </a:pPr>
            <a:r>
              <a:rPr lang="en-ZA" sz="1700" dirty="0">
                <a:latin typeface="Avenir Next Cyr W04 Regular" panose="020B0503020202020204" pitchFamily="34" charset="0"/>
              </a:rPr>
              <a:t>You might need to install the </a:t>
            </a:r>
            <a:r>
              <a:rPr lang="en-ZA" sz="1700" i="1" dirty="0" err="1">
                <a:latin typeface="Avenir Next Cyr W04 Regular" panose="020B0503020202020204" pitchFamily="34" charset="0"/>
              </a:rPr>
              <a:t>qcc</a:t>
            </a:r>
            <a:r>
              <a:rPr lang="en-ZA" sz="1700" dirty="0">
                <a:latin typeface="Avenir Next Cyr W04 Regular" panose="020B0503020202020204" pitchFamily="34" charset="0"/>
              </a:rPr>
              <a:t> package and then load it using the </a:t>
            </a:r>
            <a:r>
              <a:rPr lang="en-ZA" sz="1700" i="1" dirty="0">
                <a:latin typeface="Avenir Next Cyr W04 Regular" panose="020B0503020202020204" pitchFamily="34" charset="0"/>
              </a:rPr>
              <a:t>library</a:t>
            </a:r>
            <a:r>
              <a:rPr lang="en-ZA" sz="1700" dirty="0">
                <a:latin typeface="Avenir Next Cyr W04 Regular" panose="020B0503020202020204" pitchFamily="34" charset="0"/>
              </a:rPr>
              <a:t>() function.</a:t>
            </a:r>
          </a:p>
        </p:txBody>
      </p:sp>
      <p:sp>
        <p:nvSpPr>
          <p:cNvPr id="9" name="TextBox 8"/>
          <p:cNvSpPr txBox="1"/>
          <p:nvPr/>
        </p:nvSpPr>
        <p:spPr>
          <a:xfrm>
            <a:off x="721259" y="1605201"/>
            <a:ext cx="8552329" cy="353943"/>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7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Skewness()</a:t>
            </a:r>
            <a:r>
              <a:rPr kumimoji="0" lang="en-ZA" sz="17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Function:</a:t>
            </a:r>
            <a:endParaRPr kumimoji="0" lang="en-ZA" sz="17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pic>
        <p:nvPicPr>
          <p:cNvPr id="10" name="Picture 9"/>
          <p:cNvPicPr>
            <a:picLocks noChangeAspect="1"/>
          </p:cNvPicPr>
          <p:nvPr/>
        </p:nvPicPr>
        <p:blipFill>
          <a:blip r:embed="rId5"/>
          <a:stretch>
            <a:fillRect/>
          </a:stretch>
        </p:blipFill>
        <p:spPr>
          <a:xfrm>
            <a:off x="632507" y="2216751"/>
            <a:ext cx="3067050" cy="1428750"/>
          </a:xfrm>
          <a:prstGeom prst="rect">
            <a:avLst/>
          </a:prstGeom>
        </p:spPr>
      </p:pic>
      <p:sp>
        <p:nvSpPr>
          <p:cNvPr id="11" name="TextBox 10"/>
          <p:cNvSpPr txBox="1"/>
          <p:nvPr/>
        </p:nvSpPr>
        <p:spPr>
          <a:xfrm>
            <a:off x="5165148" y="1595050"/>
            <a:ext cx="2540187" cy="353943"/>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700" dirty="0">
                <a:solidFill>
                  <a:prstClr val="black"/>
                </a:solidFill>
                <a:latin typeface="Avenir Next Cyr W04 Regular" panose="020B0503020202020204" pitchFamily="34" charset="0"/>
              </a:rPr>
              <a:t>Kurtosis</a:t>
            </a:r>
            <a:r>
              <a:rPr kumimoji="0" lang="en-ZA" sz="17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a:t>
            </a:r>
            <a:r>
              <a:rPr kumimoji="0" lang="en-ZA" sz="17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Function:</a:t>
            </a:r>
            <a:endParaRPr kumimoji="0" lang="en-ZA" sz="17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pic>
        <p:nvPicPr>
          <p:cNvPr id="12" name="Picture 11"/>
          <p:cNvPicPr>
            <a:picLocks noChangeAspect="1"/>
          </p:cNvPicPr>
          <p:nvPr/>
        </p:nvPicPr>
        <p:blipFill>
          <a:blip r:embed="rId6"/>
          <a:stretch>
            <a:fillRect/>
          </a:stretch>
        </p:blipFill>
        <p:spPr>
          <a:xfrm>
            <a:off x="5026601" y="2216751"/>
            <a:ext cx="3701763" cy="1254835"/>
          </a:xfrm>
          <a:prstGeom prst="rect">
            <a:avLst/>
          </a:prstGeom>
        </p:spPr>
      </p:pic>
      <p:sp>
        <p:nvSpPr>
          <p:cNvPr id="13" name="Rectangle 12"/>
          <p:cNvSpPr/>
          <p:nvPr/>
        </p:nvSpPr>
        <p:spPr>
          <a:xfrm>
            <a:off x="632505" y="2188093"/>
            <a:ext cx="3067052" cy="1457407"/>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4997424" y="2158010"/>
            <a:ext cx="3730940" cy="1457407"/>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p:cNvSpPr txBox="1"/>
          <p:nvPr/>
        </p:nvSpPr>
        <p:spPr>
          <a:xfrm>
            <a:off x="632505" y="3793861"/>
            <a:ext cx="3291182" cy="877163"/>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7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As</a:t>
            </a:r>
            <a:r>
              <a:rPr kumimoji="0" lang="en-ZA" sz="17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we can see the skewness of the data is slightly to the right.</a:t>
            </a:r>
            <a:endParaRPr kumimoji="0" lang="en-ZA" sz="17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sp>
        <p:nvSpPr>
          <p:cNvPr id="16" name="TextBox 15"/>
          <p:cNvSpPr txBox="1"/>
          <p:nvPr/>
        </p:nvSpPr>
        <p:spPr>
          <a:xfrm>
            <a:off x="5026602" y="3793861"/>
            <a:ext cx="3291182" cy="615553"/>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7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The</a:t>
            </a:r>
            <a:r>
              <a:rPr kumimoji="0" lang="en-ZA" sz="17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data appears to be </a:t>
            </a:r>
            <a:r>
              <a:rPr kumimoji="0" lang="en-ZA" sz="1700" b="0" i="0" u="none" strike="noStrike" kern="1200" cap="none" spc="0" normalizeH="0" noProof="0" dirty="0" err="1">
                <a:ln>
                  <a:noFill/>
                </a:ln>
                <a:solidFill>
                  <a:prstClr val="black"/>
                </a:solidFill>
                <a:effectLst/>
                <a:uLnTx/>
                <a:uFillTx/>
                <a:latin typeface="Avenir Next Cyr W04 Regular" panose="020B0503020202020204" pitchFamily="34" charset="0"/>
                <a:ea typeface="+mn-ea"/>
                <a:cs typeface="+mn-cs"/>
              </a:rPr>
              <a:t>mersokurtic</a:t>
            </a:r>
            <a:endParaRPr kumimoji="0" lang="en-ZA" sz="17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spTree>
    <p:extLst>
      <p:ext uri="{BB962C8B-B14F-4D97-AF65-F5344CB8AC3E}">
        <p14:creationId xmlns:p14="http://schemas.microsoft.com/office/powerpoint/2010/main" val="38920323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31837" y="324226"/>
            <a:ext cx="1383198" cy="865327"/>
          </a:xfrm>
          <a:prstGeom prst="rect">
            <a:avLst/>
          </a:prstGeom>
        </p:spPr>
      </p:pic>
      <p:sp>
        <p:nvSpPr>
          <p:cNvPr id="5" name="Title 1"/>
          <p:cNvSpPr>
            <a:spLocks noGrp="1"/>
          </p:cNvSpPr>
          <p:nvPr>
            <p:ph type="title"/>
          </p:nvPr>
        </p:nvSpPr>
        <p:spPr>
          <a:xfrm>
            <a:off x="269436" y="324226"/>
            <a:ext cx="8915400" cy="845332"/>
          </a:xfrm>
        </p:spPr>
        <p:txBody>
          <a:bodyPr>
            <a:normAutofit/>
          </a:bodyPr>
          <a:lstStyle/>
          <a:p>
            <a:r>
              <a:rPr lang="en-ZA" sz="4000" dirty="0"/>
              <a:t>Boxplots and Outliers</a:t>
            </a:r>
          </a:p>
        </p:txBody>
      </p:sp>
      <p:sp>
        <p:nvSpPr>
          <p:cNvPr id="4" name="TextBox 3"/>
          <p:cNvSpPr txBox="1"/>
          <p:nvPr/>
        </p:nvSpPr>
        <p:spPr>
          <a:xfrm>
            <a:off x="763051" y="1310406"/>
            <a:ext cx="8552329" cy="70788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To draw boxplots in R, use the </a:t>
            </a:r>
            <a:r>
              <a:rPr lang="en-ZA" sz="2000" i="1" dirty="0">
                <a:latin typeface="Avenir Next Cyr W04 Regular" panose="020B0503020202020204" pitchFamily="34" charset="0"/>
              </a:rPr>
              <a:t>boxplot()</a:t>
            </a:r>
            <a:r>
              <a:rPr lang="en-ZA" sz="2000" dirty="0">
                <a:latin typeface="Avenir Next Cyr W04 Regular" panose="020B0503020202020204" pitchFamily="34" charset="0"/>
              </a:rPr>
              <a:t> function. Outliers can be identified using the </a:t>
            </a:r>
            <a:r>
              <a:rPr lang="en-ZA" sz="2000" i="1" dirty="0">
                <a:latin typeface="Avenir Next Cyr W04 Regular" panose="020B0503020202020204" pitchFamily="34" charset="0"/>
              </a:rPr>
              <a:t>$out</a:t>
            </a:r>
            <a:r>
              <a:rPr lang="en-ZA" sz="2000" dirty="0">
                <a:latin typeface="Avenir Next Cyr W04 Regular" panose="020B0503020202020204" pitchFamily="34" charset="0"/>
              </a:rPr>
              <a:t> option with the </a:t>
            </a:r>
            <a:r>
              <a:rPr lang="en-ZA" sz="2000" i="1" dirty="0" err="1">
                <a:latin typeface="Avenir Next Cyr W04 Regular" panose="020B0503020202020204" pitchFamily="34" charset="0"/>
              </a:rPr>
              <a:t>boxplot.stats</a:t>
            </a:r>
            <a:r>
              <a:rPr lang="en-ZA" sz="2000" dirty="0">
                <a:latin typeface="Avenir Next Cyr W04 Regular" panose="020B0503020202020204" pitchFamily="34" charset="0"/>
              </a:rPr>
              <a:t>() function.</a:t>
            </a:r>
          </a:p>
        </p:txBody>
      </p:sp>
      <p:pic>
        <p:nvPicPr>
          <p:cNvPr id="8" name="Picture 7"/>
          <p:cNvPicPr>
            <a:picLocks noChangeAspect="1"/>
          </p:cNvPicPr>
          <p:nvPr/>
        </p:nvPicPr>
        <p:blipFill>
          <a:blip r:embed="rId5"/>
          <a:stretch>
            <a:fillRect/>
          </a:stretch>
        </p:blipFill>
        <p:spPr>
          <a:xfrm>
            <a:off x="526449" y="2357972"/>
            <a:ext cx="4381607" cy="3589750"/>
          </a:xfrm>
          <a:prstGeom prst="rect">
            <a:avLst/>
          </a:prstGeom>
        </p:spPr>
      </p:pic>
      <p:pic>
        <p:nvPicPr>
          <p:cNvPr id="9" name="Picture 8"/>
          <p:cNvPicPr>
            <a:picLocks noChangeAspect="1"/>
          </p:cNvPicPr>
          <p:nvPr/>
        </p:nvPicPr>
        <p:blipFill>
          <a:blip r:embed="rId6"/>
          <a:stretch>
            <a:fillRect/>
          </a:stretch>
        </p:blipFill>
        <p:spPr>
          <a:xfrm>
            <a:off x="5052342" y="2986034"/>
            <a:ext cx="4629150" cy="2333625"/>
          </a:xfrm>
          <a:prstGeom prst="rect">
            <a:avLst/>
          </a:prstGeom>
        </p:spPr>
      </p:pic>
      <p:sp>
        <p:nvSpPr>
          <p:cNvPr id="10" name="Rectangle 9"/>
          <p:cNvSpPr/>
          <p:nvPr/>
        </p:nvSpPr>
        <p:spPr>
          <a:xfrm>
            <a:off x="5039215" y="2933518"/>
            <a:ext cx="4642277" cy="2386141"/>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5635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6108</TotalTime>
  <Words>2578</Words>
  <Application>Microsoft Office PowerPoint</Application>
  <PresentationFormat>A4 Paper (210x297 mm)</PresentationFormat>
  <Paragraphs>224</Paragraphs>
  <Slides>36</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Avenir Next Cyr W04 Regular</vt:lpstr>
      <vt:lpstr>Baskerville Old Face</vt:lpstr>
      <vt:lpstr>Calibri</vt:lpstr>
      <vt:lpstr>Office Theme</vt:lpstr>
      <vt:lpstr> </vt:lpstr>
      <vt:lpstr>PowerPoint Presentation</vt:lpstr>
      <vt:lpstr>Loading Packages</vt:lpstr>
      <vt:lpstr>Basic R Operations and Concepts</vt:lpstr>
      <vt:lpstr>Arithmetic Continued…</vt:lpstr>
      <vt:lpstr>Assignment, Object Names and Data Types</vt:lpstr>
      <vt:lpstr>Vectors – Entering Data Vectors</vt:lpstr>
      <vt:lpstr>Vectors - Entering Data  Vectors Cont.</vt:lpstr>
      <vt:lpstr>Vectors – Indexing data vectors</vt:lpstr>
      <vt:lpstr>Vectors –  Functions and Expressions</vt:lpstr>
      <vt:lpstr>PowerPoint Presentation</vt:lpstr>
      <vt:lpstr>Types of Data - Quantitative</vt:lpstr>
      <vt:lpstr>Types of Data - Quantitative</vt:lpstr>
      <vt:lpstr>Types of Data – Quantitative cont.</vt:lpstr>
      <vt:lpstr>Displaying - Quantitative Data</vt:lpstr>
      <vt:lpstr>Displaying - Overplot</vt:lpstr>
      <vt:lpstr>Displaying - Jitter</vt:lpstr>
      <vt:lpstr>Displaying - Stack</vt:lpstr>
      <vt:lpstr>Displaying - Histogram</vt:lpstr>
      <vt:lpstr>Displaying – Histogram cont.</vt:lpstr>
      <vt:lpstr>Displaying – Histogram  (Changing Bins)</vt:lpstr>
      <vt:lpstr>Displaying – Stemplot</vt:lpstr>
      <vt:lpstr>Displaying – Index Plot</vt:lpstr>
      <vt:lpstr>Types of Data - Qualitative Data</vt:lpstr>
      <vt:lpstr>PowerPoint Presentation</vt:lpstr>
      <vt:lpstr>Qualitative Data</vt:lpstr>
      <vt:lpstr>Displaying - Barplot</vt:lpstr>
      <vt:lpstr>Displaying – Pareto Diagram</vt:lpstr>
      <vt:lpstr>Displaying – Dot Chart</vt:lpstr>
      <vt:lpstr>Logical Data</vt:lpstr>
      <vt:lpstr>Missing Data</vt:lpstr>
      <vt:lpstr>Types of Data –  Features of Data Distributions</vt:lpstr>
      <vt:lpstr>Measures of spread</vt:lpstr>
      <vt:lpstr>Measures of shape</vt:lpstr>
      <vt:lpstr>Measures of shape</vt:lpstr>
      <vt:lpstr>Boxplots and Outliers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NDorfling</dc:creator>
  <cp:lastModifiedBy>Matthew Valentine</cp:lastModifiedBy>
  <cp:revision>627</cp:revision>
  <dcterms:created xsi:type="dcterms:W3CDTF">2015-03-11T08:56:03Z</dcterms:created>
  <dcterms:modified xsi:type="dcterms:W3CDTF">2024-02-18T20:03:31Z</dcterms:modified>
</cp:coreProperties>
</file>