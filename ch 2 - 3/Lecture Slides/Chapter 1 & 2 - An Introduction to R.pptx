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handoutMasterIdLst>
    <p:handoutMasterId r:id="rId17"/>
  </p:handoutMasterIdLst>
  <p:sldIdLst>
    <p:sldId id="256" r:id="rId2"/>
    <p:sldId id="377" r:id="rId3"/>
    <p:sldId id="372" r:id="rId4"/>
    <p:sldId id="374" r:id="rId5"/>
    <p:sldId id="375" r:id="rId6"/>
    <p:sldId id="376" r:id="rId7"/>
    <p:sldId id="378" r:id="rId8"/>
    <p:sldId id="379" r:id="rId9"/>
    <p:sldId id="371" r:id="rId10"/>
    <p:sldId id="364" r:id="rId11"/>
    <p:sldId id="367" r:id="rId12"/>
    <p:sldId id="370" r:id="rId13"/>
    <p:sldId id="369" r:id="rId14"/>
    <p:sldId id="380" r:id="rId15"/>
  </p:sldIdLst>
  <p:sldSz cx="9906000" cy="6858000" type="A4"/>
  <p:notesSz cx="10409238" cy="72961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64DD034-75F4-5147-85C5-57B72AD43751}">
          <p14:sldIdLst>
            <p14:sldId id="256"/>
            <p14:sldId id="377"/>
            <p14:sldId id="372"/>
            <p14:sldId id="374"/>
            <p14:sldId id="375"/>
            <p14:sldId id="376"/>
            <p14:sldId id="378"/>
            <p14:sldId id="379"/>
            <p14:sldId id="371"/>
            <p14:sldId id="364"/>
            <p14:sldId id="367"/>
            <p14:sldId id="370"/>
            <p14:sldId id="369"/>
            <p14:sldId id="380"/>
          </p14:sldIdLst>
        </p14:section>
      </p14:sectionLst>
    </p:ex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hn M" initials="J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2374" autoAdjust="0"/>
  </p:normalViewPr>
  <p:slideViewPr>
    <p:cSldViewPr snapToGrid="0" snapToObjects="1">
      <p:cViewPr varScale="1">
        <p:scale>
          <a:sx n="73" d="100"/>
          <a:sy n="73" d="100"/>
        </p:scale>
        <p:origin x="78" y="1104"/>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510670" cy="364808"/>
          </a:xfrm>
          <a:prstGeom prst="rect">
            <a:avLst/>
          </a:prstGeom>
        </p:spPr>
        <p:txBody>
          <a:bodyPr vert="horz" lIns="101169" tIns="50585" rIns="101169" bIns="50585" rtlCol="0"/>
          <a:lstStyle>
            <a:lvl1pPr algn="l">
              <a:defRPr sz="1300"/>
            </a:lvl1pPr>
          </a:lstStyle>
          <a:p>
            <a:endParaRPr lang="en-ZA"/>
          </a:p>
        </p:txBody>
      </p:sp>
      <p:sp>
        <p:nvSpPr>
          <p:cNvPr id="3" name="Date Placeholder 2"/>
          <p:cNvSpPr>
            <a:spLocks noGrp="1"/>
          </p:cNvSpPr>
          <p:nvPr>
            <p:ph type="dt" sz="quarter" idx="1"/>
          </p:nvPr>
        </p:nvSpPr>
        <p:spPr>
          <a:xfrm>
            <a:off x="5896159" y="0"/>
            <a:ext cx="4510670" cy="364808"/>
          </a:xfrm>
          <a:prstGeom prst="rect">
            <a:avLst/>
          </a:prstGeom>
        </p:spPr>
        <p:txBody>
          <a:bodyPr vert="horz" lIns="101169" tIns="50585" rIns="101169" bIns="50585" rtlCol="0"/>
          <a:lstStyle>
            <a:lvl1pPr algn="r">
              <a:defRPr sz="1300"/>
            </a:lvl1pPr>
          </a:lstStyle>
          <a:p>
            <a:fld id="{C605BAAB-8757-4FBD-9BED-960688D401C4}" type="datetimeFigureOut">
              <a:rPr lang="en-US" smtClean="0"/>
              <a:pPr/>
              <a:t>2/18/2024</a:t>
            </a:fld>
            <a:endParaRPr lang="en-ZA"/>
          </a:p>
        </p:txBody>
      </p:sp>
      <p:sp>
        <p:nvSpPr>
          <p:cNvPr id="4" name="Footer Placeholder 3"/>
          <p:cNvSpPr>
            <a:spLocks noGrp="1"/>
          </p:cNvSpPr>
          <p:nvPr>
            <p:ph type="ftr" sz="quarter" idx="2"/>
          </p:nvPr>
        </p:nvSpPr>
        <p:spPr>
          <a:xfrm>
            <a:off x="0" y="6930076"/>
            <a:ext cx="4510670" cy="364808"/>
          </a:xfrm>
          <a:prstGeom prst="rect">
            <a:avLst/>
          </a:prstGeom>
        </p:spPr>
        <p:txBody>
          <a:bodyPr vert="horz" lIns="101169" tIns="50585" rIns="101169" bIns="50585" rtlCol="0" anchor="b"/>
          <a:lstStyle>
            <a:lvl1pPr algn="l">
              <a:defRPr sz="1300"/>
            </a:lvl1pPr>
          </a:lstStyle>
          <a:p>
            <a:endParaRPr lang="en-ZA"/>
          </a:p>
        </p:txBody>
      </p:sp>
      <p:sp>
        <p:nvSpPr>
          <p:cNvPr id="5" name="Slide Number Placeholder 4"/>
          <p:cNvSpPr>
            <a:spLocks noGrp="1"/>
          </p:cNvSpPr>
          <p:nvPr>
            <p:ph type="sldNum" sz="quarter" idx="3"/>
          </p:nvPr>
        </p:nvSpPr>
        <p:spPr>
          <a:xfrm>
            <a:off x="5896159" y="6930076"/>
            <a:ext cx="4510670" cy="364808"/>
          </a:xfrm>
          <a:prstGeom prst="rect">
            <a:avLst/>
          </a:prstGeom>
        </p:spPr>
        <p:txBody>
          <a:bodyPr vert="horz" lIns="101169" tIns="50585" rIns="101169" bIns="50585" rtlCol="0" anchor="b"/>
          <a:lstStyle>
            <a:lvl1pPr algn="r">
              <a:defRPr sz="1300"/>
            </a:lvl1pPr>
          </a:lstStyle>
          <a:p>
            <a:fld id="{4A9A6402-836E-4507-B641-B01FDFCE6F04}" type="slidenum">
              <a:rPr lang="en-ZA" smtClean="0"/>
              <a:pPr/>
              <a:t>‹#›</a:t>
            </a:fld>
            <a:endParaRPr lang="en-ZA"/>
          </a:p>
        </p:txBody>
      </p:sp>
    </p:spTree>
    <p:extLst>
      <p:ext uri="{BB962C8B-B14F-4D97-AF65-F5344CB8AC3E}">
        <p14:creationId xmlns:p14="http://schemas.microsoft.com/office/powerpoint/2010/main" val="3606002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510670" cy="364808"/>
          </a:xfrm>
          <a:prstGeom prst="rect">
            <a:avLst/>
          </a:prstGeom>
        </p:spPr>
        <p:txBody>
          <a:bodyPr vert="horz" lIns="101169" tIns="50585" rIns="101169" bIns="50585" rtlCol="0"/>
          <a:lstStyle>
            <a:lvl1pPr algn="l">
              <a:defRPr sz="1300"/>
            </a:lvl1pPr>
          </a:lstStyle>
          <a:p>
            <a:endParaRPr lang="en-US"/>
          </a:p>
        </p:txBody>
      </p:sp>
      <p:sp>
        <p:nvSpPr>
          <p:cNvPr id="3" name="Date Placeholder 2"/>
          <p:cNvSpPr>
            <a:spLocks noGrp="1"/>
          </p:cNvSpPr>
          <p:nvPr>
            <p:ph type="dt" idx="1"/>
          </p:nvPr>
        </p:nvSpPr>
        <p:spPr>
          <a:xfrm>
            <a:off x="5896159" y="0"/>
            <a:ext cx="4510670" cy="364808"/>
          </a:xfrm>
          <a:prstGeom prst="rect">
            <a:avLst/>
          </a:prstGeom>
        </p:spPr>
        <p:txBody>
          <a:bodyPr vert="horz" lIns="101169" tIns="50585" rIns="101169" bIns="50585" rtlCol="0"/>
          <a:lstStyle>
            <a:lvl1pPr algn="r">
              <a:defRPr sz="1300"/>
            </a:lvl1pPr>
          </a:lstStyle>
          <a:p>
            <a:fld id="{1C2F6879-603E-754B-9B04-8AAE8D479E4C}" type="datetimeFigureOut">
              <a:rPr lang="en-US" smtClean="0"/>
              <a:pPr/>
              <a:t>2/18/2024</a:t>
            </a:fld>
            <a:endParaRPr lang="en-US"/>
          </a:p>
        </p:txBody>
      </p:sp>
      <p:sp>
        <p:nvSpPr>
          <p:cNvPr id="4" name="Slide Image Placeholder 3"/>
          <p:cNvSpPr>
            <a:spLocks noGrp="1" noRot="1" noChangeAspect="1"/>
          </p:cNvSpPr>
          <p:nvPr>
            <p:ph type="sldImg" idx="2"/>
          </p:nvPr>
        </p:nvSpPr>
        <p:spPr>
          <a:xfrm>
            <a:off x="3228975" y="547688"/>
            <a:ext cx="3951288" cy="2735262"/>
          </a:xfrm>
          <a:prstGeom prst="rect">
            <a:avLst/>
          </a:prstGeom>
          <a:noFill/>
          <a:ln w="12700">
            <a:solidFill>
              <a:prstClr val="black"/>
            </a:solidFill>
          </a:ln>
        </p:spPr>
        <p:txBody>
          <a:bodyPr vert="horz" lIns="101169" tIns="50585" rIns="101169" bIns="50585" rtlCol="0" anchor="ctr"/>
          <a:lstStyle/>
          <a:p>
            <a:endParaRPr lang="en-US"/>
          </a:p>
        </p:txBody>
      </p:sp>
      <p:sp>
        <p:nvSpPr>
          <p:cNvPr id="5" name="Notes Placeholder 4"/>
          <p:cNvSpPr>
            <a:spLocks noGrp="1"/>
          </p:cNvSpPr>
          <p:nvPr>
            <p:ph type="body" sz="quarter" idx="3"/>
          </p:nvPr>
        </p:nvSpPr>
        <p:spPr>
          <a:xfrm>
            <a:off x="1040924" y="3465671"/>
            <a:ext cx="8327390" cy="3283268"/>
          </a:xfrm>
          <a:prstGeom prst="rect">
            <a:avLst/>
          </a:prstGeom>
        </p:spPr>
        <p:txBody>
          <a:bodyPr vert="horz" lIns="101169" tIns="50585" rIns="101169" bIns="5058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30076"/>
            <a:ext cx="4510670" cy="364808"/>
          </a:xfrm>
          <a:prstGeom prst="rect">
            <a:avLst/>
          </a:prstGeom>
        </p:spPr>
        <p:txBody>
          <a:bodyPr vert="horz" lIns="101169" tIns="50585" rIns="101169" bIns="50585" rtlCol="0" anchor="b"/>
          <a:lstStyle>
            <a:lvl1pPr algn="l">
              <a:defRPr sz="1300"/>
            </a:lvl1pPr>
          </a:lstStyle>
          <a:p>
            <a:endParaRPr lang="en-US"/>
          </a:p>
        </p:txBody>
      </p:sp>
      <p:sp>
        <p:nvSpPr>
          <p:cNvPr id="7" name="Slide Number Placeholder 6"/>
          <p:cNvSpPr>
            <a:spLocks noGrp="1"/>
          </p:cNvSpPr>
          <p:nvPr>
            <p:ph type="sldNum" sz="quarter" idx="5"/>
          </p:nvPr>
        </p:nvSpPr>
        <p:spPr>
          <a:xfrm>
            <a:off x="5896159" y="6930076"/>
            <a:ext cx="4510670" cy="364808"/>
          </a:xfrm>
          <a:prstGeom prst="rect">
            <a:avLst/>
          </a:prstGeom>
        </p:spPr>
        <p:txBody>
          <a:bodyPr vert="horz" lIns="101169" tIns="50585" rIns="101169" bIns="50585" rtlCol="0" anchor="b"/>
          <a:lstStyle>
            <a:lvl1pPr algn="r">
              <a:defRPr sz="1300"/>
            </a:lvl1pPr>
          </a:lstStyle>
          <a:p>
            <a:fld id="{D14C1D86-6F9C-9646-B809-264C58FC1970}" type="slidenum">
              <a:rPr lang="en-US" smtClean="0"/>
              <a:pPr/>
              <a:t>‹#›</a:t>
            </a:fld>
            <a:endParaRPr lang="en-US"/>
          </a:p>
        </p:txBody>
      </p:sp>
    </p:spTree>
    <p:extLst>
      <p:ext uri="{BB962C8B-B14F-4D97-AF65-F5344CB8AC3E}">
        <p14:creationId xmlns:p14="http://schemas.microsoft.com/office/powerpoint/2010/main" val="320650887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D14C1D86-6F9C-9646-B809-264C58FC1970}" type="slidenum">
              <a:rPr lang="en-US" smtClean="0"/>
              <a:pPr/>
              <a:t>1</a:t>
            </a:fld>
            <a:endParaRPr lang="en-US"/>
          </a:p>
        </p:txBody>
      </p:sp>
    </p:spTree>
    <p:extLst>
      <p:ext uri="{BB962C8B-B14F-4D97-AF65-F5344CB8AC3E}">
        <p14:creationId xmlns:p14="http://schemas.microsoft.com/office/powerpoint/2010/main" val="2624195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96217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508933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61807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90719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4048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480628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01865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943307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10</a:t>
            </a:fld>
            <a:endParaRPr lang="en-US"/>
          </a:p>
        </p:txBody>
      </p:sp>
    </p:spTree>
    <p:extLst>
      <p:ext uri="{BB962C8B-B14F-4D97-AF65-F5344CB8AC3E}">
        <p14:creationId xmlns:p14="http://schemas.microsoft.com/office/powerpoint/2010/main" val="35332071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11</a:t>
            </a:fld>
            <a:endParaRPr lang="en-US"/>
          </a:p>
        </p:txBody>
      </p:sp>
    </p:spTree>
    <p:extLst>
      <p:ext uri="{BB962C8B-B14F-4D97-AF65-F5344CB8AC3E}">
        <p14:creationId xmlns:p14="http://schemas.microsoft.com/office/powerpoint/2010/main" val="1144113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12</a:t>
            </a:fld>
            <a:endParaRPr lang="en-US"/>
          </a:p>
        </p:txBody>
      </p:sp>
    </p:spTree>
    <p:extLst>
      <p:ext uri="{BB962C8B-B14F-4D97-AF65-F5344CB8AC3E}">
        <p14:creationId xmlns:p14="http://schemas.microsoft.com/office/powerpoint/2010/main" val="2161354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13</a:t>
            </a:fld>
            <a:endParaRPr lang="en-US"/>
          </a:p>
        </p:txBody>
      </p:sp>
    </p:spTree>
    <p:extLst>
      <p:ext uri="{BB962C8B-B14F-4D97-AF65-F5344CB8AC3E}">
        <p14:creationId xmlns:p14="http://schemas.microsoft.com/office/powerpoint/2010/main" val="35097306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D14C1D86-6F9C-9646-B809-264C58FC1970}" type="slidenum">
              <a:rPr lang="en-US" smtClean="0"/>
              <a:pPr/>
              <a:t>14</a:t>
            </a:fld>
            <a:endParaRPr lang="en-US"/>
          </a:p>
        </p:txBody>
      </p:sp>
    </p:spTree>
    <p:extLst>
      <p:ext uri="{BB962C8B-B14F-4D97-AF65-F5344CB8AC3E}">
        <p14:creationId xmlns:p14="http://schemas.microsoft.com/office/powerpoint/2010/main" val="2232175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6"/>
            <a:ext cx="8420100" cy="1470025"/>
          </a:xfrm>
        </p:spPr>
        <p:txBody>
          <a:bodyPr/>
          <a:lstStyle/>
          <a:p>
            <a:r>
              <a:rPr lang="en-US"/>
              <a:t>Click to edit Master title style</a:t>
            </a:r>
          </a:p>
        </p:txBody>
      </p:sp>
      <p:sp>
        <p:nvSpPr>
          <p:cNvPr id="3" name="Subtitle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C4D5889-9C47-1542-89BF-71BA5CAEC00A}" type="datetimeFigureOut">
              <a:rPr lang="en-US" smtClean="0"/>
              <a:pPr/>
              <a:t>2/18/2024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4038872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4D5889-9C47-1542-89BF-71BA5CAEC00A}" type="datetimeFigureOut">
              <a:rPr lang="en-US" smtClean="0"/>
              <a:pPr/>
              <a:t>2/18/2024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2354433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01"/>
            <a:ext cx="84201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4D5889-9C47-1542-89BF-71BA5CAEC00A}" type="datetimeFigureOut">
              <a:rPr lang="en-US" smtClean="0"/>
              <a:pPr/>
              <a:t>2/18/2024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169061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C4D5889-9C47-1542-89BF-71BA5CAEC00A}" type="datetimeFigureOut">
              <a:rPr lang="en-US" smtClean="0"/>
              <a:pPr/>
              <a:t>2/18/2024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702583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C4D5889-9C47-1542-89BF-71BA5CAEC00A}" type="datetimeFigureOut">
              <a:rPr lang="en-US" smtClean="0"/>
              <a:pPr/>
              <a:t>2/18/2024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248581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C4D5889-9C47-1542-89BF-71BA5CAEC00A}" type="datetimeFigureOut">
              <a:rPr lang="en-US" smtClean="0"/>
              <a:pPr/>
              <a:t>2/18/2024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2915583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4D5889-9C47-1542-89BF-71BA5CAEC00A}" type="datetimeFigureOut">
              <a:rPr lang="en-US" smtClean="0"/>
              <a:pPr/>
              <a:t>2/18/2024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1282837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006"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4D5889-9C47-1542-89BF-71BA5CAEC00A}" type="datetimeFigureOut">
              <a:rPr lang="en-US" smtClean="0"/>
              <a:pPr/>
              <a:t>2/18/2024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555946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4D5889-9C47-1542-89BF-71BA5CAEC00A}" type="datetimeFigureOut">
              <a:rPr lang="en-US" smtClean="0"/>
              <a:pPr/>
              <a:t>2/18/2024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1146288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4D5889-9C47-1542-89BF-71BA5CAEC00A}" type="datetimeFigureOut">
              <a:rPr lang="en-US" smtClean="0"/>
              <a:pPr/>
              <a:t>2/18/2024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979724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274639"/>
            <a:ext cx="222885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95300" y="274639"/>
            <a:ext cx="652145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4D5889-9C47-1542-89BF-71BA5CAEC00A}" type="datetimeFigureOut">
              <a:rPr lang="en-US" smtClean="0"/>
              <a:pPr/>
              <a:t>2/18/2024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335751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4D5889-9C47-1542-89BF-71BA5CAEC00A}" type="datetimeFigureOut">
              <a:rPr lang="en-US" smtClean="0"/>
              <a:pPr/>
              <a:t>2/18/2024</a:t>
            </a:fld>
            <a:endParaRPr lang="en-US"/>
          </a:p>
        </p:txBody>
      </p:sp>
      <p:sp>
        <p:nvSpPr>
          <p:cNvPr id="5" name="Footer Placehold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DF8427-4C18-6C43-BFAB-BAEC5845A11E}" type="slidenum">
              <a:rPr lang="en-US" smtClean="0"/>
              <a:pPr/>
              <a:t>‹#›</a:t>
            </a:fld>
            <a:endParaRPr lang="en-US"/>
          </a:p>
        </p:txBody>
      </p:sp>
    </p:spTree>
    <p:extLst>
      <p:ext uri="{BB962C8B-B14F-4D97-AF65-F5344CB8AC3E}">
        <p14:creationId xmlns:p14="http://schemas.microsoft.com/office/powerpoint/2010/main" val="2800425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jpe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jpe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hyperlink" Target="https://cloud.r-project.org/bin/linux/"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cloud.r-project.org/bin/macosx/" TargetMode="External"/><Relationship Id="rId5" Type="http://schemas.openxmlformats.org/officeDocument/2006/relationships/hyperlink" Target="https://cloud.r-project.org/bin/windows/" TargetMode="Externa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hyperlink" Target="http://cran.r-project.org/manuals.html" TargetMode="Externa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hyperlink" Target="https://cran.r-project.org/doc/manuals/r-release/R-data.pdf" TargetMode="External"/><Relationship Id="rId3" Type="http://schemas.openxmlformats.org/officeDocument/2006/relationships/image" Target="../media/image2.jpeg"/><Relationship Id="rId7" Type="http://schemas.openxmlformats.org/officeDocument/2006/relationships/hyperlink" Target="https://cran.r-project.org/doc/manuals/r-release/R-intro.pdf"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cran.r-project.org/web/packages/IPSUR/vignettes/IPSUR.pdf" TargetMode="External"/><Relationship Id="rId5" Type="http://schemas.openxmlformats.org/officeDocument/2006/relationships/hyperlink" Target="https://cran.r-project.org/doc/contrib/Seefeld_StatsRBio.pdf" TargetMode="Externa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mplate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1" cy="6858000"/>
          </a:xfrm>
          <a:prstGeom prst="rect">
            <a:avLst/>
          </a:prstGeom>
        </p:spPr>
      </p:pic>
      <p:sp>
        <p:nvSpPr>
          <p:cNvPr id="5" name="Title 1"/>
          <p:cNvSpPr txBox="1">
            <a:spLocks/>
          </p:cNvSpPr>
          <p:nvPr/>
        </p:nvSpPr>
        <p:spPr>
          <a:xfrm>
            <a:off x="1092200" y="2294281"/>
            <a:ext cx="8013700" cy="3330574"/>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r"/>
            <a:endParaRPr lang="en-US" sz="2400" b="1" dirty="0">
              <a:solidFill>
                <a:srgbClr val="A7853E"/>
              </a:solidFill>
              <a:latin typeface="Baskerville Old Face" charset="0"/>
            </a:endParaRPr>
          </a:p>
          <a:p>
            <a:pPr algn="r"/>
            <a:endParaRPr lang="en-US" sz="2400" b="1" dirty="0">
              <a:solidFill>
                <a:srgbClr val="A7853E"/>
              </a:solidFill>
              <a:latin typeface="Baskerville Old Face" charset="0"/>
            </a:endParaRPr>
          </a:p>
          <a:p>
            <a:pPr algn="r"/>
            <a:endParaRPr lang="en-US" sz="2400" b="1" dirty="0">
              <a:solidFill>
                <a:srgbClr val="A7853E"/>
              </a:solidFill>
              <a:latin typeface="Baskerville Old Face" charset="0"/>
            </a:endParaRPr>
          </a:p>
          <a:p>
            <a:pPr algn="r"/>
            <a:endParaRPr lang="en-US" sz="2400" b="1" dirty="0">
              <a:solidFill>
                <a:srgbClr val="A7853E"/>
              </a:solidFill>
              <a:latin typeface="Baskerville Old Face" charset="0"/>
            </a:endParaRPr>
          </a:p>
        </p:txBody>
      </p:sp>
      <p:sp>
        <p:nvSpPr>
          <p:cNvPr id="3" name="Title 2"/>
          <p:cNvSpPr>
            <a:spLocks noGrp="1"/>
          </p:cNvSpPr>
          <p:nvPr>
            <p:ph type="ctrTitle"/>
          </p:nvPr>
        </p:nvSpPr>
        <p:spPr>
          <a:xfrm>
            <a:off x="742950" y="501651"/>
            <a:ext cx="8420100" cy="1470025"/>
          </a:xfrm>
        </p:spPr>
        <p:txBody>
          <a:bodyPr>
            <a:normAutofit/>
          </a:bodyPr>
          <a:lstStyle/>
          <a:p>
            <a:br>
              <a:rPr lang="en-ZA" sz="2400" b="1" dirty="0">
                <a:solidFill>
                  <a:srgbClr val="A7853E"/>
                </a:solidFill>
                <a:latin typeface="Baskerville Old Face" charset="0"/>
                <a:cs typeface="+mj-cs"/>
              </a:rPr>
            </a:br>
            <a:endParaRPr lang="en-ZA" sz="2400" b="1" dirty="0">
              <a:solidFill>
                <a:srgbClr val="A7853E"/>
              </a:solidFill>
              <a:latin typeface="Baskerville Old Face" charset="0"/>
              <a:cs typeface="+mj-cs"/>
            </a:endParaRPr>
          </a:p>
        </p:txBody>
      </p:sp>
      <p:sp>
        <p:nvSpPr>
          <p:cNvPr id="2" name="Rectangle 1"/>
          <p:cNvSpPr/>
          <p:nvPr/>
        </p:nvSpPr>
        <p:spPr>
          <a:xfrm>
            <a:off x="3066274" y="1558420"/>
            <a:ext cx="4149338" cy="2554545"/>
          </a:xfrm>
          <a:prstGeom prst="rect">
            <a:avLst/>
          </a:prstGeom>
        </p:spPr>
        <p:txBody>
          <a:bodyPr wrap="square">
            <a:spAutoFit/>
          </a:bodyPr>
          <a:lstStyle/>
          <a:p>
            <a:pPr algn="ctr"/>
            <a:r>
              <a:rPr lang="en-ZA" sz="3200" b="1" spc="50" dirty="0">
                <a:ln w="0"/>
                <a:solidFill>
                  <a:schemeClr val="bg2"/>
                </a:solidFill>
                <a:effectLst>
                  <a:innerShdw blurRad="63500" dist="50800" dir="13500000">
                    <a:srgbClr val="000000">
                      <a:alpha val="50000"/>
                    </a:srgbClr>
                  </a:innerShdw>
                </a:effectLst>
              </a:rPr>
              <a:t>The R Environment(IPSUR)</a:t>
            </a:r>
          </a:p>
          <a:p>
            <a:pPr algn="ctr"/>
            <a:r>
              <a:rPr lang="en-ZA" sz="3200" b="1" spc="50" dirty="0">
                <a:ln w="0"/>
                <a:solidFill>
                  <a:schemeClr val="bg2"/>
                </a:solidFill>
                <a:effectLst>
                  <a:innerShdw blurRad="63500" dist="50800" dir="13500000">
                    <a:srgbClr val="000000">
                      <a:alpha val="50000"/>
                    </a:srgbClr>
                  </a:innerShdw>
                </a:effectLst>
              </a:rPr>
              <a:t>&amp;</a:t>
            </a:r>
          </a:p>
          <a:p>
            <a:pPr algn="ctr"/>
            <a:r>
              <a:rPr lang="en-ZA" sz="3200" b="1" spc="50" dirty="0">
                <a:ln w="0"/>
                <a:solidFill>
                  <a:schemeClr val="bg2"/>
                </a:solidFill>
                <a:effectLst>
                  <a:innerShdw blurRad="63500" dist="50800" dir="13500000">
                    <a:srgbClr val="000000">
                      <a:alpha val="50000"/>
                    </a:srgbClr>
                  </a:innerShdw>
                </a:effectLst>
              </a:rPr>
              <a:t>An Introduction to R (SEEFELD </a:t>
            </a:r>
          </a:p>
        </p:txBody>
      </p:sp>
      <p:sp>
        <p:nvSpPr>
          <p:cNvPr id="8" name="Rectangle 7"/>
          <p:cNvSpPr/>
          <p:nvPr/>
        </p:nvSpPr>
        <p:spPr>
          <a:xfrm>
            <a:off x="3756774" y="818195"/>
            <a:ext cx="2684551" cy="584775"/>
          </a:xfrm>
          <a:prstGeom prst="rect">
            <a:avLst/>
          </a:prstGeom>
        </p:spPr>
        <p:txBody>
          <a:bodyPr wrap="square">
            <a:spAutoFit/>
          </a:bodyPr>
          <a:lstStyle/>
          <a:p>
            <a:r>
              <a:rPr lang="en-ZA" sz="3200" b="1" spc="50" dirty="0">
                <a:ln w="0"/>
                <a:solidFill>
                  <a:schemeClr val="bg2"/>
                </a:solidFill>
                <a:effectLst>
                  <a:innerShdw blurRad="63500" dist="50800" dir="13500000">
                    <a:srgbClr val="000000">
                      <a:alpha val="50000"/>
                    </a:srgbClr>
                  </a:innerShdw>
                </a:effectLst>
              </a:rPr>
              <a:t>Chapter 1 &amp; 2</a:t>
            </a:r>
          </a:p>
        </p:txBody>
      </p:sp>
      <p:sp>
        <p:nvSpPr>
          <p:cNvPr id="9" name="TextBox 8">
            <a:extLst>
              <a:ext uri="{FF2B5EF4-FFF2-40B4-BE49-F238E27FC236}">
                <a16:creationId xmlns:a16="http://schemas.microsoft.com/office/drawing/2014/main" id="{CA37A385-6895-4955-BF50-33AE6C5B9A8E}"/>
              </a:ext>
            </a:extLst>
          </p:cNvPr>
          <p:cNvSpPr txBox="1"/>
          <p:nvPr/>
        </p:nvSpPr>
        <p:spPr>
          <a:xfrm>
            <a:off x="6287958" y="5037277"/>
            <a:ext cx="3618042" cy="1323439"/>
          </a:xfrm>
          <a:prstGeom prst="rect">
            <a:avLst/>
          </a:prstGeom>
          <a:noFill/>
        </p:spPr>
        <p:txBody>
          <a:bodyPr wrap="none" rtlCol="0">
            <a:spAutoFit/>
          </a:bodyPr>
          <a:lstStyle/>
          <a:p>
            <a:r>
              <a:rPr lang="en-ZA" sz="2000" b="1" spc="50" dirty="0">
                <a:ln w="0"/>
                <a:solidFill>
                  <a:schemeClr val="bg2"/>
                </a:solidFill>
                <a:effectLst>
                  <a:innerShdw blurRad="63500" dist="50800" dir="13500000">
                    <a:srgbClr val="000000">
                      <a:alpha val="50000"/>
                    </a:srgbClr>
                  </a:innerShdw>
                </a:effectLst>
              </a:rPr>
              <a:t>Mr. Matthew Wayne Valentine</a:t>
            </a:r>
          </a:p>
          <a:p>
            <a:r>
              <a:rPr lang="en-ZA" sz="2000" b="1" spc="50" dirty="0">
                <a:ln w="0"/>
                <a:solidFill>
                  <a:schemeClr val="bg2"/>
                </a:solidFill>
                <a:effectLst>
                  <a:innerShdw blurRad="63500" dist="50800" dir="13500000">
                    <a:srgbClr val="000000">
                      <a:alpha val="50000"/>
                    </a:srgbClr>
                  </a:innerShdw>
                </a:effectLst>
              </a:rPr>
              <a:t>CAMS - Office 1.32</a:t>
            </a:r>
          </a:p>
          <a:p>
            <a:r>
              <a:rPr lang="en-ZA" sz="2000" b="1" spc="50" dirty="0">
                <a:ln w="0"/>
                <a:solidFill>
                  <a:schemeClr val="bg2"/>
                </a:solidFill>
                <a:effectLst>
                  <a:innerShdw blurRad="63500" dist="50800" dir="13500000">
                    <a:srgbClr val="000000">
                      <a:alpha val="50000"/>
                    </a:srgbClr>
                  </a:innerShdw>
                </a:effectLst>
              </a:rPr>
              <a:t>Lab K2 – Tech Room K2</a:t>
            </a:r>
          </a:p>
          <a:p>
            <a:r>
              <a:rPr lang="en-ZA" sz="2000" b="1" spc="50" dirty="0">
                <a:ln w="0"/>
                <a:solidFill>
                  <a:schemeClr val="bg2"/>
                </a:solidFill>
                <a:effectLst>
                  <a:innerShdw blurRad="63500" dist="50800" dir="13500000">
                    <a:srgbClr val="000000">
                      <a:alpha val="50000"/>
                    </a:srgbClr>
                  </a:innerShdw>
                </a:effectLst>
              </a:rPr>
              <a:t>mvalentine@uwc.ac.za</a:t>
            </a:r>
            <a:endParaRPr lang="en-ZA" b="1" spc="50" dirty="0">
              <a:ln w="0"/>
              <a:solidFill>
                <a:schemeClr val="bg2"/>
              </a:solidFill>
              <a:effectLst>
                <a:innerShdw blurRad="63500" dist="50800" dir="13500000">
                  <a:srgbClr val="000000">
                    <a:alpha val="50000"/>
                  </a:srgbClr>
                </a:innerShdw>
              </a:effectLst>
            </a:endParaRPr>
          </a:p>
        </p:txBody>
      </p:sp>
    </p:spTree>
    <p:extLst>
      <p:ext uri="{BB962C8B-B14F-4D97-AF65-F5344CB8AC3E}">
        <p14:creationId xmlns:p14="http://schemas.microsoft.com/office/powerpoint/2010/main" val="1130349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mplate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9906001" cy="6858000"/>
          </a:xfrm>
          <a:prstGeom prst="rect">
            <a:avLst/>
          </a:prstGeom>
        </p:spPr>
      </p:pic>
      <p:sp>
        <p:nvSpPr>
          <p:cNvPr id="5" name="Title 1"/>
          <p:cNvSpPr txBox="1">
            <a:spLocks/>
          </p:cNvSpPr>
          <p:nvPr/>
        </p:nvSpPr>
        <p:spPr>
          <a:xfrm>
            <a:off x="1092200" y="2294281"/>
            <a:ext cx="8013700" cy="3330574"/>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r" defTabSz="4572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rgbClr val="A7853E"/>
              </a:solidFill>
              <a:effectLst/>
              <a:uLnTx/>
              <a:uFillTx/>
              <a:latin typeface="Baskerville Old Face" charset="0"/>
              <a:ea typeface="+mj-ea"/>
              <a:cs typeface="+mj-cs"/>
            </a:endParaRPr>
          </a:p>
          <a:p>
            <a:pPr marL="0" marR="0" lvl="0" indent="0" algn="r" defTabSz="4572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rgbClr val="A7853E"/>
              </a:solidFill>
              <a:effectLst/>
              <a:uLnTx/>
              <a:uFillTx/>
              <a:latin typeface="Baskerville Old Face" charset="0"/>
              <a:ea typeface="+mj-ea"/>
              <a:cs typeface="+mj-cs"/>
            </a:endParaRPr>
          </a:p>
          <a:p>
            <a:pPr marL="0" marR="0" lvl="0" indent="0" algn="r" defTabSz="4572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rgbClr val="A7853E"/>
              </a:solidFill>
              <a:effectLst/>
              <a:uLnTx/>
              <a:uFillTx/>
              <a:latin typeface="Baskerville Old Face" charset="0"/>
              <a:ea typeface="+mj-ea"/>
              <a:cs typeface="+mj-cs"/>
            </a:endParaRPr>
          </a:p>
          <a:p>
            <a:pPr marL="0" marR="0" lvl="0" indent="0" algn="r" defTabSz="4572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dirty="0">
              <a:ln>
                <a:noFill/>
              </a:ln>
              <a:solidFill>
                <a:srgbClr val="A7853E"/>
              </a:solidFill>
              <a:effectLst/>
              <a:uLnTx/>
              <a:uFillTx/>
              <a:latin typeface="Baskerville Old Face" charset="0"/>
              <a:ea typeface="+mj-ea"/>
              <a:cs typeface="+mj-cs"/>
            </a:endParaRPr>
          </a:p>
        </p:txBody>
      </p:sp>
      <p:sp>
        <p:nvSpPr>
          <p:cNvPr id="8" name="Rectangle 7"/>
          <p:cNvSpPr/>
          <p:nvPr/>
        </p:nvSpPr>
        <p:spPr>
          <a:xfrm>
            <a:off x="1648526" y="1357759"/>
            <a:ext cx="5162083" cy="2139047"/>
          </a:xfrm>
          <a:prstGeom prst="rect">
            <a:avLst/>
          </a:prstGeom>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lang="en-ZA" sz="2500" b="1" spc="50" dirty="0">
                <a:ln w="0"/>
                <a:solidFill>
                  <a:srgbClr val="EEECE1"/>
                </a:solidFill>
                <a:effectLst>
                  <a:innerShdw blurRad="63500" dist="50800" dir="13500000">
                    <a:srgbClr val="000000">
                      <a:alpha val="50000"/>
                    </a:srgbClr>
                  </a:innerShdw>
                </a:effectLst>
                <a:latin typeface="Calibri"/>
              </a:rPr>
              <a:t>Content</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1" spc="50" dirty="0">
                <a:ln w="0"/>
                <a:solidFill>
                  <a:srgbClr val="EEECE1"/>
                </a:solidFill>
                <a:effectLst>
                  <a:innerShdw blurRad="63500" dist="50800" dir="13500000">
                    <a:srgbClr val="000000">
                      <a:alpha val="50000"/>
                    </a:srgbClr>
                  </a:innerShdw>
                </a:effectLst>
                <a:latin typeface="Calibri"/>
              </a:rPr>
              <a:t>Downloading and Installing R</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b="1" i="0" u="none" strike="noStrike" kern="1200" cap="none" spc="50" normalizeH="0" baseline="0" noProof="0" dirty="0">
                <a:ln w="0"/>
                <a:solidFill>
                  <a:srgbClr val="EEECE1"/>
                </a:solidFill>
                <a:effectLst>
                  <a:innerShdw blurRad="63500" dist="50800" dir="13500000">
                    <a:srgbClr val="000000">
                      <a:alpha val="50000"/>
                    </a:srgbClr>
                  </a:innerShdw>
                </a:effectLst>
                <a:uLnTx/>
                <a:uFillTx/>
                <a:latin typeface="Calibri"/>
              </a:rPr>
              <a:t>Installing and Loading</a:t>
            </a:r>
            <a:r>
              <a:rPr kumimoji="0" lang="en-ZA" b="1" i="0" u="none" strike="noStrike" kern="1200" cap="none" spc="50" normalizeH="0" noProof="0" dirty="0">
                <a:ln w="0"/>
                <a:solidFill>
                  <a:srgbClr val="EEECE1"/>
                </a:solidFill>
                <a:effectLst>
                  <a:innerShdw blurRad="63500" dist="50800" dir="13500000">
                    <a:srgbClr val="000000">
                      <a:alpha val="50000"/>
                    </a:srgbClr>
                  </a:innerShdw>
                </a:effectLst>
                <a:uLnTx/>
                <a:uFillTx/>
                <a:latin typeface="Calibri"/>
              </a:rPr>
              <a:t> Add-On Packages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1" spc="50" dirty="0">
                <a:ln w="0"/>
                <a:solidFill>
                  <a:srgbClr val="EEECE1"/>
                </a:solidFill>
                <a:effectLst>
                  <a:innerShdw blurRad="63500" dist="50800" dir="13500000">
                    <a:srgbClr val="000000">
                      <a:alpha val="50000"/>
                    </a:srgbClr>
                  </a:innerShdw>
                </a:effectLst>
                <a:latin typeface="Calibri"/>
              </a:rPr>
              <a:t>Communication with R</a:t>
            </a:r>
            <a:endParaRPr kumimoji="0" lang="en-ZA" b="1" i="0" u="none" strike="noStrike" kern="1200" cap="none" spc="50" normalizeH="0" noProof="0" dirty="0">
              <a:ln w="0"/>
              <a:solidFill>
                <a:srgbClr val="EEECE1"/>
              </a:solidFill>
              <a:effectLst>
                <a:innerShdw blurRad="63500" dist="50800" dir="13500000">
                  <a:srgbClr val="000000">
                    <a:alpha val="50000"/>
                  </a:srgbClr>
                </a:innerShdw>
              </a:effectLst>
              <a:uLnTx/>
              <a:uFillTx/>
              <a:latin typeface="Calibri"/>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1" spc="50" dirty="0">
                <a:ln w="0"/>
                <a:solidFill>
                  <a:srgbClr val="EEECE1"/>
                </a:solidFill>
                <a:effectLst>
                  <a:innerShdw blurRad="63500" dist="50800" dir="13500000">
                    <a:srgbClr val="000000">
                      <a:alpha val="50000"/>
                    </a:srgbClr>
                  </a:innerShdw>
                </a:effectLst>
                <a:latin typeface="Calibri"/>
              </a:rPr>
              <a:t>Exploring the Environment</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1" spc="50" dirty="0">
                <a:ln w="0"/>
                <a:solidFill>
                  <a:srgbClr val="EEECE1"/>
                </a:solidFill>
                <a:effectLst>
                  <a:innerShdw blurRad="63500" dist="50800" dir="13500000">
                    <a:srgbClr val="000000">
                      <a:alpha val="50000"/>
                    </a:srgbClr>
                  </a:innerShdw>
                </a:effectLst>
                <a:latin typeface="Calibri"/>
              </a:rPr>
              <a:t>Getting Help in R</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1" spc="50" dirty="0">
                <a:ln w="0"/>
                <a:solidFill>
                  <a:srgbClr val="EEECE1"/>
                </a:solidFill>
                <a:effectLst>
                  <a:innerShdw blurRad="63500" dist="50800" dir="13500000">
                    <a:srgbClr val="000000">
                      <a:alpha val="50000"/>
                    </a:srgbClr>
                  </a:innerShdw>
                </a:effectLst>
                <a:latin typeface="Calibri"/>
              </a:rPr>
              <a:t>Textbooks Used</a:t>
            </a:r>
          </a:p>
        </p:txBody>
      </p:sp>
    </p:spTree>
    <p:extLst>
      <p:ext uri="{BB962C8B-B14F-4D97-AF65-F5344CB8AC3E}">
        <p14:creationId xmlns:p14="http://schemas.microsoft.com/office/powerpoint/2010/main" val="523268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emplate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p:cNvSpPr>
            <a:spLocks noGrp="1"/>
          </p:cNvSpPr>
          <p:nvPr>
            <p:ph type="title"/>
          </p:nvPr>
        </p:nvSpPr>
        <p:spPr>
          <a:xfrm>
            <a:off x="728383" y="324226"/>
            <a:ext cx="8915400" cy="845332"/>
          </a:xfrm>
        </p:spPr>
        <p:txBody>
          <a:bodyPr>
            <a:normAutofit/>
          </a:bodyPr>
          <a:lstStyle/>
          <a:p>
            <a:r>
              <a:rPr lang="en-ZA" sz="3000" dirty="0"/>
              <a:t>Exploring the Environment</a:t>
            </a:r>
          </a:p>
        </p:txBody>
      </p:sp>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4" name="Picture 3"/>
          <p:cNvPicPr>
            <a:picLocks noChangeAspect="1"/>
          </p:cNvPicPr>
          <p:nvPr/>
        </p:nvPicPr>
        <p:blipFill>
          <a:blip r:embed="rId4"/>
          <a:stretch>
            <a:fillRect/>
          </a:stretch>
        </p:blipFill>
        <p:spPr>
          <a:xfrm>
            <a:off x="131837" y="324226"/>
            <a:ext cx="1383198" cy="865327"/>
          </a:xfrm>
          <a:prstGeom prst="rect">
            <a:avLst/>
          </a:prstGeom>
        </p:spPr>
      </p:pic>
      <p:sp>
        <p:nvSpPr>
          <p:cNvPr id="7" name="TextBox 6"/>
          <p:cNvSpPr txBox="1"/>
          <p:nvPr/>
        </p:nvSpPr>
        <p:spPr>
          <a:xfrm>
            <a:off x="5645508" y="1834745"/>
            <a:ext cx="3998275" cy="3493264"/>
          </a:xfrm>
          <a:prstGeom prst="rect">
            <a:avLst/>
          </a:prstGeom>
          <a:noFill/>
        </p:spPr>
        <p:txBody>
          <a:bodyPr wrap="square" rtlCol="0">
            <a:spAutoFit/>
          </a:bodyPr>
          <a:lstStyle/>
          <a:p>
            <a:pPr marL="285750" indent="-285750">
              <a:buFont typeface="Arial" panose="020B0604020202020204" pitchFamily="34" charset="0"/>
              <a:buChar char="•"/>
            </a:pPr>
            <a:r>
              <a:rPr lang="en-ZA" sz="1300" dirty="0">
                <a:latin typeface="Avenir Next Cyr W04 Regular" panose="020B0503020202020204" pitchFamily="34" charset="0"/>
              </a:rPr>
              <a:t>When starting up R the screen will look like this. There is a main application window and within it is a console window. The main application contains a menu bar with 7 menus and toolbar with 8 icons for basic tasks.</a:t>
            </a:r>
          </a:p>
          <a:p>
            <a:pPr marL="285750" indent="-285750">
              <a:buFont typeface="Arial" panose="020B0604020202020204" pitchFamily="34" charset="0"/>
              <a:buChar char="•"/>
            </a:pPr>
            <a:endParaRPr lang="en-ZA" sz="1300" dirty="0">
              <a:latin typeface="Avenir Next Cyr W04 Regular" panose="020B0503020202020204" pitchFamily="34" charset="0"/>
            </a:endParaRPr>
          </a:p>
          <a:p>
            <a:pPr marL="285750" indent="-285750">
              <a:buFont typeface="Arial" panose="020B0604020202020204" pitchFamily="34" charset="0"/>
              <a:buChar char="•"/>
            </a:pPr>
            <a:endParaRPr lang="en-ZA" sz="1300" dirty="0">
              <a:latin typeface="Avenir Next Cyr W04 Regular" panose="020B0503020202020204" pitchFamily="34" charset="0"/>
            </a:endParaRPr>
          </a:p>
          <a:p>
            <a:endParaRPr lang="en-ZA" sz="1300" dirty="0">
              <a:latin typeface="Avenir Next Cyr W04 Regular" panose="020B0503020202020204" pitchFamily="34" charset="0"/>
            </a:endParaRPr>
          </a:p>
          <a:p>
            <a:endParaRPr lang="en-ZA" sz="1300" dirty="0">
              <a:latin typeface="Avenir Next Cyr W04 Regular" panose="020B0503020202020204" pitchFamily="34" charset="0"/>
            </a:endParaRPr>
          </a:p>
          <a:p>
            <a:endParaRPr lang="en-ZA" sz="1300" dirty="0">
              <a:latin typeface="Avenir Next Cyr W04 Regular" panose="020B0503020202020204" pitchFamily="34" charset="0"/>
            </a:endParaRPr>
          </a:p>
          <a:p>
            <a:endParaRPr lang="en-ZA" sz="1300" dirty="0">
              <a:latin typeface="Avenir Next Cyr W04 Regular" panose="020B0503020202020204" pitchFamily="34" charset="0"/>
            </a:endParaRPr>
          </a:p>
          <a:p>
            <a:pPr marL="285750" indent="-285750">
              <a:buFont typeface="Arial" panose="020B0604020202020204" pitchFamily="34" charset="0"/>
              <a:buChar char="•"/>
            </a:pPr>
            <a:endParaRPr lang="en-ZA" sz="1300" dirty="0">
              <a:latin typeface="Avenir Next Cyr W04 Regular" panose="020B0503020202020204" pitchFamily="34" charset="0"/>
            </a:endParaRPr>
          </a:p>
          <a:p>
            <a:pPr marL="285750" indent="-285750">
              <a:buFont typeface="Arial" panose="020B0604020202020204" pitchFamily="34" charset="0"/>
              <a:buChar char="•"/>
            </a:pPr>
            <a:endParaRPr lang="en-ZA" sz="1300" dirty="0">
              <a:latin typeface="Avenir Next Cyr W04 Regular" panose="020B0503020202020204" pitchFamily="34" charset="0"/>
            </a:endParaRPr>
          </a:p>
          <a:p>
            <a:endParaRPr lang="en-ZA" sz="1300" dirty="0">
              <a:latin typeface="Avenir Next Cyr W04 Regular" panose="020B0503020202020204" pitchFamily="34" charset="0"/>
            </a:endParaRPr>
          </a:p>
          <a:p>
            <a:pPr marL="285750" indent="-285750">
              <a:buFont typeface="Arial" panose="020B0604020202020204" pitchFamily="34" charset="0"/>
              <a:buChar char="•"/>
            </a:pPr>
            <a:r>
              <a:rPr lang="en-ZA" sz="1300" dirty="0">
                <a:latin typeface="Avenir Next Cyr W04 Regular" panose="020B0503020202020204" pitchFamily="34" charset="0"/>
              </a:rPr>
              <a:t>The command line is where you interact with R. The symbol “&gt;” is where you write code. </a:t>
            </a:r>
            <a:r>
              <a:rPr lang="en-ZA" sz="1300" dirty="0" err="1">
                <a:latin typeface="Avenir Next Cyr W04 Regular" panose="020B0503020202020204" pitchFamily="34" charset="0"/>
              </a:rPr>
              <a:t>Eg</a:t>
            </a:r>
            <a:r>
              <a:rPr lang="en-ZA" sz="1300" dirty="0">
                <a:latin typeface="Avenir Next Cyr W04 Regular" panose="020B0503020202020204" pitchFamily="34" charset="0"/>
              </a:rPr>
              <a:t>; Mathematical Calculations.</a:t>
            </a:r>
          </a:p>
        </p:txBody>
      </p:sp>
      <p:cxnSp>
        <p:nvCxnSpPr>
          <p:cNvPr id="8" name="Straight Arrow Connector 7"/>
          <p:cNvCxnSpPr/>
          <p:nvPr/>
        </p:nvCxnSpPr>
        <p:spPr>
          <a:xfrm flipH="1">
            <a:off x="5393417" y="2435382"/>
            <a:ext cx="47322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5" name="Picture 4"/>
          <p:cNvPicPr>
            <a:picLocks noChangeAspect="1"/>
          </p:cNvPicPr>
          <p:nvPr/>
        </p:nvPicPr>
        <p:blipFill>
          <a:blip r:embed="rId5"/>
          <a:stretch>
            <a:fillRect/>
          </a:stretch>
        </p:blipFill>
        <p:spPr>
          <a:xfrm>
            <a:off x="188910" y="1328729"/>
            <a:ext cx="5204507" cy="4100521"/>
          </a:xfrm>
          <a:prstGeom prst="rect">
            <a:avLst/>
          </a:prstGeom>
        </p:spPr>
      </p:pic>
      <p:cxnSp>
        <p:nvCxnSpPr>
          <p:cNvPr id="11" name="Straight Arrow Connector 10"/>
          <p:cNvCxnSpPr/>
          <p:nvPr/>
        </p:nvCxnSpPr>
        <p:spPr>
          <a:xfrm flipH="1" flipV="1">
            <a:off x="570370" y="4689806"/>
            <a:ext cx="5075138" cy="2716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858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emplate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p:cNvSpPr>
            <a:spLocks noGrp="1"/>
          </p:cNvSpPr>
          <p:nvPr>
            <p:ph type="title"/>
          </p:nvPr>
        </p:nvSpPr>
        <p:spPr>
          <a:xfrm>
            <a:off x="728383" y="324226"/>
            <a:ext cx="8915400" cy="845332"/>
          </a:xfrm>
        </p:spPr>
        <p:txBody>
          <a:bodyPr>
            <a:normAutofit/>
          </a:bodyPr>
          <a:lstStyle/>
          <a:p>
            <a:r>
              <a:rPr lang="en-ZA" sz="3000" dirty="0"/>
              <a:t>Exploring the Environment</a:t>
            </a:r>
          </a:p>
        </p:txBody>
      </p:sp>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4" name="Picture 3"/>
          <p:cNvPicPr>
            <a:picLocks noChangeAspect="1"/>
          </p:cNvPicPr>
          <p:nvPr/>
        </p:nvPicPr>
        <p:blipFill>
          <a:blip r:embed="rId4"/>
          <a:stretch>
            <a:fillRect/>
          </a:stretch>
        </p:blipFill>
        <p:spPr>
          <a:xfrm>
            <a:off x="131837" y="324226"/>
            <a:ext cx="1383198" cy="865327"/>
          </a:xfrm>
          <a:prstGeom prst="rect">
            <a:avLst/>
          </a:prstGeom>
        </p:spPr>
      </p:pic>
      <p:pic>
        <p:nvPicPr>
          <p:cNvPr id="3" name="Picture 2"/>
          <p:cNvPicPr>
            <a:picLocks noChangeAspect="1"/>
          </p:cNvPicPr>
          <p:nvPr/>
        </p:nvPicPr>
        <p:blipFill>
          <a:blip r:embed="rId5"/>
          <a:stretch>
            <a:fillRect/>
          </a:stretch>
        </p:blipFill>
        <p:spPr>
          <a:xfrm>
            <a:off x="131838" y="1320371"/>
            <a:ext cx="4295308" cy="3686195"/>
          </a:xfrm>
          <a:prstGeom prst="rect">
            <a:avLst/>
          </a:prstGeom>
        </p:spPr>
      </p:pic>
      <p:cxnSp>
        <p:nvCxnSpPr>
          <p:cNvPr id="12" name="Straight Arrow Connector 11"/>
          <p:cNvCxnSpPr/>
          <p:nvPr/>
        </p:nvCxnSpPr>
        <p:spPr>
          <a:xfrm flipH="1">
            <a:off x="2643237" y="1497169"/>
            <a:ext cx="32587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40332" y="1489166"/>
            <a:ext cx="2358424" cy="146647"/>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4649799" y="1590742"/>
            <a:ext cx="4993984" cy="3693319"/>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300" b="1"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File </a:t>
            </a:r>
            <a:r>
              <a:rPr kumimoji="0" lang="en-ZA" sz="13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 it contains options for opening, saving and printing R documents as well as exiting the program. (Also Use the Close Button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300" dirty="0">
                <a:solidFill>
                  <a:prstClr val="black"/>
                </a:solidFill>
                <a:latin typeface="Avenir Next Cyr W04 Regular" panose="020B0503020202020204" pitchFamily="34" charset="0"/>
              </a:rPr>
              <a:t>The options that begins with load allows one to open previously saved work. </a:t>
            </a:r>
            <a:r>
              <a:rPr lang="en-ZA" sz="1300" dirty="0" err="1">
                <a:solidFill>
                  <a:prstClr val="black"/>
                </a:solidFill>
                <a:latin typeface="Avenir Next Cyr W04 Regular" panose="020B0503020202020204" pitchFamily="34" charset="0"/>
              </a:rPr>
              <a:t>Eg</a:t>
            </a:r>
            <a:r>
              <a:rPr lang="en-ZA" sz="1300" dirty="0">
                <a:solidFill>
                  <a:prstClr val="black"/>
                </a:solidFill>
                <a:latin typeface="Avenir Next Cyr W04 Regular" panose="020B0503020202020204" pitchFamily="34" charset="0"/>
              </a:rPr>
              <a:t>; Load Workspace and Load History</a:t>
            </a:r>
          </a:p>
          <a:p>
            <a:pPr marR="0" lvl="0" algn="l" defTabSz="457200" rtl="0" eaLnBrk="1" fontAlgn="auto" latinLnBrk="0" hangingPunct="1">
              <a:lnSpc>
                <a:spcPct val="100000"/>
              </a:lnSpc>
              <a:spcBef>
                <a:spcPts val="0"/>
              </a:spcBef>
              <a:spcAft>
                <a:spcPts val="0"/>
              </a:spcAft>
              <a:buClrTx/>
              <a:buSzTx/>
              <a:tabLst/>
              <a:defRPr/>
            </a:pPr>
            <a:endParaRPr lang="en-ZA" sz="1300" dirty="0">
              <a:solidFill>
                <a:prstClr val="black"/>
              </a:solidFill>
              <a:latin typeface="Avenir Next Cyr W04 Regular" panose="020B0503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300" b="1"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Edit</a:t>
            </a:r>
            <a:r>
              <a:rPr kumimoji="0" lang="en-ZA" sz="13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 This menu contains standard functions such as cut, copy, paste and select all. In addition there's a clear console, which clears all code that has been written. Although if any assignments were made to objects it will remain in the memory. The data editor option, a spreadsheet like interface for manual editing. </a:t>
            </a:r>
            <a:r>
              <a:rPr kumimoji="0" lang="en-ZA" sz="1300" b="0" i="0" u="none" strike="noStrike" kern="1200" cap="none" spc="0" normalizeH="0" noProof="0" dirty="0" err="1">
                <a:ln>
                  <a:noFill/>
                </a:ln>
                <a:solidFill>
                  <a:prstClr val="black"/>
                </a:solidFill>
                <a:effectLst/>
                <a:uLnTx/>
                <a:uFillTx/>
                <a:latin typeface="Avenir Next Cyr W04 Regular" panose="020B0503020202020204" pitchFamily="34" charset="0"/>
                <a:ea typeface="+mn-ea"/>
                <a:cs typeface="+mn-cs"/>
              </a:rPr>
              <a:t>Gui</a:t>
            </a:r>
            <a:r>
              <a:rPr kumimoji="0" lang="en-ZA" sz="13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Preferences opens the </a:t>
            </a:r>
            <a:r>
              <a:rPr kumimoji="0" lang="en-ZA" sz="1300" b="0" i="0" u="none" strike="noStrike" kern="1200" cap="none" spc="0" normalizeH="0" noProof="0" dirty="0" err="1">
                <a:ln>
                  <a:noFill/>
                </a:ln>
                <a:solidFill>
                  <a:prstClr val="black"/>
                </a:solidFill>
                <a:effectLst/>
                <a:uLnTx/>
                <a:uFillTx/>
                <a:latin typeface="Avenir Next Cyr W04 Regular" panose="020B0503020202020204" pitchFamily="34" charset="0"/>
                <a:ea typeface="+mn-ea"/>
                <a:cs typeface="+mn-cs"/>
              </a:rPr>
              <a:t>Rgui</a:t>
            </a:r>
            <a:r>
              <a:rPr kumimoji="0" lang="en-ZA" sz="13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configuration editor, allowing one to set options controlling the GUI such as font and size.</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sz="1300" baseline="0" dirty="0">
              <a:solidFill>
                <a:prstClr val="black"/>
              </a:solidFill>
              <a:latin typeface="Avenir Next Cyr W04 Regular" panose="020B0503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300" b="1" dirty="0" err="1">
                <a:solidFill>
                  <a:prstClr val="black"/>
                </a:solidFill>
                <a:latin typeface="Avenir Next Cyr W04 Regular" panose="020B0503020202020204" pitchFamily="34" charset="0"/>
              </a:rPr>
              <a:t>Misc</a:t>
            </a:r>
            <a:r>
              <a:rPr lang="en-ZA" sz="1300" b="1" dirty="0">
                <a:solidFill>
                  <a:prstClr val="black"/>
                </a:solidFill>
                <a:latin typeface="Avenir Next Cyr W04 Regular" panose="020B0503020202020204" pitchFamily="34" charset="0"/>
              </a:rPr>
              <a:t> – </a:t>
            </a:r>
            <a:r>
              <a:rPr lang="en-ZA" sz="1300" dirty="0">
                <a:solidFill>
                  <a:prstClr val="black"/>
                </a:solidFill>
                <a:latin typeface="Avenir Next Cyr W04 Regular" panose="020B0503020202020204" pitchFamily="34" charset="0"/>
              </a:rPr>
              <a:t>This feature allows one to stop current computation, if one decides to program a loop and it loops continuously, the ESC function will be able to stop it and return you to the command line.</a:t>
            </a:r>
            <a:endParaRPr kumimoji="0" lang="en-ZA" sz="13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pic>
        <p:nvPicPr>
          <p:cNvPr id="20" name="Picture 19"/>
          <p:cNvPicPr>
            <a:picLocks noChangeAspect="1"/>
          </p:cNvPicPr>
          <p:nvPr/>
        </p:nvPicPr>
        <p:blipFill>
          <a:blip r:embed="rId6"/>
          <a:stretch>
            <a:fillRect/>
          </a:stretch>
        </p:blipFill>
        <p:spPr>
          <a:xfrm>
            <a:off x="6044739" y="2057179"/>
            <a:ext cx="333375" cy="146836"/>
          </a:xfrm>
          <a:prstGeom prst="rect">
            <a:avLst/>
          </a:prstGeom>
        </p:spPr>
      </p:pic>
      <p:sp>
        <p:nvSpPr>
          <p:cNvPr id="21" name="Title 1"/>
          <p:cNvSpPr txBox="1">
            <a:spLocks/>
          </p:cNvSpPr>
          <p:nvPr/>
        </p:nvSpPr>
        <p:spPr>
          <a:xfrm>
            <a:off x="5901952" y="1346868"/>
            <a:ext cx="1431739" cy="2286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a:lstStyle>
          <a:p>
            <a:r>
              <a:rPr lang="en-ZA" sz="1500" dirty="0"/>
              <a:t>The Menu Bar</a:t>
            </a:r>
          </a:p>
        </p:txBody>
      </p:sp>
      <p:cxnSp>
        <p:nvCxnSpPr>
          <p:cNvPr id="24" name="Straight Arrow Connector 23"/>
          <p:cNvCxnSpPr/>
          <p:nvPr/>
        </p:nvCxnSpPr>
        <p:spPr>
          <a:xfrm flipH="1">
            <a:off x="3336201" y="4000605"/>
            <a:ext cx="1548144" cy="12504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7" name="Picture 26"/>
          <p:cNvPicPr>
            <a:picLocks noChangeAspect="1"/>
          </p:cNvPicPr>
          <p:nvPr/>
        </p:nvPicPr>
        <p:blipFill>
          <a:blip r:embed="rId7"/>
          <a:stretch>
            <a:fillRect/>
          </a:stretch>
        </p:blipFill>
        <p:spPr>
          <a:xfrm>
            <a:off x="6254289" y="5374599"/>
            <a:ext cx="247650" cy="219075"/>
          </a:xfrm>
          <a:prstGeom prst="rect">
            <a:avLst/>
          </a:prstGeom>
        </p:spPr>
      </p:pic>
      <p:sp>
        <p:nvSpPr>
          <p:cNvPr id="15" name="Rectangle 14"/>
          <p:cNvSpPr/>
          <p:nvPr/>
        </p:nvSpPr>
        <p:spPr>
          <a:xfrm>
            <a:off x="140331" y="5157379"/>
            <a:ext cx="4297849" cy="1211653"/>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8" name="Picture 7"/>
          <p:cNvPicPr>
            <a:picLocks noChangeAspect="1"/>
          </p:cNvPicPr>
          <p:nvPr/>
        </p:nvPicPr>
        <p:blipFill>
          <a:blip r:embed="rId8"/>
          <a:stretch>
            <a:fillRect/>
          </a:stretch>
        </p:blipFill>
        <p:spPr>
          <a:xfrm>
            <a:off x="182879" y="5175361"/>
            <a:ext cx="4193225" cy="1193671"/>
          </a:xfrm>
          <a:prstGeom prst="rect">
            <a:avLst/>
          </a:prstGeom>
        </p:spPr>
      </p:pic>
    </p:spTree>
    <p:extLst>
      <p:ext uri="{BB962C8B-B14F-4D97-AF65-F5344CB8AC3E}">
        <p14:creationId xmlns:p14="http://schemas.microsoft.com/office/powerpoint/2010/main" val="2666151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emplate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p:cNvSpPr>
            <a:spLocks noGrp="1"/>
          </p:cNvSpPr>
          <p:nvPr>
            <p:ph type="title"/>
          </p:nvPr>
        </p:nvSpPr>
        <p:spPr>
          <a:xfrm>
            <a:off x="728383" y="324226"/>
            <a:ext cx="8915400" cy="845332"/>
          </a:xfrm>
        </p:spPr>
        <p:txBody>
          <a:bodyPr>
            <a:normAutofit/>
          </a:bodyPr>
          <a:lstStyle/>
          <a:p>
            <a:r>
              <a:rPr lang="en-ZA" sz="3000" dirty="0"/>
              <a:t>Exploring the Environment</a:t>
            </a:r>
          </a:p>
        </p:txBody>
      </p:sp>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4" name="Picture 3"/>
          <p:cNvPicPr>
            <a:picLocks noChangeAspect="1"/>
          </p:cNvPicPr>
          <p:nvPr/>
        </p:nvPicPr>
        <p:blipFill>
          <a:blip r:embed="rId4"/>
          <a:stretch>
            <a:fillRect/>
          </a:stretch>
        </p:blipFill>
        <p:spPr>
          <a:xfrm>
            <a:off x="131837" y="324226"/>
            <a:ext cx="1383198" cy="865327"/>
          </a:xfrm>
          <a:prstGeom prst="rect">
            <a:avLst/>
          </a:prstGeom>
        </p:spPr>
      </p:pic>
      <p:sp>
        <p:nvSpPr>
          <p:cNvPr id="19" name="TextBox 18"/>
          <p:cNvSpPr txBox="1"/>
          <p:nvPr/>
        </p:nvSpPr>
        <p:spPr>
          <a:xfrm>
            <a:off x="192099" y="1438692"/>
            <a:ext cx="4993984" cy="4293483"/>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300" b="1" dirty="0">
                <a:solidFill>
                  <a:prstClr val="black"/>
                </a:solidFill>
                <a:latin typeface="Avenir Next Cyr W04 Regular" panose="020B0503020202020204" pitchFamily="34" charset="0"/>
              </a:rPr>
              <a:t>Packages</a:t>
            </a:r>
            <a:r>
              <a:rPr kumimoji="0" lang="en-ZA" sz="1300" b="1"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 </a:t>
            </a:r>
            <a:r>
              <a:rPr kumimoji="0" lang="en-ZA" sz="13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 This is a very important function, instead</a:t>
            </a:r>
            <a:r>
              <a:rPr kumimoji="0" lang="en-ZA" sz="13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of writing code to </a:t>
            </a:r>
            <a:r>
              <a:rPr lang="en-ZA" sz="1300" dirty="0">
                <a:solidFill>
                  <a:prstClr val="black"/>
                </a:solidFill>
                <a:latin typeface="Avenir Next Cyr W04 Regular" panose="020B0503020202020204" pitchFamily="34" charset="0"/>
              </a:rPr>
              <a:t>load and install a package, the package menu does it for you. You would only have to choose a package you would want to load and install.</a:t>
            </a:r>
            <a:r>
              <a:rPr kumimoji="0" lang="en-ZA" sz="13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sz="1300" dirty="0">
              <a:solidFill>
                <a:prstClr val="black"/>
              </a:solidFill>
              <a:latin typeface="Avenir Next Cyr W04 Regular" panose="020B0503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300" b="1"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Windows –</a:t>
            </a:r>
            <a:r>
              <a:rPr kumimoji="0" lang="en-ZA" sz="13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 The windows menu provides one with options to set up the console</a:t>
            </a:r>
            <a:r>
              <a:rPr kumimoji="0" lang="en-ZA" sz="13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and script editor in cascade or tilling windows.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sz="1300" baseline="0" dirty="0">
              <a:solidFill>
                <a:prstClr val="black"/>
              </a:solidFill>
              <a:latin typeface="Avenir Next Cyr W04 Regular" panose="020B0503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300" b="1"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Help – </a:t>
            </a:r>
            <a:r>
              <a:rPr kumimoji="0" lang="en-ZA" sz="130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Provides you with various sources of help and warrants and exploration. It also provides you with information listing shortcuts and keystrokes.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300" dirty="0">
                <a:solidFill>
                  <a:prstClr val="black"/>
                </a:solidFill>
                <a:latin typeface="Avenir Next Cyr W04 Regular" panose="020B0503020202020204" pitchFamily="34" charset="0"/>
              </a:rPr>
              <a:t>Frequently asked questions, HTML documents for R and R operating System you are using. These can be obtained without an internet connection.</a:t>
            </a:r>
          </a:p>
          <a:p>
            <a:pPr marL="285750" lvl="0" indent="-285750">
              <a:buFont typeface="Arial" panose="020B0604020202020204" pitchFamily="34" charset="0"/>
              <a:buChar char="•"/>
            </a:pPr>
            <a:r>
              <a:rPr kumimoji="0" lang="en-ZA" sz="130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R Language (Standard), </a:t>
            </a:r>
            <a:r>
              <a:rPr lang="en-US" sz="1300" dirty="0">
                <a:solidFill>
                  <a:prstClr val="black"/>
                </a:solidFill>
                <a:latin typeface="Avenir Next Cyr W04 Regular" panose="020B0503020202020204" pitchFamily="34" charset="0"/>
              </a:rPr>
              <a:t>“R language (HTML)”, and “Manuals” are found here as well. The R Language (Standard) once clicked a dialog box appears which allows one to type in a term that you would like to gain more information about.</a:t>
            </a:r>
            <a:endParaRPr kumimoji="0" lang="en-ZA" sz="130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ZA" sz="1300" b="1"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pic>
        <p:nvPicPr>
          <p:cNvPr id="5" name="Picture 4"/>
          <p:cNvPicPr>
            <a:picLocks noChangeAspect="1"/>
          </p:cNvPicPr>
          <p:nvPr/>
        </p:nvPicPr>
        <p:blipFill>
          <a:blip r:embed="rId5"/>
          <a:stretch>
            <a:fillRect/>
          </a:stretch>
        </p:blipFill>
        <p:spPr>
          <a:xfrm>
            <a:off x="5729354" y="1290905"/>
            <a:ext cx="896984" cy="3007849"/>
          </a:xfrm>
          <a:prstGeom prst="rect">
            <a:avLst/>
          </a:prstGeom>
        </p:spPr>
      </p:pic>
      <p:cxnSp>
        <p:nvCxnSpPr>
          <p:cNvPr id="16" name="Straight Arrow Connector 15"/>
          <p:cNvCxnSpPr/>
          <p:nvPr/>
        </p:nvCxnSpPr>
        <p:spPr>
          <a:xfrm>
            <a:off x="4896198" y="1763875"/>
            <a:ext cx="77992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1" name="Picture 10"/>
          <p:cNvPicPr>
            <a:picLocks noChangeAspect="1"/>
          </p:cNvPicPr>
          <p:nvPr/>
        </p:nvPicPr>
        <p:blipFill>
          <a:blip r:embed="rId6"/>
          <a:stretch>
            <a:fillRect/>
          </a:stretch>
        </p:blipFill>
        <p:spPr>
          <a:xfrm>
            <a:off x="6905893" y="3834910"/>
            <a:ext cx="1640902" cy="2562394"/>
          </a:xfrm>
          <a:prstGeom prst="rect">
            <a:avLst/>
          </a:prstGeom>
        </p:spPr>
      </p:pic>
      <p:cxnSp>
        <p:nvCxnSpPr>
          <p:cNvPr id="25" name="Straight Arrow Connector 24"/>
          <p:cNvCxnSpPr/>
          <p:nvPr/>
        </p:nvCxnSpPr>
        <p:spPr>
          <a:xfrm>
            <a:off x="4896198" y="4703959"/>
            <a:ext cx="186991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3470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emplate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p:cNvSpPr>
            <a:spLocks noGrp="1"/>
          </p:cNvSpPr>
          <p:nvPr>
            <p:ph type="title"/>
          </p:nvPr>
        </p:nvSpPr>
        <p:spPr>
          <a:xfrm>
            <a:off x="728383" y="324226"/>
            <a:ext cx="8915400" cy="845332"/>
          </a:xfrm>
        </p:spPr>
        <p:txBody>
          <a:bodyPr>
            <a:normAutofit/>
          </a:bodyPr>
          <a:lstStyle/>
          <a:p>
            <a:r>
              <a:rPr lang="en-ZA" sz="3000" dirty="0"/>
              <a:t>Exploring the Environment</a:t>
            </a:r>
          </a:p>
        </p:txBody>
      </p:sp>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4" name="Picture 3"/>
          <p:cNvPicPr>
            <a:picLocks noChangeAspect="1"/>
          </p:cNvPicPr>
          <p:nvPr/>
        </p:nvPicPr>
        <p:blipFill>
          <a:blip r:embed="rId4"/>
          <a:stretch>
            <a:fillRect/>
          </a:stretch>
        </p:blipFill>
        <p:spPr>
          <a:xfrm>
            <a:off x="131837" y="324226"/>
            <a:ext cx="1383198" cy="865327"/>
          </a:xfrm>
          <a:prstGeom prst="rect">
            <a:avLst/>
          </a:prstGeom>
        </p:spPr>
      </p:pic>
      <p:sp>
        <p:nvSpPr>
          <p:cNvPr id="19" name="TextBox 18"/>
          <p:cNvSpPr txBox="1"/>
          <p:nvPr/>
        </p:nvSpPr>
        <p:spPr>
          <a:xfrm>
            <a:off x="2399206" y="3353994"/>
            <a:ext cx="4993984" cy="1292662"/>
          </a:xfrm>
          <a:prstGeom prst="rect">
            <a:avLst/>
          </a:prstGeom>
          <a:noFill/>
        </p:spPr>
        <p:txBody>
          <a:bodyPr wrap="square" rtlCol="0">
            <a:spAutoFit/>
          </a:bodyPr>
          <a:lstStyle/>
          <a:p>
            <a:pPr marL="285750" marR="0" lvl="0"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300" dirty="0">
                <a:solidFill>
                  <a:prstClr val="black"/>
                </a:solidFill>
                <a:latin typeface="Avenir Next Cyr W04 Regular" panose="020B0503020202020204" pitchFamily="34" charset="0"/>
              </a:rPr>
              <a:t>The toolbar provides you with quick and easy access to the most used options in the Menu Tab. </a:t>
            </a:r>
          </a:p>
          <a:p>
            <a:pPr marL="285750" marR="0" lvl="0"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30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If</a:t>
            </a:r>
            <a:r>
              <a:rPr kumimoji="0" lang="en-ZA" sz="130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you hover over one of the toolbar items you will see the items name.</a:t>
            </a:r>
          </a:p>
          <a:p>
            <a:pPr marL="285750" marR="0" lvl="0"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300" baseline="0" dirty="0">
                <a:solidFill>
                  <a:prstClr val="black"/>
                </a:solidFill>
                <a:latin typeface="Avenir Next Cyr W04 Regular" panose="020B0503020202020204" pitchFamily="34" charset="0"/>
              </a:rPr>
              <a:t>To</a:t>
            </a:r>
            <a:r>
              <a:rPr lang="en-ZA" sz="1300" dirty="0">
                <a:solidFill>
                  <a:prstClr val="black"/>
                </a:solidFill>
                <a:latin typeface="Avenir Next Cyr W04 Regular" panose="020B0503020202020204" pitchFamily="34" charset="0"/>
              </a:rPr>
              <a:t> Reiterate, the Stop button in the toolbar allows you to stop current computation immediately.</a:t>
            </a:r>
            <a:endParaRPr kumimoji="0" lang="en-ZA" sz="130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cxnSp>
        <p:nvCxnSpPr>
          <p:cNvPr id="16" name="Straight Arrow Connector 15"/>
          <p:cNvCxnSpPr/>
          <p:nvPr/>
        </p:nvCxnSpPr>
        <p:spPr>
          <a:xfrm>
            <a:off x="3565339" y="2423958"/>
            <a:ext cx="77992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itle 1"/>
          <p:cNvSpPr txBox="1">
            <a:spLocks/>
          </p:cNvSpPr>
          <p:nvPr/>
        </p:nvSpPr>
        <p:spPr>
          <a:xfrm>
            <a:off x="1683336" y="2309658"/>
            <a:ext cx="1431739" cy="2286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a:lstStyle>
          <a:p>
            <a:r>
              <a:rPr lang="en-ZA" sz="1500" dirty="0"/>
              <a:t>The Toolbar</a:t>
            </a:r>
          </a:p>
        </p:txBody>
      </p:sp>
      <p:pic>
        <p:nvPicPr>
          <p:cNvPr id="3" name="Picture 2"/>
          <p:cNvPicPr>
            <a:picLocks noChangeAspect="1"/>
          </p:cNvPicPr>
          <p:nvPr/>
        </p:nvPicPr>
        <p:blipFill>
          <a:blip r:embed="rId5"/>
          <a:stretch>
            <a:fillRect/>
          </a:stretch>
        </p:blipFill>
        <p:spPr>
          <a:xfrm>
            <a:off x="5055884" y="2163941"/>
            <a:ext cx="3383499" cy="483357"/>
          </a:xfrm>
          <a:prstGeom prst="rect">
            <a:avLst/>
          </a:prstGeom>
        </p:spPr>
      </p:pic>
    </p:spTree>
    <p:extLst>
      <p:ext uri="{BB962C8B-B14F-4D97-AF65-F5344CB8AC3E}">
        <p14:creationId xmlns:p14="http://schemas.microsoft.com/office/powerpoint/2010/main" val="766485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emplate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p:cNvSpPr>
            <a:spLocks noGrp="1"/>
          </p:cNvSpPr>
          <p:nvPr>
            <p:ph type="title"/>
          </p:nvPr>
        </p:nvSpPr>
        <p:spPr>
          <a:xfrm>
            <a:off x="728383" y="324226"/>
            <a:ext cx="8915400" cy="845332"/>
          </a:xfrm>
        </p:spPr>
        <p:txBody>
          <a:bodyPr>
            <a:normAutofit/>
          </a:bodyPr>
          <a:lstStyle/>
          <a:p>
            <a:r>
              <a:rPr lang="en-ZA" sz="3000" dirty="0"/>
              <a:t>How R Works</a:t>
            </a:r>
          </a:p>
        </p:txBody>
      </p:sp>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4" name="Picture 3"/>
          <p:cNvPicPr>
            <a:picLocks noChangeAspect="1"/>
          </p:cNvPicPr>
          <p:nvPr/>
        </p:nvPicPr>
        <p:blipFill>
          <a:blip r:embed="rId4"/>
          <a:stretch>
            <a:fillRect/>
          </a:stretch>
        </p:blipFill>
        <p:spPr>
          <a:xfrm>
            <a:off x="131837" y="324226"/>
            <a:ext cx="1383198" cy="865327"/>
          </a:xfrm>
          <a:prstGeom prst="rect">
            <a:avLst/>
          </a:prstGeom>
        </p:spPr>
      </p:pic>
      <p:sp>
        <p:nvSpPr>
          <p:cNvPr id="19" name="TextBox 18"/>
          <p:cNvSpPr txBox="1"/>
          <p:nvPr/>
        </p:nvSpPr>
        <p:spPr>
          <a:xfrm>
            <a:off x="826024" y="1121860"/>
            <a:ext cx="8127117" cy="3093154"/>
          </a:xfrm>
          <a:prstGeom prst="rect">
            <a:avLst/>
          </a:prstGeom>
          <a:noFill/>
        </p:spPr>
        <p:txBody>
          <a:bodyPr wrap="square" rtlCol="0">
            <a:spAutoFit/>
          </a:bodyPr>
          <a:lstStyle/>
          <a:p>
            <a:pPr marL="285750" marR="0" lvl="0"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3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R</a:t>
            </a:r>
            <a:r>
              <a:rPr kumimoji="0" lang="en-ZA" sz="13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is an interpreted Language, not a compiled one which means that all the code that you write are executed without requiring to build a complete program.</a:t>
            </a:r>
          </a:p>
          <a:p>
            <a:pPr marL="285750" marR="0" lvl="0"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ZA" sz="13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endParaRPr>
          </a:p>
          <a:p>
            <a:pPr marL="285750" marR="0" lvl="0"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300" baseline="0" dirty="0">
                <a:solidFill>
                  <a:prstClr val="black"/>
                </a:solidFill>
                <a:latin typeface="Avenir Next Cyr W04 Regular" panose="020B0503020202020204" pitchFamily="34" charset="0"/>
              </a:rPr>
              <a:t>R</a:t>
            </a:r>
            <a:r>
              <a:rPr lang="en-ZA" sz="1300" dirty="0">
                <a:solidFill>
                  <a:prstClr val="black"/>
                </a:solidFill>
                <a:latin typeface="Avenir Next Cyr W04 Regular" panose="020B0503020202020204" pitchFamily="34" charset="0"/>
              </a:rPr>
              <a:t> Syntax is simple and intuitive. A linear regression can be done with the following command lm(</a:t>
            </a:r>
            <a:r>
              <a:rPr lang="en-ZA" sz="1300" dirty="0" err="1">
                <a:solidFill>
                  <a:prstClr val="black"/>
                </a:solidFill>
                <a:latin typeface="Avenir Next Cyr W04 Regular" panose="020B0503020202020204" pitchFamily="34" charset="0"/>
              </a:rPr>
              <a:t>y~x</a:t>
            </a:r>
            <a:r>
              <a:rPr lang="en-ZA" sz="1300" dirty="0">
                <a:solidFill>
                  <a:prstClr val="black"/>
                </a:solidFill>
                <a:latin typeface="Avenir Next Cyr W04 Regular" panose="020B0503020202020204" pitchFamily="34" charset="0"/>
              </a:rPr>
              <a:t>) whereby y is your response variable and x is your predictor variable. </a:t>
            </a:r>
          </a:p>
          <a:p>
            <a:pPr marL="285750" marR="0" lvl="0"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sz="1300" dirty="0">
              <a:solidFill>
                <a:prstClr val="black"/>
              </a:solidFill>
              <a:latin typeface="Avenir Next Cyr W04 Regular" panose="020B0503020202020204" pitchFamily="34" charset="0"/>
            </a:endParaRPr>
          </a:p>
          <a:p>
            <a:pPr marL="285750" marR="0" lvl="0"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3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In</a:t>
            </a:r>
            <a:r>
              <a:rPr kumimoji="0" lang="en-ZA" sz="13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order for code to be executed, it always needs a function that should be written in Parentheses, even if there is nothing written between them ls(). Which will display the content of the function. </a:t>
            </a:r>
            <a:r>
              <a:rPr kumimoji="0" lang="en-ZA" sz="1300" b="0" i="0" u="none" strike="noStrike" kern="1200" cap="none" spc="0" normalizeH="0" noProof="0" dirty="0" err="1">
                <a:ln>
                  <a:noFill/>
                </a:ln>
                <a:solidFill>
                  <a:prstClr val="black"/>
                </a:solidFill>
                <a:effectLst/>
                <a:uLnTx/>
                <a:uFillTx/>
                <a:latin typeface="Avenir Next Cyr W04 Regular" panose="020B0503020202020204" pitchFamily="34" charset="0"/>
                <a:ea typeface="+mn-ea"/>
                <a:cs typeface="+mn-cs"/>
              </a:rPr>
              <a:t>Eg</a:t>
            </a:r>
            <a:r>
              <a:rPr kumimoji="0" lang="en-ZA" sz="13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a:t>
            </a:r>
            <a:r>
              <a:rPr lang="en-ZA" sz="1300" dirty="0">
                <a:solidFill>
                  <a:prstClr val="black"/>
                </a:solidFill>
                <a:latin typeface="Avenir Next Cyr W04 Regular" panose="020B0503020202020204" pitchFamily="34" charset="0"/>
              </a:rPr>
              <a:t>displays the objects you have stored. You can also use </a:t>
            </a:r>
            <a:r>
              <a:rPr lang="en-ZA" sz="1300" dirty="0" err="1">
                <a:solidFill>
                  <a:prstClr val="black"/>
                </a:solidFill>
                <a:latin typeface="Avenir Next Cyr W04 Regular" panose="020B0503020202020204" pitchFamily="34" charset="0"/>
              </a:rPr>
              <a:t>rm</a:t>
            </a:r>
            <a:r>
              <a:rPr lang="en-ZA" sz="1300" dirty="0">
                <a:solidFill>
                  <a:prstClr val="black"/>
                </a:solidFill>
                <a:latin typeface="Avenir Next Cyr W04 Regular" panose="020B0503020202020204" pitchFamily="34" charset="0"/>
              </a:rPr>
              <a:t>() to delete an object.</a:t>
            </a:r>
          </a:p>
          <a:p>
            <a:pPr marL="285750" marR="0" lvl="0"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sz="1300" dirty="0">
              <a:solidFill>
                <a:prstClr val="black"/>
              </a:solidFill>
              <a:latin typeface="Avenir Next Cyr W04 Regular" panose="020B0503020202020204" pitchFamily="34" charset="0"/>
            </a:endParaRPr>
          </a:p>
          <a:p>
            <a:pPr marL="285750" marR="0" lvl="0"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3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rPr>
              <a:t>When R</a:t>
            </a:r>
            <a:r>
              <a:rPr kumimoji="0" lang="en-ZA" sz="13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rPr>
              <a:t> is running variables, data, functions or results it is stored in its active memory of the computer in the form of objects which has a name.</a:t>
            </a:r>
          </a:p>
          <a:p>
            <a:pPr marL="285750" marR="0" lvl="0"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ZA" sz="1300" b="0" i="0" u="none" strike="noStrike" kern="1200" cap="none" spc="0" normalizeH="0" noProof="0" dirty="0">
              <a:ln>
                <a:noFill/>
              </a:ln>
              <a:solidFill>
                <a:prstClr val="black"/>
              </a:solidFill>
              <a:effectLst/>
              <a:uLnTx/>
              <a:uFillTx/>
              <a:latin typeface="Avenir Next Cyr W04 Regular" panose="020B0503020202020204" pitchFamily="34" charset="0"/>
              <a:ea typeface="+mn-ea"/>
              <a:cs typeface="+mn-cs"/>
            </a:endParaRPr>
          </a:p>
          <a:p>
            <a:pPr marL="285750" marR="0" lvl="0"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300" baseline="0" dirty="0">
                <a:solidFill>
                  <a:prstClr val="black"/>
                </a:solidFill>
                <a:latin typeface="Avenir Next Cyr W04 Regular" panose="020B0503020202020204" pitchFamily="34" charset="0"/>
              </a:rPr>
              <a:t>The</a:t>
            </a:r>
            <a:r>
              <a:rPr lang="en-ZA" sz="1300" dirty="0">
                <a:solidFill>
                  <a:prstClr val="black"/>
                </a:solidFill>
                <a:latin typeface="Avenir Next Cyr W04 Regular" panose="020B0503020202020204" pitchFamily="34" charset="0"/>
              </a:rPr>
              <a:t> user can do actions on these objects with operators (Arithmetic or logical) and functions which are objects themselves.</a:t>
            </a:r>
            <a:endParaRPr kumimoji="0" lang="en-ZA" sz="13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pic>
        <p:nvPicPr>
          <p:cNvPr id="3" name="Picture 2"/>
          <p:cNvPicPr>
            <a:picLocks noChangeAspect="1"/>
          </p:cNvPicPr>
          <p:nvPr/>
        </p:nvPicPr>
        <p:blipFill>
          <a:blip r:embed="rId5"/>
          <a:stretch>
            <a:fillRect/>
          </a:stretch>
        </p:blipFill>
        <p:spPr>
          <a:xfrm>
            <a:off x="728383" y="4168424"/>
            <a:ext cx="3868150" cy="2301387"/>
          </a:xfrm>
          <a:prstGeom prst="rect">
            <a:avLst/>
          </a:prstGeom>
        </p:spPr>
      </p:pic>
      <p:sp>
        <p:nvSpPr>
          <p:cNvPr id="8" name="Rectangle 7"/>
          <p:cNvSpPr/>
          <p:nvPr/>
        </p:nvSpPr>
        <p:spPr>
          <a:xfrm>
            <a:off x="728383" y="4168424"/>
            <a:ext cx="3879479" cy="2301387"/>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6"/>
          <p:cNvPicPr>
            <a:picLocks noChangeAspect="1"/>
          </p:cNvPicPr>
          <p:nvPr/>
        </p:nvPicPr>
        <p:blipFill>
          <a:blip r:embed="rId6"/>
          <a:stretch>
            <a:fillRect/>
          </a:stretch>
        </p:blipFill>
        <p:spPr>
          <a:xfrm>
            <a:off x="6058754" y="4499166"/>
            <a:ext cx="2199376" cy="219938"/>
          </a:xfrm>
          <a:prstGeom prst="rect">
            <a:avLst/>
          </a:prstGeom>
        </p:spPr>
      </p:pic>
      <p:pic>
        <p:nvPicPr>
          <p:cNvPr id="10" name="Picture 9"/>
          <p:cNvPicPr>
            <a:picLocks noChangeAspect="1"/>
          </p:cNvPicPr>
          <p:nvPr/>
        </p:nvPicPr>
        <p:blipFill>
          <a:blip r:embed="rId7"/>
          <a:stretch>
            <a:fillRect/>
          </a:stretch>
        </p:blipFill>
        <p:spPr>
          <a:xfrm>
            <a:off x="5016752" y="4909839"/>
            <a:ext cx="4457700" cy="180975"/>
          </a:xfrm>
          <a:prstGeom prst="rect">
            <a:avLst/>
          </a:prstGeom>
        </p:spPr>
      </p:pic>
      <p:pic>
        <p:nvPicPr>
          <p:cNvPr id="11" name="Picture 10"/>
          <p:cNvPicPr>
            <a:picLocks noChangeAspect="1"/>
          </p:cNvPicPr>
          <p:nvPr/>
        </p:nvPicPr>
        <p:blipFill>
          <a:blip r:embed="rId8"/>
          <a:stretch>
            <a:fillRect/>
          </a:stretch>
        </p:blipFill>
        <p:spPr>
          <a:xfrm>
            <a:off x="4776509" y="5319117"/>
            <a:ext cx="4697944" cy="229168"/>
          </a:xfrm>
          <a:prstGeom prst="rect">
            <a:avLst/>
          </a:prstGeom>
        </p:spPr>
      </p:pic>
      <p:sp>
        <p:nvSpPr>
          <p:cNvPr id="13" name="Rectangle 12"/>
          <p:cNvSpPr/>
          <p:nvPr/>
        </p:nvSpPr>
        <p:spPr>
          <a:xfrm>
            <a:off x="4694174" y="4168424"/>
            <a:ext cx="4949609" cy="2301387"/>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904650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emplate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p:cNvSpPr>
            <a:spLocks noGrp="1"/>
          </p:cNvSpPr>
          <p:nvPr>
            <p:ph type="title"/>
          </p:nvPr>
        </p:nvSpPr>
        <p:spPr>
          <a:xfrm>
            <a:off x="728383" y="324226"/>
            <a:ext cx="8915400" cy="845332"/>
          </a:xfrm>
        </p:spPr>
        <p:txBody>
          <a:bodyPr>
            <a:normAutofit/>
          </a:bodyPr>
          <a:lstStyle/>
          <a:p>
            <a:r>
              <a:rPr lang="en-ZA" sz="3000" dirty="0"/>
              <a:t>How R Works</a:t>
            </a:r>
          </a:p>
        </p:txBody>
      </p:sp>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4" name="Picture 3"/>
          <p:cNvPicPr>
            <a:picLocks noChangeAspect="1"/>
          </p:cNvPicPr>
          <p:nvPr/>
        </p:nvPicPr>
        <p:blipFill>
          <a:blip r:embed="rId4"/>
          <a:stretch>
            <a:fillRect/>
          </a:stretch>
        </p:blipFill>
        <p:spPr>
          <a:xfrm>
            <a:off x="131837" y="324226"/>
            <a:ext cx="1383198" cy="865327"/>
          </a:xfrm>
          <a:prstGeom prst="rect">
            <a:avLst/>
          </a:prstGeom>
        </p:spPr>
      </p:pic>
      <p:sp>
        <p:nvSpPr>
          <p:cNvPr id="19" name="TextBox 18"/>
          <p:cNvSpPr txBox="1"/>
          <p:nvPr/>
        </p:nvSpPr>
        <p:spPr>
          <a:xfrm>
            <a:off x="823436" y="2147693"/>
            <a:ext cx="5569416" cy="738664"/>
          </a:xfrm>
          <a:prstGeom prst="rect">
            <a:avLst/>
          </a:prstGeom>
          <a:noFill/>
        </p:spPr>
        <p:txBody>
          <a:bodyPr wrap="square" rtlCol="0">
            <a:spAutoFit/>
          </a:bodyPr>
          <a:lstStyle/>
          <a:p>
            <a:pPr marL="285750" lvl="0" indent="-285750" algn="just">
              <a:buFont typeface="Arial" panose="020B0604020202020204" pitchFamily="34" charset="0"/>
              <a:buChar char="•"/>
              <a:defRPr/>
            </a:pPr>
            <a:r>
              <a:rPr lang="en-US" sz="1400" dirty="0"/>
              <a:t>Functions are created using the function() directive and are stored as R objects just like anything else. In particular, they are R objects of class “function”. </a:t>
            </a:r>
            <a:endParaRPr kumimoji="0" lang="en-ZA" sz="13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pic>
        <p:nvPicPr>
          <p:cNvPr id="3" name="Picture 2"/>
          <p:cNvPicPr>
            <a:picLocks noChangeAspect="1"/>
          </p:cNvPicPr>
          <p:nvPr/>
        </p:nvPicPr>
        <p:blipFill>
          <a:blip r:embed="rId5"/>
          <a:stretch>
            <a:fillRect/>
          </a:stretch>
        </p:blipFill>
        <p:spPr>
          <a:xfrm>
            <a:off x="2852260" y="1006513"/>
            <a:ext cx="4201480" cy="1089759"/>
          </a:xfrm>
          <a:prstGeom prst="rect">
            <a:avLst/>
          </a:prstGeom>
        </p:spPr>
      </p:pic>
      <p:pic>
        <p:nvPicPr>
          <p:cNvPr id="5" name="Picture 4"/>
          <p:cNvPicPr>
            <a:picLocks noChangeAspect="1"/>
          </p:cNvPicPr>
          <p:nvPr/>
        </p:nvPicPr>
        <p:blipFill>
          <a:blip r:embed="rId6"/>
          <a:stretch>
            <a:fillRect/>
          </a:stretch>
        </p:blipFill>
        <p:spPr>
          <a:xfrm>
            <a:off x="1137558" y="2964000"/>
            <a:ext cx="2667000" cy="371475"/>
          </a:xfrm>
          <a:prstGeom prst="rect">
            <a:avLst/>
          </a:prstGeom>
        </p:spPr>
      </p:pic>
      <p:sp>
        <p:nvSpPr>
          <p:cNvPr id="10" name="TextBox 9"/>
          <p:cNvSpPr txBox="1"/>
          <p:nvPr/>
        </p:nvSpPr>
        <p:spPr>
          <a:xfrm>
            <a:off x="819827" y="3478228"/>
            <a:ext cx="5569416" cy="954107"/>
          </a:xfrm>
          <a:prstGeom prst="rect">
            <a:avLst/>
          </a:prstGeom>
          <a:noFill/>
        </p:spPr>
        <p:txBody>
          <a:bodyPr wrap="square" rtlCol="0">
            <a:spAutoFit/>
          </a:bodyPr>
          <a:lstStyle/>
          <a:p>
            <a:pPr marL="285750" lvl="0" indent="-285750" algn="just">
              <a:buFont typeface="Arial" panose="020B0604020202020204" pitchFamily="34" charset="0"/>
              <a:buChar char="•"/>
              <a:defRPr/>
            </a:pPr>
            <a:r>
              <a:rPr lang="en-US" sz="1400" dirty="0"/>
              <a:t>Functions have named arguments which potentially have default values. The formal arguments are the arguments included in the function definition. Not every function call in R makes use of all the formal arguments</a:t>
            </a:r>
            <a:endParaRPr kumimoji="0" lang="en-ZA" sz="13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pic>
        <p:nvPicPr>
          <p:cNvPr id="12" name="Picture 11"/>
          <p:cNvPicPr>
            <a:picLocks noChangeAspect="1"/>
          </p:cNvPicPr>
          <p:nvPr/>
        </p:nvPicPr>
        <p:blipFill>
          <a:blip r:embed="rId7"/>
          <a:stretch>
            <a:fillRect/>
          </a:stretch>
        </p:blipFill>
        <p:spPr>
          <a:xfrm>
            <a:off x="1137558" y="4575088"/>
            <a:ext cx="4572000" cy="1724025"/>
          </a:xfrm>
          <a:prstGeom prst="rect">
            <a:avLst/>
          </a:prstGeom>
        </p:spPr>
      </p:pic>
      <p:sp>
        <p:nvSpPr>
          <p:cNvPr id="15" name="Rectangle 14"/>
          <p:cNvSpPr/>
          <p:nvPr/>
        </p:nvSpPr>
        <p:spPr>
          <a:xfrm>
            <a:off x="1137558" y="4575088"/>
            <a:ext cx="4572000" cy="172402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137558" y="2964000"/>
            <a:ext cx="2667000" cy="37147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683211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emplate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p:cNvSpPr>
            <a:spLocks noGrp="1"/>
          </p:cNvSpPr>
          <p:nvPr>
            <p:ph type="title"/>
          </p:nvPr>
        </p:nvSpPr>
        <p:spPr>
          <a:xfrm>
            <a:off x="269436" y="324226"/>
            <a:ext cx="8915400" cy="845332"/>
          </a:xfrm>
        </p:spPr>
        <p:txBody>
          <a:bodyPr>
            <a:normAutofit/>
          </a:bodyPr>
          <a:lstStyle/>
          <a:p>
            <a:r>
              <a:rPr lang="en-ZA" sz="3000" dirty="0"/>
              <a:t>Getting Help</a:t>
            </a:r>
          </a:p>
        </p:txBody>
      </p:sp>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4" name="Picture 3"/>
          <p:cNvPicPr>
            <a:picLocks noChangeAspect="1"/>
          </p:cNvPicPr>
          <p:nvPr/>
        </p:nvPicPr>
        <p:blipFill>
          <a:blip r:embed="rId4"/>
          <a:stretch>
            <a:fillRect/>
          </a:stretch>
        </p:blipFill>
        <p:spPr>
          <a:xfrm>
            <a:off x="131837" y="324226"/>
            <a:ext cx="1383198" cy="865327"/>
          </a:xfrm>
          <a:prstGeom prst="rect">
            <a:avLst/>
          </a:prstGeom>
        </p:spPr>
      </p:pic>
      <p:sp>
        <p:nvSpPr>
          <p:cNvPr id="8" name="TextBox 7"/>
          <p:cNvSpPr txBox="1"/>
          <p:nvPr/>
        </p:nvSpPr>
        <p:spPr>
          <a:xfrm>
            <a:off x="823436" y="1343017"/>
            <a:ext cx="7080239" cy="3293209"/>
          </a:xfrm>
          <a:prstGeom prst="rect">
            <a:avLst/>
          </a:prstGeom>
          <a:noFill/>
        </p:spPr>
        <p:txBody>
          <a:bodyPr wrap="square" rtlCol="0">
            <a:spAutoFit/>
          </a:bodyPr>
          <a:lstStyle/>
          <a:p>
            <a:pPr marL="285750" indent="-285750">
              <a:buFont typeface="Arial" panose="020B0604020202020204" pitchFamily="34" charset="0"/>
              <a:buChar char="•"/>
            </a:pPr>
            <a:r>
              <a:rPr lang="en-US" sz="1300" b="1" dirty="0">
                <a:latin typeface="Avenir Next Cyr W04 Regular" panose="020B0503020202020204" pitchFamily="34" charset="0"/>
              </a:rPr>
              <a:t>Console: </a:t>
            </a:r>
            <a:r>
              <a:rPr lang="en-US" sz="1300" dirty="0">
                <a:latin typeface="Avenir Next Cyr W04 Regular" panose="020B0503020202020204" pitchFamily="34" charset="0"/>
              </a:rPr>
              <a:t>gives useful shortcuts, for instance, </a:t>
            </a:r>
            <a:r>
              <a:rPr lang="en-US" sz="1300" dirty="0" err="1">
                <a:latin typeface="Avenir Next Cyr W04 Regular" panose="020B0503020202020204" pitchFamily="34" charset="0"/>
              </a:rPr>
              <a:t>Ctrl+L</a:t>
            </a:r>
            <a:r>
              <a:rPr lang="en-US" sz="1300" dirty="0">
                <a:latin typeface="Avenir Next Cyr W04 Regular" panose="020B0503020202020204" pitchFamily="34" charset="0"/>
              </a:rPr>
              <a:t>, to clear the R console screen.</a:t>
            </a:r>
          </a:p>
          <a:p>
            <a:pPr marL="285750" indent="-285750">
              <a:buFont typeface="Arial" panose="020B0604020202020204" pitchFamily="34" charset="0"/>
              <a:buChar char="•"/>
            </a:pPr>
            <a:endParaRPr lang="en-US" sz="1300" dirty="0">
              <a:latin typeface="Avenir Next Cyr W04 Regular" panose="020B0503020202020204" pitchFamily="34" charset="0"/>
            </a:endParaRPr>
          </a:p>
          <a:p>
            <a:pPr marL="285750" indent="-285750">
              <a:buFont typeface="Arial" panose="020B0604020202020204" pitchFamily="34" charset="0"/>
              <a:buChar char="•"/>
            </a:pPr>
            <a:r>
              <a:rPr lang="en-US" sz="1300" b="1" dirty="0">
                <a:latin typeface="Avenir Next Cyr W04 Regular" panose="020B0503020202020204" pitchFamily="34" charset="0"/>
              </a:rPr>
              <a:t>FAQ on R: </a:t>
            </a:r>
            <a:r>
              <a:rPr lang="en-US" sz="1300" dirty="0">
                <a:latin typeface="Avenir Next Cyr W04 Regular" panose="020B0503020202020204" pitchFamily="34" charset="0"/>
              </a:rPr>
              <a:t>frequently asked questions concerning general R operation.</a:t>
            </a:r>
          </a:p>
          <a:p>
            <a:pPr marL="285750" indent="-285750">
              <a:buFont typeface="Arial" panose="020B0604020202020204" pitchFamily="34" charset="0"/>
              <a:buChar char="•"/>
            </a:pPr>
            <a:endParaRPr lang="en-US" sz="1300" dirty="0">
              <a:latin typeface="Avenir Next Cyr W04 Regular" panose="020B0503020202020204" pitchFamily="34" charset="0"/>
            </a:endParaRPr>
          </a:p>
          <a:p>
            <a:pPr marL="285750" indent="-285750">
              <a:buFont typeface="Arial" panose="020B0604020202020204" pitchFamily="34" charset="0"/>
              <a:buChar char="•"/>
            </a:pPr>
            <a:r>
              <a:rPr lang="en-US" sz="1300" b="1" dirty="0">
                <a:latin typeface="Avenir Next Cyr W04 Regular" panose="020B0503020202020204" pitchFamily="34" charset="0"/>
              </a:rPr>
              <a:t>FAQ on R for Windows: </a:t>
            </a:r>
            <a:r>
              <a:rPr lang="en-US" sz="1300" dirty="0">
                <a:latin typeface="Avenir Next Cyr W04 Regular" panose="020B0503020202020204" pitchFamily="34" charset="0"/>
              </a:rPr>
              <a:t>frequently asked questions about R, tailored to the Microsoft</a:t>
            </a:r>
          </a:p>
          <a:p>
            <a:r>
              <a:rPr lang="en-US" sz="1300" dirty="0">
                <a:latin typeface="Avenir Next Cyr W04 Regular" panose="020B0503020202020204" pitchFamily="34" charset="0"/>
              </a:rPr>
              <a:t>	Windows operating system. If you have downloaded R on a different operating 	system then it will be tailored to your system.</a:t>
            </a:r>
          </a:p>
          <a:p>
            <a:pPr marL="285750" indent="-285750">
              <a:buFont typeface="Arial" panose="020B0604020202020204" pitchFamily="34" charset="0"/>
              <a:buChar char="•"/>
            </a:pPr>
            <a:endParaRPr lang="en-US" sz="1300" dirty="0">
              <a:latin typeface="Avenir Next Cyr W04 Regular" panose="020B0503020202020204" pitchFamily="34" charset="0"/>
            </a:endParaRPr>
          </a:p>
          <a:p>
            <a:pPr marL="285750" indent="-285750">
              <a:buFont typeface="Arial" panose="020B0604020202020204" pitchFamily="34" charset="0"/>
              <a:buChar char="•"/>
            </a:pPr>
            <a:r>
              <a:rPr lang="en-US" sz="1300" b="1" dirty="0">
                <a:latin typeface="Avenir Next Cyr W04 Regular" panose="020B0503020202020204" pitchFamily="34" charset="0"/>
              </a:rPr>
              <a:t>Manuals: </a:t>
            </a:r>
            <a:r>
              <a:rPr lang="en-US" sz="1300" dirty="0">
                <a:latin typeface="Avenir Next Cyr W04 Regular" panose="020B0503020202020204" pitchFamily="34" charset="0"/>
              </a:rPr>
              <a:t>technical manuals about all features of the R system including installation, the complete language definition, and add-on packages.</a:t>
            </a:r>
          </a:p>
          <a:p>
            <a:pPr marL="285750" indent="-285750">
              <a:buFont typeface="Arial" panose="020B0604020202020204" pitchFamily="34" charset="0"/>
              <a:buChar char="•"/>
            </a:pPr>
            <a:endParaRPr lang="en-US" sz="1300" dirty="0">
              <a:latin typeface="Avenir Next Cyr W04 Regular" panose="020B0503020202020204" pitchFamily="34" charset="0"/>
            </a:endParaRPr>
          </a:p>
          <a:p>
            <a:pPr marL="285750" indent="-285750">
              <a:buFont typeface="Arial" panose="020B0604020202020204" pitchFamily="34" charset="0"/>
              <a:buChar char="•"/>
            </a:pPr>
            <a:r>
              <a:rPr lang="en-US" sz="1300" b="1" dirty="0">
                <a:latin typeface="Avenir Next Cyr W04 Regular" panose="020B0503020202020204" pitchFamily="34" charset="0"/>
              </a:rPr>
              <a:t>R functions (text) : </a:t>
            </a:r>
            <a:r>
              <a:rPr lang="en-US" sz="1300" dirty="0">
                <a:latin typeface="Avenir Next Cyr W04 Regular" panose="020B0503020202020204" pitchFamily="34" charset="0"/>
              </a:rPr>
              <a:t>use this if you know the exact name of the function you want to know  more about, for example, mean or plot. Typing mean in the window is equivalent to typing help("mean") at the command line, or more simply, ?mean.</a:t>
            </a:r>
          </a:p>
          <a:p>
            <a:pPr marL="285750" indent="-285750">
              <a:buFont typeface="Arial" panose="020B0604020202020204" pitchFamily="34" charset="0"/>
              <a:buChar char="•"/>
            </a:pPr>
            <a:endParaRPr lang="en-US" sz="1300" dirty="0">
              <a:latin typeface="Avenir Next Cyr W04 Regular" panose="020B0503020202020204" pitchFamily="34" charset="0"/>
            </a:endParaRPr>
          </a:p>
          <a:p>
            <a:pPr marL="285750" indent="-285750">
              <a:buFont typeface="Arial" panose="020B0604020202020204" pitchFamily="34" charset="0"/>
              <a:buChar char="•"/>
            </a:pPr>
            <a:r>
              <a:rPr lang="en-US" sz="1300" b="1" dirty="0">
                <a:latin typeface="Avenir Next Cyr W04 Regular" panose="020B0503020202020204" pitchFamily="34" charset="0"/>
              </a:rPr>
              <a:t>HTML Help: </a:t>
            </a:r>
            <a:r>
              <a:rPr lang="en-US" sz="1300" dirty="0">
                <a:latin typeface="Avenir Next Cyr W04 Regular" panose="020B0503020202020204" pitchFamily="34" charset="0"/>
              </a:rPr>
              <a:t>use this to browse the manuals with point-and-click links.</a:t>
            </a:r>
            <a:endParaRPr lang="en-ZA" sz="1300" dirty="0">
              <a:latin typeface="Avenir Next Cyr W04 Regular" panose="020B0503020202020204" pitchFamily="34" charset="0"/>
            </a:endParaRPr>
          </a:p>
        </p:txBody>
      </p:sp>
    </p:spTree>
    <p:extLst>
      <p:ext uri="{BB962C8B-B14F-4D97-AF65-F5344CB8AC3E}">
        <p14:creationId xmlns:p14="http://schemas.microsoft.com/office/powerpoint/2010/main" val="835237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emplate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p:cNvSpPr>
            <a:spLocks noGrp="1"/>
          </p:cNvSpPr>
          <p:nvPr>
            <p:ph type="title"/>
          </p:nvPr>
        </p:nvSpPr>
        <p:spPr>
          <a:xfrm>
            <a:off x="605242" y="383988"/>
            <a:ext cx="8915400" cy="845332"/>
          </a:xfrm>
        </p:spPr>
        <p:txBody>
          <a:bodyPr>
            <a:normAutofit/>
          </a:bodyPr>
          <a:lstStyle/>
          <a:p>
            <a:r>
              <a:rPr lang="en-ZA" sz="3000" dirty="0"/>
              <a:t>Downloading and Installing R</a:t>
            </a:r>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pic>
        <p:nvPicPr>
          <p:cNvPr id="4" name="Picture 3"/>
          <p:cNvPicPr>
            <a:picLocks noChangeAspect="1"/>
          </p:cNvPicPr>
          <p:nvPr/>
        </p:nvPicPr>
        <p:blipFill>
          <a:blip r:embed="rId4"/>
          <a:stretch>
            <a:fillRect/>
          </a:stretch>
        </p:blipFill>
        <p:spPr>
          <a:xfrm>
            <a:off x="131837" y="324226"/>
            <a:ext cx="1383198" cy="865327"/>
          </a:xfrm>
          <a:prstGeom prst="rect">
            <a:avLst/>
          </a:prstGeom>
        </p:spPr>
      </p:pic>
      <p:sp>
        <p:nvSpPr>
          <p:cNvPr id="5" name="TextBox 4"/>
          <p:cNvSpPr txBox="1"/>
          <p:nvPr/>
        </p:nvSpPr>
        <p:spPr>
          <a:xfrm>
            <a:off x="822927" y="1244849"/>
            <a:ext cx="8260146" cy="1754326"/>
          </a:xfrm>
          <a:prstGeom prst="rect">
            <a:avLst/>
          </a:prstGeom>
          <a:noFill/>
        </p:spPr>
        <p:txBody>
          <a:bodyPr wrap="square" rtlCol="0">
            <a:spAutoFit/>
          </a:bodyPr>
          <a:lstStyle/>
          <a:p>
            <a:pPr marL="285750" indent="-285750" algn="just">
              <a:buFont typeface="Arial" panose="020B0604020202020204" pitchFamily="34" charset="0"/>
              <a:buChar char="•"/>
            </a:pPr>
            <a:r>
              <a:rPr lang="en-ZA" dirty="0">
                <a:latin typeface="Avenir Next Cyr W04 Regular" panose="020B0503020202020204" pitchFamily="34" charset="0"/>
              </a:rPr>
              <a:t>It’s Open Source – therefore it’s FREE.</a:t>
            </a:r>
          </a:p>
          <a:p>
            <a:pPr marL="285750" indent="-285750" algn="just">
              <a:buFont typeface="Arial" panose="020B0604020202020204" pitchFamily="34" charset="0"/>
              <a:buChar char="•"/>
            </a:pPr>
            <a:endParaRPr lang="en-ZA" dirty="0">
              <a:latin typeface="Avenir Next Cyr W04 Regular" panose="020B0503020202020204" pitchFamily="34" charset="0"/>
            </a:endParaRPr>
          </a:p>
          <a:p>
            <a:pPr marL="285750" indent="-285750" algn="just">
              <a:buFont typeface="Arial" panose="020B0604020202020204" pitchFamily="34" charset="0"/>
              <a:buChar char="•"/>
            </a:pPr>
            <a:r>
              <a:rPr lang="en-ZA" dirty="0">
                <a:latin typeface="Avenir Next Cyr W04 Regular" panose="020B0503020202020204" pitchFamily="34" charset="0"/>
              </a:rPr>
              <a:t>R largely depends on the users hardware and operating system.</a:t>
            </a:r>
          </a:p>
          <a:p>
            <a:pPr marL="285750" indent="-285750" algn="just">
              <a:buFont typeface="Arial" panose="020B0604020202020204" pitchFamily="34" charset="0"/>
              <a:buChar char="•"/>
            </a:pPr>
            <a:endParaRPr lang="en-ZA" dirty="0">
              <a:latin typeface="Avenir Next Cyr W04 Regular" panose="020B0503020202020204" pitchFamily="34" charset="0"/>
            </a:endParaRPr>
          </a:p>
          <a:p>
            <a:pPr marL="285750" indent="-285750" algn="just">
              <a:buFont typeface="Arial" panose="020B0604020202020204" pitchFamily="34" charset="0"/>
              <a:buChar char="•"/>
            </a:pPr>
            <a:r>
              <a:rPr lang="en-ZA" dirty="0">
                <a:latin typeface="Avenir Next Cyr W04 Regular" panose="020B0503020202020204" pitchFamily="34" charset="0"/>
              </a:rPr>
              <a:t>R comes with a written installation and administration manual with complete instructions and additional information on how to install R.</a:t>
            </a:r>
          </a:p>
        </p:txBody>
      </p:sp>
      <p:sp>
        <p:nvSpPr>
          <p:cNvPr id="8" name="TextBox 7"/>
          <p:cNvSpPr txBox="1"/>
          <p:nvPr/>
        </p:nvSpPr>
        <p:spPr>
          <a:xfrm>
            <a:off x="3707109" y="3110492"/>
            <a:ext cx="2491781" cy="553998"/>
          </a:xfrm>
          <a:prstGeom prst="rect">
            <a:avLst/>
          </a:prstGeom>
          <a:noFill/>
        </p:spPr>
        <p:txBody>
          <a:bodyPr wrap="square" rtlCol="0">
            <a:spAutoFit/>
          </a:bodyPr>
          <a:lstStyle/>
          <a:p>
            <a:pPr algn="ctr"/>
            <a:r>
              <a:rPr lang="en-ZA" sz="3000" dirty="0">
                <a:latin typeface="Baskerville Old Face" panose="02020602080505020303" pitchFamily="18" charset="0"/>
              </a:rPr>
              <a:t>Installing R</a:t>
            </a:r>
          </a:p>
        </p:txBody>
      </p:sp>
      <p:sp>
        <p:nvSpPr>
          <p:cNvPr id="10" name="TextBox 9"/>
          <p:cNvSpPr txBox="1"/>
          <p:nvPr/>
        </p:nvSpPr>
        <p:spPr>
          <a:xfrm>
            <a:off x="824625" y="4594270"/>
            <a:ext cx="8260146" cy="1754326"/>
          </a:xfrm>
          <a:prstGeom prst="rect">
            <a:avLst/>
          </a:prstGeom>
          <a:noFill/>
        </p:spPr>
        <p:txBody>
          <a:bodyPr wrap="square" rtlCol="0">
            <a:spAutoFit/>
          </a:bodyPr>
          <a:lstStyle/>
          <a:p>
            <a:pPr marL="285750" indent="-285750" algn="just">
              <a:buFont typeface="Arial" panose="020B0604020202020204" pitchFamily="34" charset="0"/>
              <a:buChar char="•"/>
            </a:pPr>
            <a:r>
              <a:rPr lang="en-ZA" dirty="0" err="1">
                <a:latin typeface="Avenir Next Cyr W04 Regular" panose="020B0503020202020204" pitchFamily="34" charset="0"/>
              </a:rPr>
              <a:t>MicrosoftWindows</a:t>
            </a:r>
            <a:r>
              <a:rPr lang="en-ZA" dirty="0">
                <a:latin typeface="Avenir Next Cyr W04 Regular" panose="020B0503020202020204" pitchFamily="34" charset="0"/>
              </a:rPr>
              <a:t>: </a:t>
            </a:r>
            <a:r>
              <a:rPr lang="en-ZA" dirty="0">
                <a:latin typeface="Avenir Next Cyr W04 Regular" panose="020B0503020202020204" pitchFamily="34" charset="0"/>
                <a:hlinkClick r:id="rId5"/>
              </a:rPr>
              <a:t>https://cloud.r-project.org/bin/windows/</a:t>
            </a:r>
            <a:endParaRPr lang="en-ZA" dirty="0">
              <a:latin typeface="Avenir Next Cyr W04 Regular" panose="020B0503020202020204" pitchFamily="34" charset="0"/>
            </a:endParaRPr>
          </a:p>
          <a:p>
            <a:pPr marL="285750" indent="-285750" algn="just">
              <a:buFont typeface="Arial" panose="020B0604020202020204" pitchFamily="34" charset="0"/>
              <a:buChar char="•"/>
            </a:pPr>
            <a:endParaRPr lang="en-ZA" dirty="0">
              <a:latin typeface="Avenir Next Cyr W04 Regular" panose="020B0503020202020204" pitchFamily="34" charset="0"/>
            </a:endParaRPr>
          </a:p>
          <a:p>
            <a:pPr marL="285750" indent="-285750" algn="just">
              <a:buFont typeface="Arial" panose="020B0604020202020204" pitchFamily="34" charset="0"/>
              <a:buChar char="•"/>
            </a:pPr>
            <a:r>
              <a:rPr lang="en-ZA" dirty="0" err="1">
                <a:latin typeface="Avenir Next Cyr W04 Regular" panose="020B0503020202020204" pitchFamily="34" charset="0"/>
              </a:rPr>
              <a:t>MacOS</a:t>
            </a:r>
            <a:r>
              <a:rPr lang="en-ZA" dirty="0">
                <a:latin typeface="Avenir Next Cyr W04 Regular" panose="020B0503020202020204" pitchFamily="34" charset="0"/>
              </a:rPr>
              <a:t>: </a:t>
            </a:r>
            <a:r>
              <a:rPr lang="en-ZA" dirty="0">
                <a:latin typeface="Avenir Next Cyr W04 Regular" panose="020B0503020202020204" pitchFamily="34" charset="0"/>
                <a:hlinkClick r:id="rId6"/>
              </a:rPr>
              <a:t>https://cloud.r-project.org/bin/macosx/</a:t>
            </a:r>
            <a:endParaRPr lang="en-ZA" dirty="0">
              <a:latin typeface="Avenir Next Cyr W04 Regular" panose="020B0503020202020204" pitchFamily="34" charset="0"/>
            </a:endParaRPr>
          </a:p>
          <a:p>
            <a:pPr marL="285750" indent="-285750" algn="just">
              <a:buFont typeface="Arial" panose="020B0604020202020204" pitchFamily="34" charset="0"/>
              <a:buChar char="•"/>
            </a:pPr>
            <a:endParaRPr lang="en-ZA" dirty="0">
              <a:latin typeface="Avenir Next Cyr W04 Regular" panose="020B0503020202020204" pitchFamily="34" charset="0"/>
            </a:endParaRPr>
          </a:p>
          <a:p>
            <a:pPr marL="285750" indent="-285750" algn="just">
              <a:buFont typeface="Arial" panose="020B0604020202020204" pitchFamily="34" charset="0"/>
              <a:buChar char="•"/>
            </a:pPr>
            <a:r>
              <a:rPr lang="en-ZA" dirty="0">
                <a:latin typeface="Avenir Next Cyr W04 Regular" panose="020B0503020202020204" pitchFamily="34" charset="0"/>
              </a:rPr>
              <a:t>Linux: </a:t>
            </a:r>
            <a:r>
              <a:rPr lang="en-ZA" dirty="0">
                <a:latin typeface="Avenir Next Cyr W04 Regular" panose="020B0503020202020204" pitchFamily="34" charset="0"/>
                <a:hlinkClick r:id="rId7"/>
              </a:rPr>
              <a:t>https://cloud.r-project.org/bin/linux/</a:t>
            </a:r>
            <a:endParaRPr lang="en-ZA" dirty="0">
              <a:latin typeface="Avenir Next Cyr W04 Regular" panose="020B0503020202020204" pitchFamily="34" charset="0"/>
            </a:endParaRPr>
          </a:p>
          <a:p>
            <a:pPr marL="285750" indent="-285750" algn="just">
              <a:buFont typeface="Arial" panose="020B0604020202020204" pitchFamily="34" charset="0"/>
              <a:buChar char="•"/>
            </a:pPr>
            <a:endParaRPr lang="en-ZA" dirty="0">
              <a:latin typeface="Avenir Next Cyr W04 Regular" panose="020B0503020202020204" pitchFamily="34" charset="0"/>
            </a:endParaRPr>
          </a:p>
        </p:txBody>
      </p:sp>
      <p:sp>
        <p:nvSpPr>
          <p:cNvPr id="11" name="TextBox 10"/>
          <p:cNvSpPr txBox="1"/>
          <p:nvPr/>
        </p:nvSpPr>
        <p:spPr>
          <a:xfrm>
            <a:off x="822927" y="3775808"/>
            <a:ext cx="8260146" cy="646331"/>
          </a:xfrm>
          <a:prstGeom prst="rect">
            <a:avLst/>
          </a:prstGeom>
          <a:noFill/>
        </p:spPr>
        <p:txBody>
          <a:bodyPr wrap="square" rtlCol="0">
            <a:spAutoFit/>
          </a:bodyPr>
          <a:lstStyle/>
          <a:p>
            <a:pPr marL="285750" indent="-285750" algn="just">
              <a:buFont typeface="Arial" panose="020B0604020202020204" pitchFamily="34" charset="0"/>
              <a:buChar char="•"/>
            </a:pPr>
            <a:r>
              <a:rPr lang="en-ZA" dirty="0">
                <a:latin typeface="Avenir Next Cyr W04 Regular" panose="020B0503020202020204" pitchFamily="34" charset="0"/>
              </a:rPr>
              <a:t>These are a few Links in which one can download R software for a specific users operating system.</a:t>
            </a:r>
          </a:p>
        </p:txBody>
      </p:sp>
    </p:spTree>
    <p:extLst>
      <p:ext uri="{BB962C8B-B14F-4D97-AF65-F5344CB8AC3E}">
        <p14:creationId xmlns:p14="http://schemas.microsoft.com/office/powerpoint/2010/main" val="3136222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emplate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p:cNvSpPr>
            <a:spLocks noGrp="1"/>
          </p:cNvSpPr>
          <p:nvPr>
            <p:ph type="title"/>
          </p:nvPr>
        </p:nvSpPr>
        <p:spPr>
          <a:xfrm>
            <a:off x="1570795" y="410279"/>
            <a:ext cx="6764410" cy="779274"/>
          </a:xfrm>
        </p:spPr>
        <p:txBody>
          <a:bodyPr>
            <a:normAutofit/>
          </a:bodyPr>
          <a:lstStyle/>
          <a:p>
            <a:r>
              <a:rPr lang="en-ZA" sz="3000" dirty="0"/>
              <a:t>Installing and Loading Add-on Packages</a:t>
            </a:r>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pic>
        <p:nvPicPr>
          <p:cNvPr id="4" name="Picture 3"/>
          <p:cNvPicPr>
            <a:picLocks noChangeAspect="1"/>
          </p:cNvPicPr>
          <p:nvPr/>
        </p:nvPicPr>
        <p:blipFill>
          <a:blip r:embed="rId4"/>
          <a:stretch>
            <a:fillRect/>
          </a:stretch>
        </p:blipFill>
        <p:spPr>
          <a:xfrm>
            <a:off x="131837" y="324226"/>
            <a:ext cx="1383198" cy="865327"/>
          </a:xfrm>
          <a:prstGeom prst="rect">
            <a:avLst/>
          </a:prstGeom>
        </p:spPr>
      </p:pic>
      <p:sp>
        <p:nvSpPr>
          <p:cNvPr id="5" name="TextBox 4"/>
          <p:cNvSpPr txBox="1"/>
          <p:nvPr/>
        </p:nvSpPr>
        <p:spPr>
          <a:xfrm>
            <a:off x="968312" y="1536233"/>
            <a:ext cx="8552329" cy="3970318"/>
          </a:xfrm>
          <a:prstGeom prst="rect">
            <a:avLst/>
          </a:prstGeom>
          <a:noFill/>
        </p:spPr>
        <p:txBody>
          <a:bodyPr wrap="square" rtlCol="0">
            <a:spAutoFit/>
          </a:bodyPr>
          <a:lstStyle/>
          <a:p>
            <a:pPr marL="285750" indent="-285750">
              <a:buFont typeface="Arial" panose="020B0604020202020204" pitchFamily="34" charset="0"/>
              <a:buChar char="•"/>
            </a:pPr>
            <a:r>
              <a:rPr lang="en-ZA" dirty="0">
                <a:latin typeface="Avenir Next Cyr W04 Regular" panose="020B0503020202020204" pitchFamily="34" charset="0"/>
              </a:rPr>
              <a:t>R comes with base packages which are created and maintained by a select group of individuals known as “R-Core”.</a:t>
            </a:r>
          </a:p>
          <a:p>
            <a:pPr marL="285750" indent="-285750">
              <a:buFont typeface="Arial" panose="020B0604020202020204" pitchFamily="34" charset="0"/>
              <a:buChar char="•"/>
            </a:pPr>
            <a:endParaRPr lang="en-ZA" dirty="0">
              <a:latin typeface="Avenir Next Cyr W04 Regular" panose="020B0503020202020204" pitchFamily="34" charset="0"/>
            </a:endParaRPr>
          </a:p>
          <a:p>
            <a:pPr marL="285750" indent="-285750">
              <a:buFont typeface="Arial" panose="020B0604020202020204" pitchFamily="34" charset="0"/>
              <a:buChar char="•"/>
            </a:pPr>
            <a:r>
              <a:rPr lang="en-ZA" dirty="0">
                <a:latin typeface="Avenir Next Cyr W04 Regular" panose="020B0503020202020204" pitchFamily="34" charset="0"/>
              </a:rPr>
              <a:t>There are also additional packages written by thousands of people who contribute to base packages all of the world.</a:t>
            </a:r>
          </a:p>
          <a:p>
            <a:pPr marL="285750" indent="-285750">
              <a:buFont typeface="Arial" panose="020B0604020202020204" pitchFamily="34" charset="0"/>
              <a:buChar char="•"/>
            </a:pPr>
            <a:endParaRPr lang="en-ZA" dirty="0">
              <a:latin typeface="Avenir Next Cyr W04 Regular" panose="020B0503020202020204" pitchFamily="34" charset="0"/>
            </a:endParaRPr>
          </a:p>
          <a:p>
            <a:pPr marL="285750" indent="-285750">
              <a:buFont typeface="Arial" panose="020B0604020202020204" pitchFamily="34" charset="0"/>
              <a:buChar char="•"/>
            </a:pPr>
            <a:r>
              <a:rPr lang="en-ZA" dirty="0">
                <a:latin typeface="Avenir Next Cyr W04 Regular" panose="020B0503020202020204" pitchFamily="34" charset="0"/>
              </a:rPr>
              <a:t>These packages are stored on Mirrors of the Comprehensive R Archive Network Known as “CRAN”.</a:t>
            </a:r>
          </a:p>
          <a:p>
            <a:pPr marL="285750" indent="-285750">
              <a:buFont typeface="Arial" panose="020B0604020202020204" pitchFamily="34" charset="0"/>
              <a:buChar char="•"/>
            </a:pPr>
            <a:endParaRPr lang="en-ZA" dirty="0">
              <a:latin typeface="Avenir Next Cyr W04 Regular" panose="020B0503020202020204" pitchFamily="34" charset="0"/>
            </a:endParaRPr>
          </a:p>
          <a:p>
            <a:pPr marL="285750" indent="-285750">
              <a:buFont typeface="Arial" panose="020B0604020202020204" pitchFamily="34" charset="0"/>
              <a:buChar char="•"/>
            </a:pPr>
            <a:r>
              <a:rPr lang="en-ZA" dirty="0">
                <a:latin typeface="Avenir Next Cyr W04 Regular" panose="020B0503020202020204" pitchFamily="34" charset="0"/>
              </a:rPr>
              <a:t>These base packages can only be accessed with an internet connection.</a:t>
            </a:r>
          </a:p>
          <a:p>
            <a:pPr marL="285750" indent="-285750">
              <a:buFont typeface="Arial" panose="020B0604020202020204" pitchFamily="34" charset="0"/>
              <a:buChar char="•"/>
            </a:pPr>
            <a:endParaRPr lang="en-ZA" dirty="0">
              <a:latin typeface="Avenir Next Cyr W04 Regular" panose="020B0503020202020204" pitchFamily="34" charset="0"/>
            </a:endParaRPr>
          </a:p>
          <a:p>
            <a:pPr marL="285750" indent="-285750">
              <a:buFont typeface="Arial" panose="020B0604020202020204" pitchFamily="34" charset="0"/>
              <a:buChar char="•"/>
            </a:pPr>
            <a:r>
              <a:rPr lang="en-ZA" dirty="0">
                <a:latin typeface="Avenir Next Cyr W04 Regular" panose="020B0503020202020204" pitchFamily="34" charset="0"/>
              </a:rPr>
              <a:t>In order to see what base packages R has as the default;</a:t>
            </a:r>
          </a:p>
          <a:p>
            <a:pPr marL="285750" indent="-285750">
              <a:buFont typeface="Arial" panose="020B0604020202020204" pitchFamily="34" charset="0"/>
              <a:buChar char="•"/>
            </a:pPr>
            <a:r>
              <a:rPr lang="en-ZA" dirty="0">
                <a:latin typeface="Avenir Next Cyr W04 Regular" panose="020B0503020202020204" pitchFamily="34" charset="0"/>
              </a:rPr>
              <a:t>Type </a:t>
            </a:r>
            <a:r>
              <a:rPr lang="en-ZA" b="1" dirty="0">
                <a:latin typeface="Avenir Next Cyr W04 Regular" panose="020B0503020202020204" pitchFamily="34" charset="0"/>
              </a:rPr>
              <a:t>“</a:t>
            </a:r>
            <a:r>
              <a:rPr lang="en-ZA" b="1" dirty="0" err="1">
                <a:latin typeface="Avenir Next Cyr W04 Regular" panose="020B0503020202020204" pitchFamily="34" charset="0"/>
              </a:rPr>
              <a:t>getOption</a:t>
            </a:r>
            <a:r>
              <a:rPr lang="en-ZA" b="1" dirty="0">
                <a:latin typeface="Avenir Next Cyr W04 Regular" panose="020B0503020202020204" pitchFamily="34" charset="0"/>
              </a:rPr>
              <a:t>("</a:t>
            </a:r>
            <a:r>
              <a:rPr lang="en-ZA" b="1" dirty="0" err="1">
                <a:latin typeface="Avenir Next Cyr W04 Regular" panose="020B0503020202020204" pitchFamily="34" charset="0"/>
              </a:rPr>
              <a:t>defaultPackages</a:t>
            </a:r>
            <a:r>
              <a:rPr lang="en-ZA" b="1" dirty="0">
                <a:latin typeface="Avenir Next Cyr W04 Regular" panose="020B0503020202020204" pitchFamily="34" charset="0"/>
              </a:rPr>
              <a:t>")” </a:t>
            </a:r>
            <a:r>
              <a:rPr lang="en-ZA" dirty="0">
                <a:latin typeface="Avenir Next Cyr W04 Regular" panose="020B0503020202020204" pitchFamily="34" charset="0"/>
              </a:rPr>
              <a:t>within R GUI.</a:t>
            </a:r>
          </a:p>
          <a:p>
            <a:pPr marL="285750" indent="-285750">
              <a:buFont typeface="Arial" panose="020B0604020202020204" pitchFamily="34" charset="0"/>
              <a:buChar char="•"/>
            </a:pPr>
            <a:endParaRPr lang="en-ZA" dirty="0">
              <a:latin typeface="Avenir Next Cyr W04 Regular" panose="020B0503020202020204" pitchFamily="34" charset="0"/>
            </a:endParaRPr>
          </a:p>
        </p:txBody>
      </p:sp>
      <p:sp>
        <p:nvSpPr>
          <p:cNvPr id="7" name="TextBox 6"/>
          <p:cNvSpPr txBox="1"/>
          <p:nvPr/>
        </p:nvSpPr>
        <p:spPr>
          <a:xfrm>
            <a:off x="968311" y="5267765"/>
            <a:ext cx="8552329" cy="923330"/>
          </a:xfrm>
          <a:prstGeom prst="rect">
            <a:avLst/>
          </a:prstGeom>
          <a:noFill/>
        </p:spPr>
        <p:txBody>
          <a:bodyPr wrap="square" rtlCol="0">
            <a:spAutoFit/>
          </a:bodyPr>
          <a:lstStyle/>
          <a:p>
            <a:pPr marL="285750" indent="-285750">
              <a:buFont typeface="Arial" panose="020B0604020202020204" pitchFamily="34" charset="0"/>
              <a:buChar char="•"/>
            </a:pPr>
            <a:r>
              <a:rPr lang="en-ZA" dirty="0">
                <a:latin typeface="Avenir Next Cyr W04 Regular" panose="020B0503020202020204" pitchFamily="34" charset="0"/>
              </a:rPr>
              <a:t>In order to obtain more information regarding installation of R and Add-on Packages; click on the Hyperlink Provided: </a:t>
            </a:r>
            <a:r>
              <a:rPr lang="en-ZA" dirty="0">
                <a:latin typeface="Avenir Next Cyr W04 Regular" panose="020B0503020202020204" pitchFamily="34" charset="0"/>
                <a:hlinkClick r:id="rId5"/>
              </a:rPr>
              <a:t>http://cran.r-project.org/manuals.html</a:t>
            </a:r>
            <a:r>
              <a:rPr lang="en-ZA" dirty="0">
                <a:latin typeface="Avenir Next Cyr W04 Regular" panose="020B0503020202020204" pitchFamily="34" charset="0"/>
              </a:rPr>
              <a:t>.</a:t>
            </a:r>
          </a:p>
        </p:txBody>
      </p:sp>
    </p:spTree>
    <p:extLst>
      <p:ext uri="{BB962C8B-B14F-4D97-AF65-F5344CB8AC3E}">
        <p14:creationId xmlns:p14="http://schemas.microsoft.com/office/powerpoint/2010/main" val="3649110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emplate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p:cNvSpPr>
            <a:spLocks noGrp="1"/>
          </p:cNvSpPr>
          <p:nvPr>
            <p:ph type="title"/>
          </p:nvPr>
        </p:nvSpPr>
        <p:spPr>
          <a:xfrm>
            <a:off x="269436" y="324226"/>
            <a:ext cx="8915400" cy="845332"/>
          </a:xfrm>
        </p:spPr>
        <p:txBody>
          <a:bodyPr>
            <a:normAutofit/>
          </a:bodyPr>
          <a:lstStyle/>
          <a:p>
            <a:r>
              <a:rPr lang="en-ZA" sz="3000" dirty="0"/>
              <a:t>Communication With R</a:t>
            </a:r>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pic>
        <p:nvPicPr>
          <p:cNvPr id="4" name="Picture 3"/>
          <p:cNvPicPr>
            <a:picLocks noChangeAspect="1"/>
          </p:cNvPicPr>
          <p:nvPr/>
        </p:nvPicPr>
        <p:blipFill>
          <a:blip r:embed="rId4"/>
          <a:stretch>
            <a:fillRect/>
          </a:stretch>
        </p:blipFill>
        <p:spPr>
          <a:xfrm>
            <a:off x="131837" y="324226"/>
            <a:ext cx="1383198" cy="865327"/>
          </a:xfrm>
          <a:prstGeom prst="rect">
            <a:avLst/>
          </a:prstGeom>
        </p:spPr>
      </p:pic>
      <p:sp>
        <p:nvSpPr>
          <p:cNvPr id="7" name="TextBox 6"/>
          <p:cNvSpPr txBox="1"/>
          <p:nvPr/>
        </p:nvSpPr>
        <p:spPr>
          <a:xfrm>
            <a:off x="676835" y="1222538"/>
            <a:ext cx="8552329" cy="3785652"/>
          </a:xfrm>
          <a:prstGeom prst="rect">
            <a:avLst/>
          </a:prstGeom>
          <a:noFill/>
        </p:spPr>
        <p:txBody>
          <a:bodyPr wrap="square" rtlCol="0">
            <a:spAutoFit/>
          </a:bodyPr>
          <a:lstStyle/>
          <a:p>
            <a:pPr marL="285750" indent="-285750" algn="just">
              <a:buFont typeface="Arial" panose="020B0604020202020204" pitchFamily="34" charset="0"/>
              <a:buChar char="•"/>
            </a:pPr>
            <a:r>
              <a:rPr lang="en-ZA" sz="1600" dirty="0">
                <a:latin typeface="Avenir Next Cyr W04 Regular" panose="020B0503020202020204" pitchFamily="34" charset="0"/>
              </a:rPr>
              <a:t>For beginners, code will be written in one line at a time within </a:t>
            </a:r>
            <a:r>
              <a:rPr lang="en-ZA" sz="1600" dirty="0" err="1">
                <a:latin typeface="Avenir Next Cyr W04 Regular" panose="020B0503020202020204" pitchFamily="34" charset="0"/>
              </a:rPr>
              <a:t>RGui</a:t>
            </a:r>
            <a:r>
              <a:rPr lang="en-ZA" sz="1600" dirty="0">
                <a:latin typeface="Avenir Next Cyr W04 Regular" panose="020B0503020202020204" pitchFamily="34" charset="0"/>
              </a:rPr>
              <a:t> (Microsoft Windows)</a:t>
            </a:r>
          </a:p>
          <a:p>
            <a:pPr marL="285750" indent="-285750" algn="just">
              <a:buFont typeface="Arial" panose="020B0604020202020204" pitchFamily="34" charset="0"/>
              <a:buChar char="•"/>
            </a:pPr>
            <a:endParaRPr lang="en-ZA" sz="1600" dirty="0">
              <a:latin typeface="Avenir Next Cyr W04 Regular" panose="020B0503020202020204" pitchFamily="34" charset="0"/>
            </a:endParaRPr>
          </a:p>
          <a:p>
            <a:pPr marL="285750" indent="-285750" algn="just">
              <a:buFont typeface="Arial" panose="020B0604020202020204" pitchFamily="34" charset="0"/>
              <a:buChar char="•"/>
            </a:pPr>
            <a:r>
              <a:rPr lang="en-ZA" sz="1600" dirty="0">
                <a:latin typeface="Avenir Next Cyr W04 Regular" panose="020B0503020202020204" pitchFamily="34" charset="0"/>
              </a:rPr>
              <a:t>R-Editor (Windows Microsoft): </a:t>
            </a:r>
            <a:r>
              <a:rPr lang="en-ZA" sz="1600" dirty="0" err="1">
                <a:latin typeface="Avenir Next Cyr W04 Regular" panose="020B0503020202020204" pitchFamily="34" charset="0"/>
              </a:rPr>
              <a:t>RGui</a:t>
            </a:r>
            <a:r>
              <a:rPr lang="en-ZA" sz="1600" dirty="0">
                <a:latin typeface="Avenir Next Cyr W04 Regular" panose="020B0503020202020204" pitchFamily="34" charset="0"/>
              </a:rPr>
              <a:t> has its on built in Script Editor known as the R-Editor.</a:t>
            </a:r>
          </a:p>
          <a:p>
            <a:pPr marL="742950" lvl="1" indent="-285750" algn="just">
              <a:buFont typeface="Arial" panose="020B0604020202020204" pitchFamily="34" charset="0"/>
              <a:buChar char="•"/>
            </a:pPr>
            <a:r>
              <a:rPr lang="en-ZA" sz="1600" dirty="0">
                <a:latin typeface="Avenir Next Cyr W04 Regular" panose="020B0503020202020204" pitchFamily="34" charset="0"/>
              </a:rPr>
              <a:t>Open </a:t>
            </a:r>
            <a:r>
              <a:rPr lang="en-ZA" sz="1600" dirty="0" err="1">
                <a:latin typeface="Avenir Next Cyr W04 Regular" panose="020B0503020202020204" pitchFamily="34" charset="0"/>
              </a:rPr>
              <a:t>RGui</a:t>
            </a:r>
            <a:r>
              <a:rPr lang="en-ZA" sz="1600" dirty="0">
                <a:latin typeface="Avenir Next Cyr W04 Regular" panose="020B0503020202020204" pitchFamily="34" charset="0"/>
              </a:rPr>
              <a:t> – Select (</a:t>
            </a:r>
            <a:r>
              <a:rPr lang="en-ZA" sz="1600" dirty="0" err="1">
                <a:latin typeface="Avenir Next Cyr W04 Regular" panose="020B0503020202020204" pitchFamily="34" charset="0"/>
              </a:rPr>
              <a:t>Ctrl+L</a:t>
            </a:r>
            <a:r>
              <a:rPr lang="en-ZA" sz="1600" dirty="0">
                <a:latin typeface="Avenir Next Cyr W04 Regular" panose="020B0503020202020204" pitchFamily="34" charset="0"/>
              </a:rPr>
              <a:t>) – Type the code “</a:t>
            </a:r>
            <a:r>
              <a:rPr lang="en-ZA" sz="1600" b="1" dirty="0" err="1">
                <a:latin typeface="Avenir Next Cyr W04 Regular" panose="020B0503020202020204" pitchFamily="34" charset="0"/>
              </a:rPr>
              <a:t>getOption</a:t>
            </a:r>
            <a:r>
              <a:rPr lang="en-ZA" sz="1600" b="1" dirty="0">
                <a:latin typeface="Avenir Next Cyr W04 Regular" panose="020B0503020202020204" pitchFamily="34" charset="0"/>
              </a:rPr>
              <a:t>(“</a:t>
            </a:r>
            <a:r>
              <a:rPr lang="en-ZA" sz="1600" b="1" dirty="0" err="1">
                <a:latin typeface="Avenir Next Cyr W04 Regular" panose="020B0503020202020204" pitchFamily="34" charset="0"/>
              </a:rPr>
              <a:t>defaultPackages</a:t>
            </a:r>
            <a:r>
              <a:rPr lang="en-ZA" sz="1600" b="1" dirty="0">
                <a:latin typeface="Avenir Next Cyr W04 Regular" panose="020B0503020202020204" pitchFamily="34" charset="0"/>
              </a:rPr>
              <a:t>”)</a:t>
            </a:r>
            <a:r>
              <a:rPr lang="en-ZA" sz="1600" dirty="0">
                <a:latin typeface="Avenir Next Cyr W04 Regular" panose="020B0503020202020204" pitchFamily="34" charset="0"/>
              </a:rPr>
              <a:t>”.</a:t>
            </a:r>
          </a:p>
          <a:p>
            <a:pPr marL="742950" lvl="1" indent="-285750" algn="just">
              <a:buFont typeface="Arial" panose="020B0604020202020204" pitchFamily="34" charset="0"/>
              <a:buChar char="•"/>
            </a:pPr>
            <a:endParaRPr lang="en-ZA" sz="1600" dirty="0">
              <a:latin typeface="Avenir Next Cyr W04 Regular" panose="020B0503020202020204" pitchFamily="34" charset="0"/>
            </a:endParaRPr>
          </a:p>
          <a:p>
            <a:pPr marL="742950" lvl="1" indent="-285750" algn="just">
              <a:buFont typeface="Arial" panose="020B0604020202020204" pitchFamily="34" charset="0"/>
              <a:buChar char="•"/>
            </a:pPr>
            <a:endParaRPr lang="en-ZA" sz="1600" dirty="0">
              <a:latin typeface="Avenir Next Cyr W04 Regular" panose="020B0503020202020204" pitchFamily="34" charset="0"/>
            </a:endParaRPr>
          </a:p>
          <a:p>
            <a:pPr marL="742950" lvl="1" indent="-285750" algn="just">
              <a:buFont typeface="Arial" panose="020B0604020202020204" pitchFamily="34" charset="0"/>
              <a:buChar char="•"/>
            </a:pPr>
            <a:endParaRPr lang="en-ZA" sz="1600" dirty="0">
              <a:latin typeface="Avenir Next Cyr W04 Regular" panose="020B0503020202020204" pitchFamily="34" charset="0"/>
            </a:endParaRPr>
          </a:p>
          <a:p>
            <a:pPr marL="742950" lvl="1" indent="-285750" algn="just">
              <a:buFont typeface="Arial" panose="020B0604020202020204" pitchFamily="34" charset="0"/>
              <a:buChar char="•"/>
            </a:pPr>
            <a:endParaRPr lang="en-ZA" sz="1600" dirty="0">
              <a:latin typeface="Avenir Next Cyr W04 Regular" panose="020B0503020202020204" pitchFamily="34" charset="0"/>
            </a:endParaRPr>
          </a:p>
          <a:p>
            <a:pPr lvl="1" algn="just"/>
            <a:endParaRPr lang="en-ZA" sz="1600" dirty="0">
              <a:latin typeface="Avenir Next Cyr W04 Regular" panose="020B0503020202020204" pitchFamily="34" charset="0"/>
            </a:endParaRPr>
          </a:p>
          <a:p>
            <a:pPr marL="742950" lvl="1" indent="-285750" algn="just">
              <a:buFont typeface="Arial" panose="020B0604020202020204" pitchFamily="34" charset="0"/>
              <a:buChar char="•"/>
            </a:pPr>
            <a:endParaRPr lang="en-ZA" sz="1600" dirty="0">
              <a:latin typeface="Avenir Next Cyr W04 Regular" panose="020B0503020202020204" pitchFamily="34" charset="0"/>
            </a:endParaRPr>
          </a:p>
          <a:p>
            <a:pPr marL="742950" lvl="1" indent="-285750" algn="just">
              <a:buFont typeface="Arial" panose="020B0604020202020204" pitchFamily="34" charset="0"/>
              <a:buChar char="•"/>
            </a:pPr>
            <a:r>
              <a:rPr lang="en-ZA" sz="1600" dirty="0">
                <a:latin typeface="Avenir Next Cyr W04 Regular" panose="020B0503020202020204" pitchFamily="34" charset="0"/>
              </a:rPr>
              <a:t>Many lines of code can be written in a script, which cannot be done in the R console can be done as follows;</a:t>
            </a:r>
          </a:p>
          <a:p>
            <a:pPr marL="742950" lvl="1" indent="-285750" algn="just">
              <a:buFont typeface="Arial" panose="020B0604020202020204" pitchFamily="34" charset="0"/>
              <a:buChar char="•"/>
            </a:pPr>
            <a:r>
              <a:rPr lang="en-ZA" sz="1600" dirty="0">
                <a:latin typeface="Avenir Next Cyr W04 Regular" panose="020B0503020202020204" pitchFamily="34" charset="0"/>
              </a:rPr>
              <a:t>In the console window select (File and then New Script). This opens up a new editor window in which code can be written in a new script.</a:t>
            </a:r>
          </a:p>
          <a:p>
            <a:pPr marL="742950" lvl="1" indent="-285750" algn="just">
              <a:buFont typeface="Arial" panose="020B0604020202020204" pitchFamily="34" charset="0"/>
              <a:buChar char="•"/>
            </a:pPr>
            <a:r>
              <a:rPr lang="en-ZA" sz="1600" dirty="0">
                <a:latin typeface="Avenir Next Cyr W04 Regular" panose="020B0503020202020204" pitchFamily="34" charset="0"/>
              </a:rPr>
              <a:t>Once the code has been written you can automatically run all your code by selectin (</a:t>
            </a:r>
            <a:r>
              <a:rPr lang="en-ZA" sz="1600" dirty="0" err="1">
                <a:latin typeface="Avenir Next Cyr W04 Regular" panose="020B0503020202020204" pitchFamily="34" charset="0"/>
              </a:rPr>
              <a:t>Ctrl+R</a:t>
            </a:r>
            <a:r>
              <a:rPr lang="en-ZA" sz="1600" dirty="0">
                <a:latin typeface="Avenir Next Cyr W04 Regular" panose="020B0503020202020204" pitchFamily="34" charset="0"/>
              </a:rPr>
              <a:t>)</a:t>
            </a:r>
          </a:p>
        </p:txBody>
      </p:sp>
      <p:pic>
        <p:nvPicPr>
          <p:cNvPr id="3" name="Picture 2"/>
          <p:cNvPicPr>
            <a:picLocks noChangeAspect="1"/>
          </p:cNvPicPr>
          <p:nvPr/>
        </p:nvPicPr>
        <p:blipFill>
          <a:blip r:embed="rId5"/>
          <a:stretch>
            <a:fillRect/>
          </a:stretch>
        </p:blipFill>
        <p:spPr>
          <a:xfrm>
            <a:off x="872252" y="2881924"/>
            <a:ext cx="8841069" cy="713100"/>
          </a:xfrm>
          <a:prstGeom prst="rect">
            <a:avLst/>
          </a:prstGeom>
        </p:spPr>
      </p:pic>
      <p:pic>
        <p:nvPicPr>
          <p:cNvPr id="5" name="Picture 4"/>
          <p:cNvPicPr>
            <a:picLocks noChangeAspect="1"/>
          </p:cNvPicPr>
          <p:nvPr/>
        </p:nvPicPr>
        <p:blipFill>
          <a:blip r:embed="rId6"/>
          <a:stretch>
            <a:fillRect/>
          </a:stretch>
        </p:blipFill>
        <p:spPr>
          <a:xfrm>
            <a:off x="726512" y="5635462"/>
            <a:ext cx="8841069" cy="533400"/>
          </a:xfrm>
          <a:prstGeom prst="rect">
            <a:avLst/>
          </a:prstGeom>
        </p:spPr>
      </p:pic>
      <p:sp>
        <p:nvSpPr>
          <p:cNvPr id="10" name="Rectangle 9"/>
          <p:cNvSpPr/>
          <p:nvPr/>
        </p:nvSpPr>
        <p:spPr>
          <a:xfrm>
            <a:off x="870374" y="2881083"/>
            <a:ext cx="8697208" cy="729714"/>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726511" y="5635462"/>
            <a:ext cx="8841069" cy="53340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5762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Template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p:cNvSpPr>
            <a:spLocks noGrp="1"/>
          </p:cNvSpPr>
          <p:nvPr>
            <p:ph type="title"/>
          </p:nvPr>
        </p:nvSpPr>
        <p:spPr>
          <a:xfrm>
            <a:off x="605242" y="383988"/>
            <a:ext cx="8915400" cy="845332"/>
          </a:xfrm>
        </p:spPr>
        <p:txBody>
          <a:bodyPr>
            <a:normAutofit/>
          </a:bodyPr>
          <a:lstStyle/>
          <a:p>
            <a:r>
              <a:rPr lang="en-ZA" sz="3000" dirty="0"/>
              <a:t>Textbooks Used</a:t>
            </a:r>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pic>
        <p:nvPicPr>
          <p:cNvPr id="4" name="Picture 3"/>
          <p:cNvPicPr>
            <a:picLocks noChangeAspect="1"/>
          </p:cNvPicPr>
          <p:nvPr/>
        </p:nvPicPr>
        <p:blipFill>
          <a:blip r:embed="rId4"/>
          <a:stretch>
            <a:fillRect/>
          </a:stretch>
        </p:blipFill>
        <p:spPr>
          <a:xfrm>
            <a:off x="131837" y="324226"/>
            <a:ext cx="1383198" cy="865327"/>
          </a:xfrm>
          <a:prstGeom prst="rect">
            <a:avLst/>
          </a:prstGeom>
        </p:spPr>
      </p:pic>
      <p:sp>
        <p:nvSpPr>
          <p:cNvPr id="5" name="TextBox 4"/>
          <p:cNvSpPr txBox="1"/>
          <p:nvPr/>
        </p:nvSpPr>
        <p:spPr>
          <a:xfrm>
            <a:off x="822927" y="1613308"/>
            <a:ext cx="8260146" cy="1092607"/>
          </a:xfrm>
          <a:prstGeom prst="rect">
            <a:avLst/>
          </a:prstGeom>
          <a:noFill/>
        </p:spPr>
        <p:txBody>
          <a:bodyPr wrap="square" rtlCol="0">
            <a:spAutoFit/>
          </a:bodyPr>
          <a:lstStyle/>
          <a:p>
            <a:pPr marL="285750" indent="-285750" algn="just">
              <a:buFont typeface="Arial" panose="020B0604020202020204" pitchFamily="34" charset="0"/>
              <a:buChar char="•"/>
            </a:pPr>
            <a:r>
              <a:rPr lang="en-ZA" sz="1300" dirty="0">
                <a:latin typeface="Avenir Next Cyr W04 Regular" panose="020B0503020202020204" pitchFamily="34" charset="0"/>
              </a:rPr>
              <a:t>There are 4 textbooks that will be used throughout the course. </a:t>
            </a:r>
          </a:p>
          <a:p>
            <a:pPr marL="285750" indent="-285750" algn="just">
              <a:buFont typeface="Arial" panose="020B0604020202020204" pitchFamily="34" charset="0"/>
              <a:buChar char="•"/>
            </a:pPr>
            <a:endParaRPr lang="en-ZA" sz="1300" dirty="0">
              <a:latin typeface="Avenir Next Cyr W04 Regular" panose="020B0503020202020204" pitchFamily="34" charset="0"/>
            </a:endParaRPr>
          </a:p>
          <a:p>
            <a:pPr marL="285750" indent="-285750" algn="just">
              <a:buFont typeface="Arial" panose="020B0604020202020204" pitchFamily="34" charset="0"/>
              <a:buChar char="•"/>
            </a:pPr>
            <a:r>
              <a:rPr lang="en-ZA" sz="1300" dirty="0">
                <a:latin typeface="Avenir Next Cyr W04 Regular" panose="020B0503020202020204" pitchFamily="34" charset="0"/>
              </a:rPr>
              <a:t>Here are the hyperlinks provided below; </a:t>
            </a:r>
          </a:p>
          <a:p>
            <a:pPr marL="285750" indent="-285750" algn="just">
              <a:buFont typeface="Arial" panose="020B0604020202020204" pitchFamily="34" charset="0"/>
              <a:buChar char="•"/>
            </a:pPr>
            <a:endParaRPr lang="en-ZA" sz="1300" dirty="0">
              <a:latin typeface="Avenir Next Cyr W04 Regular" panose="020B0503020202020204" pitchFamily="34" charset="0"/>
            </a:endParaRPr>
          </a:p>
          <a:p>
            <a:pPr marL="742950" lvl="1" indent="-285750" algn="just">
              <a:buFont typeface="Wingdings" panose="05000000000000000000" pitchFamily="2" charset="2"/>
              <a:buChar char="Ø"/>
            </a:pPr>
            <a:r>
              <a:rPr lang="en-ZA" sz="1300" dirty="0">
                <a:latin typeface="Avenir Next Cyr W04 Regular" panose="020B0503020202020204" pitchFamily="34" charset="0"/>
              </a:rPr>
              <a:t>These need to be downloaded and studied as instructed for further tests and assignments.</a:t>
            </a:r>
          </a:p>
        </p:txBody>
      </p:sp>
      <p:sp>
        <p:nvSpPr>
          <p:cNvPr id="12" name="TextBox 11"/>
          <p:cNvSpPr txBox="1"/>
          <p:nvPr/>
        </p:nvSpPr>
        <p:spPr>
          <a:xfrm>
            <a:off x="822927" y="3210307"/>
            <a:ext cx="8260146" cy="1492716"/>
          </a:xfrm>
          <a:prstGeom prst="rect">
            <a:avLst/>
          </a:prstGeom>
          <a:noFill/>
        </p:spPr>
        <p:txBody>
          <a:bodyPr wrap="square" rtlCol="0">
            <a:spAutoFit/>
          </a:bodyPr>
          <a:lstStyle/>
          <a:p>
            <a:pPr marL="285750" indent="-285750" algn="just">
              <a:buFont typeface="Arial" panose="020B0604020202020204" pitchFamily="34" charset="0"/>
              <a:buChar char="•"/>
            </a:pPr>
            <a:r>
              <a:rPr lang="en-ZA" sz="1300" dirty="0" err="1">
                <a:latin typeface="Avenir Next Cyr W04 Regular" panose="020B0503020202020204" pitchFamily="34" charset="0"/>
              </a:rPr>
              <a:t>Seefeld</a:t>
            </a:r>
            <a:r>
              <a:rPr lang="en-ZA" sz="1300" dirty="0">
                <a:latin typeface="Avenir Next Cyr W04 Regular" panose="020B0503020202020204" pitchFamily="34" charset="0"/>
              </a:rPr>
              <a:t>: </a:t>
            </a:r>
            <a:r>
              <a:rPr lang="en-ZA" sz="1300" i="1" dirty="0">
                <a:latin typeface="Avenir Next Cyr W04 Regular" panose="020B0503020202020204" pitchFamily="34" charset="0"/>
                <a:hlinkClick r:id="rId5"/>
              </a:rPr>
              <a:t>https://cran.r-project.org/doc/contrib/Seefeld_StatsRBio.pdf</a:t>
            </a:r>
            <a:endParaRPr lang="en-ZA" sz="1300" i="1" dirty="0">
              <a:latin typeface="Avenir Next Cyr W04 Regular" panose="020B0503020202020204" pitchFamily="34" charset="0"/>
            </a:endParaRPr>
          </a:p>
          <a:p>
            <a:pPr marL="285750" indent="-285750" algn="just">
              <a:buFont typeface="Arial" panose="020B0604020202020204" pitchFamily="34" charset="0"/>
              <a:buChar char="•"/>
            </a:pPr>
            <a:endParaRPr lang="en-ZA" sz="1300" dirty="0">
              <a:latin typeface="Avenir Next Cyr W04 Regular" panose="020B0503020202020204" pitchFamily="34" charset="0"/>
            </a:endParaRPr>
          </a:p>
          <a:p>
            <a:pPr marL="285750" indent="-285750" algn="just">
              <a:buFont typeface="Arial" panose="020B0604020202020204" pitchFamily="34" charset="0"/>
              <a:buChar char="•"/>
            </a:pPr>
            <a:r>
              <a:rPr lang="en-ZA" sz="1300" dirty="0">
                <a:latin typeface="Avenir Next Cyr W04 Regular" panose="020B0503020202020204" pitchFamily="34" charset="0"/>
              </a:rPr>
              <a:t>IPSUR: </a:t>
            </a:r>
            <a:r>
              <a:rPr lang="en-ZA" sz="1300" i="1" dirty="0">
                <a:latin typeface="Avenir Next Cyr W04 Regular" panose="020B0503020202020204" pitchFamily="34" charset="0"/>
                <a:hlinkClick r:id="rId6"/>
              </a:rPr>
              <a:t>https://cran.rproject.org/web/packages/IPSUR/vignettes/IPSUR.pdf</a:t>
            </a:r>
            <a:r>
              <a:rPr lang="en-ZA" sz="1300" i="1" dirty="0">
                <a:latin typeface="Avenir Next Cyr W04 Regular" panose="020B0503020202020204" pitchFamily="34" charset="0"/>
              </a:rPr>
              <a:t> </a:t>
            </a:r>
          </a:p>
          <a:p>
            <a:pPr marL="285750" indent="-285750" algn="just">
              <a:buFont typeface="Arial" panose="020B0604020202020204" pitchFamily="34" charset="0"/>
              <a:buChar char="•"/>
            </a:pPr>
            <a:endParaRPr lang="en-ZA" sz="1300" dirty="0">
              <a:latin typeface="Avenir Next Cyr W04 Regular" panose="020B0503020202020204" pitchFamily="34" charset="0"/>
            </a:endParaRPr>
          </a:p>
          <a:p>
            <a:pPr marL="285750" indent="-285750" algn="just">
              <a:buFont typeface="Arial" panose="020B0604020202020204" pitchFamily="34" charset="0"/>
              <a:buChar char="•"/>
            </a:pPr>
            <a:r>
              <a:rPr lang="en-ZA" sz="1300" dirty="0">
                <a:latin typeface="Avenir Next Cyr W04 Regular" panose="020B0503020202020204" pitchFamily="34" charset="0"/>
              </a:rPr>
              <a:t>R-Intro: </a:t>
            </a:r>
            <a:r>
              <a:rPr lang="en-ZA" sz="1300" i="1" dirty="0">
                <a:latin typeface="Avenir Next Cyr W04 Regular" panose="020B0503020202020204" pitchFamily="34" charset="0"/>
                <a:hlinkClick r:id="rId7"/>
              </a:rPr>
              <a:t>https://cran.r-project.org/doc/manuals/r-release/R-intro.pdf</a:t>
            </a:r>
            <a:endParaRPr lang="en-ZA" sz="1300" i="1" dirty="0">
              <a:latin typeface="Avenir Next Cyr W04 Regular" panose="020B0503020202020204" pitchFamily="34" charset="0"/>
            </a:endParaRPr>
          </a:p>
          <a:p>
            <a:pPr marL="285750" indent="-285750" algn="just">
              <a:buFont typeface="Arial" panose="020B0604020202020204" pitchFamily="34" charset="0"/>
              <a:buChar char="•"/>
            </a:pPr>
            <a:endParaRPr lang="en-ZA" sz="1300" dirty="0">
              <a:latin typeface="Avenir Next Cyr W04 Regular" panose="020B0503020202020204" pitchFamily="34" charset="0"/>
            </a:endParaRPr>
          </a:p>
          <a:p>
            <a:pPr marL="285750" indent="-285750" algn="just">
              <a:buFont typeface="Arial" panose="020B0604020202020204" pitchFamily="34" charset="0"/>
              <a:buChar char="•"/>
            </a:pPr>
            <a:r>
              <a:rPr lang="en-ZA" sz="1300" dirty="0">
                <a:latin typeface="Avenir Next Cyr W04 Regular" panose="020B0503020202020204" pitchFamily="34" charset="0"/>
              </a:rPr>
              <a:t>R-Import: </a:t>
            </a:r>
            <a:r>
              <a:rPr lang="en-ZA" sz="1300" i="1" dirty="0">
                <a:latin typeface="Avenir Next Cyr W04 Regular" panose="020B0503020202020204" pitchFamily="34" charset="0"/>
                <a:hlinkClick r:id="rId8"/>
              </a:rPr>
              <a:t>https://cran.r-project.org/doc/manuals/r-release/R-data.pdf</a:t>
            </a:r>
            <a:r>
              <a:rPr lang="en-ZA" sz="1300" i="1" dirty="0">
                <a:latin typeface="Avenir Next Cyr W04 Regular" panose="020B0503020202020204" pitchFamily="34" charset="0"/>
              </a:rPr>
              <a:t> </a:t>
            </a:r>
          </a:p>
        </p:txBody>
      </p:sp>
    </p:spTree>
    <p:extLst>
      <p:ext uri="{BB962C8B-B14F-4D97-AF65-F5344CB8AC3E}">
        <p14:creationId xmlns:p14="http://schemas.microsoft.com/office/powerpoint/2010/main" val="2787866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mplate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1" cy="6858000"/>
          </a:xfrm>
          <a:prstGeom prst="rect">
            <a:avLst/>
          </a:prstGeom>
        </p:spPr>
      </p:pic>
      <p:sp>
        <p:nvSpPr>
          <p:cNvPr id="5" name="Title 1"/>
          <p:cNvSpPr txBox="1">
            <a:spLocks/>
          </p:cNvSpPr>
          <p:nvPr/>
        </p:nvSpPr>
        <p:spPr>
          <a:xfrm>
            <a:off x="1092200" y="2294281"/>
            <a:ext cx="8013700" cy="3330574"/>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r"/>
            <a:endParaRPr lang="en-US" sz="2400" b="1" dirty="0">
              <a:solidFill>
                <a:srgbClr val="A7853E"/>
              </a:solidFill>
              <a:latin typeface="Baskerville Old Face" charset="0"/>
            </a:endParaRPr>
          </a:p>
          <a:p>
            <a:pPr algn="r"/>
            <a:endParaRPr lang="en-US" sz="2400" b="1" dirty="0">
              <a:solidFill>
                <a:srgbClr val="A7853E"/>
              </a:solidFill>
              <a:latin typeface="Baskerville Old Face" charset="0"/>
            </a:endParaRPr>
          </a:p>
          <a:p>
            <a:pPr algn="r"/>
            <a:endParaRPr lang="en-US" sz="2400" b="1" dirty="0">
              <a:solidFill>
                <a:srgbClr val="A7853E"/>
              </a:solidFill>
              <a:latin typeface="Baskerville Old Face" charset="0"/>
            </a:endParaRPr>
          </a:p>
          <a:p>
            <a:pPr algn="r"/>
            <a:endParaRPr lang="en-US" sz="2400" b="1" dirty="0">
              <a:solidFill>
                <a:srgbClr val="A7853E"/>
              </a:solidFill>
              <a:latin typeface="Baskerville Old Face" charset="0"/>
            </a:endParaRPr>
          </a:p>
        </p:txBody>
      </p:sp>
      <p:sp>
        <p:nvSpPr>
          <p:cNvPr id="3" name="Title 2"/>
          <p:cNvSpPr>
            <a:spLocks noGrp="1"/>
          </p:cNvSpPr>
          <p:nvPr>
            <p:ph type="ctrTitle"/>
          </p:nvPr>
        </p:nvSpPr>
        <p:spPr>
          <a:xfrm>
            <a:off x="742950" y="501651"/>
            <a:ext cx="8420100" cy="1470025"/>
          </a:xfrm>
        </p:spPr>
        <p:txBody>
          <a:bodyPr>
            <a:normAutofit/>
          </a:bodyPr>
          <a:lstStyle/>
          <a:p>
            <a:br>
              <a:rPr lang="en-ZA" sz="2400" b="1" dirty="0">
                <a:solidFill>
                  <a:srgbClr val="A7853E"/>
                </a:solidFill>
                <a:latin typeface="Baskerville Old Face" charset="0"/>
                <a:cs typeface="+mj-cs"/>
              </a:rPr>
            </a:br>
            <a:endParaRPr lang="en-ZA" sz="2400" b="1" dirty="0">
              <a:solidFill>
                <a:srgbClr val="A7853E"/>
              </a:solidFill>
              <a:latin typeface="Baskerville Old Face" charset="0"/>
              <a:cs typeface="+mj-cs"/>
            </a:endParaRPr>
          </a:p>
        </p:txBody>
      </p:sp>
      <p:sp>
        <p:nvSpPr>
          <p:cNvPr id="2" name="Rectangle 1"/>
          <p:cNvSpPr/>
          <p:nvPr/>
        </p:nvSpPr>
        <p:spPr>
          <a:xfrm>
            <a:off x="3066274" y="2867241"/>
            <a:ext cx="4149338" cy="2062103"/>
          </a:xfrm>
          <a:prstGeom prst="rect">
            <a:avLst/>
          </a:prstGeom>
        </p:spPr>
        <p:txBody>
          <a:bodyPr wrap="square">
            <a:spAutoFit/>
          </a:bodyPr>
          <a:lstStyle/>
          <a:p>
            <a:pPr algn="ctr"/>
            <a:r>
              <a:rPr lang="en-ZA" sz="3200" b="1" spc="50" dirty="0">
                <a:ln w="0"/>
                <a:solidFill>
                  <a:schemeClr val="bg2"/>
                </a:solidFill>
                <a:effectLst>
                  <a:innerShdw blurRad="63500" dist="50800" dir="13500000">
                    <a:srgbClr val="000000">
                      <a:alpha val="50000"/>
                    </a:srgbClr>
                  </a:innerShdw>
                </a:effectLst>
              </a:rPr>
              <a:t>The R Environment </a:t>
            </a:r>
          </a:p>
          <a:p>
            <a:pPr algn="ctr"/>
            <a:r>
              <a:rPr lang="en-ZA" sz="3200" b="1" spc="50" dirty="0">
                <a:ln w="0"/>
                <a:solidFill>
                  <a:schemeClr val="bg2"/>
                </a:solidFill>
                <a:effectLst>
                  <a:innerShdw blurRad="63500" dist="50800" dir="13500000">
                    <a:srgbClr val="000000">
                      <a:alpha val="50000"/>
                    </a:srgbClr>
                  </a:innerShdw>
                </a:effectLst>
              </a:rPr>
              <a:t>&amp;</a:t>
            </a:r>
          </a:p>
          <a:p>
            <a:pPr algn="ctr"/>
            <a:r>
              <a:rPr lang="en-ZA" sz="3200" b="1" spc="50" dirty="0">
                <a:ln w="0"/>
                <a:solidFill>
                  <a:schemeClr val="bg2"/>
                </a:solidFill>
                <a:effectLst>
                  <a:innerShdw blurRad="63500" dist="50800" dir="13500000">
                    <a:srgbClr val="000000">
                      <a:alpha val="50000"/>
                    </a:srgbClr>
                  </a:innerShdw>
                </a:effectLst>
              </a:rPr>
              <a:t>An Introduction to R </a:t>
            </a:r>
          </a:p>
          <a:p>
            <a:pPr algn="ctr"/>
            <a:r>
              <a:rPr lang="en-ZA" sz="3200" b="1" spc="50" dirty="0">
                <a:ln w="0"/>
                <a:solidFill>
                  <a:schemeClr val="bg2"/>
                </a:solidFill>
                <a:effectLst>
                  <a:innerShdw blurRad="63500" dist="50800" dir="13500000">
                    <a:srgbClr val="000000">
                      <a:alpha val="50000"/>
                    </a:srgbClr>
                  </a:innerShdw>
                </a:effectLst>
              </a:rPr>
              <a:t>(IPSUR and SEEFELD)</a:t>
            </a:r>
          </a:p>
        </p:txBody>
      </p:sp>
      <p:sp>
        <p:nvSpPr>
          <p:cNvPr id="7" name="TextBox 6"/>
          <p:cNvSpPr txBox="1"/>
          <p:nvPr/>
        </p:nvSpPr>
        <p:spPr>
          <a:xfrm>
            <a:off x="6678717" y="5037277"/>
            <a:ext cx="3172407" cy="1323439"/>
          </a:xfrm>
          <a:prstGeom prst="rect">
            <a:avLst/>
          </a:prstGeom>
          <a:noFill/>
        </p:spPr>
        <p:txBody>
          <a:bodyPr wrap="none" rtlCol="0">
            <a:spAutoFit/>
          </a:bodyPr>
          <a:lstStyle/>
          <a:p>
            <a:r>
              <a:rPr lang="en-ZA" sz="2000" b="1" spc="50" dirty="0">
                <a:ln w="0"/>
                <a:solidFill>
                  <a:schemeClr val="bg2"/>
                </a:solidFill>
                <a:effectLst>
                  <a:innerShdw blurRad="63500" dist="50800" dir="13500000">
                    <a:srgbClr val="000000">
                      <a:alpha val="50000"/>
                    </a:srgbClr>
                  </a:innerShdw>
                </a:effectLst>
              </a:rPr>
              <a:t>Matthew Wayne Valentine</a:t>
            </a:r>
          </a:p>
          <a:p>
            <a:r>
              <a:rPr lang="en-ZA" sz="2000" b="1" spc="50" dirty="0">
                <a:ln w="0"/>
                <a:solidFill>
                  <a:schemeClr val="bg2"/>
                </a:solidFill>
                <a:effectLst>
                  <a:innerShdw blurRad="63500" dist="50800" dir="13500000">
                    <a:srgbClr val="000000">
                      <a:alpha val="50000"/>
                    </a:srgbClr>
                  </a:innerShdw>
                </a:effectLst>
              </a:rPr>
              <a:t>Office 1.32</a:t>
            </a:r>
          </a:p>
          <a:p>
            <a:r>
              <a:rPr lang="en-ZA" sz="2000" b="1" spc="50" dirty="0">
                <a:ln w="0"/>
                <a:solidFill>
                  <a:schemeClr val="bg2"/>
                </a:solidFill>
                <a:effectLst>
                  <a:innerShdw blurRad="63500" dist="50800" dir="13500000">
                    <a:srgbClr val="000000">
                      <a:alpha val="50000"/>
                    </a:srgbClr>
                  </a:innerShdw>
                </a:effectLst>
              </a:rPr>
              <a:t>Lab K2 – Tech Room K2</a:t>
            </a:r>
          </a:p>
          <a:p>
            <a:r>
              <a:rPr lang="en-ZA" sz="2000" b="1" spc="50" dirty="0">
                <a:ln w="0"/>
                <a:solidFill>
                  <a:schemeClr val="bg2"/>
                </a:solidFill>
                <a:effectLst>
                  <a:innerShdw blurRad="63500" dist="50800" dir="13500000">
                    <a:srgbClr val="000000">
                      <a:alpha val="50000"/>
                    </a:srgbClr>
                  </a:innerShdw>
                </a:effectLst>
              </a:rPr>
              <a:t>mvalentine@uwc.ac.za</a:t>
            </a:r>
            <a:endParaRPr lang="en-ZA" b="1" spc="50" dirty="0">
              <a:ln w="0"/>
              <a:solidFill>
                <a:schemeClr val="bg2"/>
              </a:solidFill>
              <a:effectLst>
                <a:innerShdw blurRad="63500" dist="50800" dir="13500000">
                  <a:srgbClr val="000000">
                    <a:alpha val="50000"/>
                  </a:srgbClr>
                </a:innerShdw>
              </a:effectLst>
            </a:endParaRPr>
          </a:p>
        </p:txBody>
      </p:sp>
      <p:sp>
        <p:nvSpPr>
          <p:cNvPr id="8" name="Rectangle 7"/>
          <p:cNvSpPr/>
          <p:nvPr/>
        </p:nvSpPr>
        <p:spPr>
          <a:xfrm>
            <a:off x="3756774" y="1734656"/>
            <a:ext cx="2684551" cy="1077218"/>
          </a:xfrm>
          <a:prstGeom prst="rect">
            <a:avLst/>
          </a:prstGeom>
        </p:spPr>
        <p:txBody>
          <a:bodyPr wrap="square">
            <a:spAutoFit/>
          </a:bodyPr>
          <a:lstStyle/>
          <a:p>
            <a:pPr algn="ctr"/>
            <a:r>
              <a:rPr lang="en-ZA" sz="3200" b="1" spc="50" dirty="0">
                <a:ln w="0"/>
                <a:solidFill>
                  <a:schemeClr val="bg2"/>
                </a:solidFill>
                <a:effectLst>
                  <a:innerShdw blurRad="63500" dist="50800" dir="13500000">
                    <a:srgbClr val="000000">
                      <a:alpha val="50000"/>
                    </a:srgbClr>
                  </a:innerShdw>
                </a:effectLst>
              </a:rPr>
              <a:t>Study</a:t>
            </a:r>
          </a:p>
          <a:p>
            <a:pPr algn="ctr"/>
            <a:r>
              <a:rPr lang="en-ZA" sz="3200" b="1" spc="50" dirty="0">
                <a:ln w="0"/>
                <a:solidFill>
                  <a:schemeClr val="bg2"/>
                </a:solidFill>
                <a:effectLst>
                  <a:innerShdw blurRad="63500" dist="50800" dir="13500000">
                    <a:srgbClr val="000000">
                      <a:alpha val="50000"/>
                    </a:srgbClr>
                  </a:innerShdw>
                </a:effectLst>
              </a:rPr>
              <a:t>Chapter 1 &amp; 2</a:t>
            </a:r>
          </a:p>
        </p:txBody>
      </p:sp>
    </p:spTree>
    <p:extLst>
      <p:ext uri="{BB962C8B-B14F-4D97-AF65-F5344CB8AC3E}">
        <p14:creationId xmlns:p14="http://schemas.microsoft.com/office/powerpoint/2010/main" val="9332856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6474</TotalTime>
  <Words>1490</Words>
  <Application>Microsoft Office PowerPoint</Application>
  <PresentationFormat>A4 Paper (210x297 mm)</PresentationFormat>
  <Paragraphs>158</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Avenir Next Cyr W04 Regular</vt:lpstr>
      <vt:lpstr>Baskerville Old Face</vt:lpstr>
      <vt:lpstr>Calibri</vt:lpstr>
      <vt:lpstr>Wingdings</vt:lpstr>
      <vt:lpstr>Office Theme</vt:lpstr>
      <vt:lpstr> </vt:lpstr>
      <vt:lpstr>PowerPoint Presentation</vt:lpstr>
      <vt:lpstr>Exploring the Environment</vt:lpstr>
      <vt:lpstr>Exploring the Environment</vt:lpstr>
      <vt:lpstr>Exploring the Environment</vt:lpstr>
      <vt:lpstr>Exploring the Environment</vt:lpstr>
      <vt:lpstr>How R Works</vt:lpstr>
      <vt:lpstr>How R Works</vt:lpstr>
      <vt:lpstr>Getting Help</vt:lpstr>
      <vt:lpstr>Downloading and Installing R</vt:lpstr>
      <vt:lpstr>Installing and Loading Add-on Packages</vt:lpstr>
      <vt:lpstr>Communication With R</vt:lpstr>
      <vt:lpstr>Textbooks Used</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NDorfling</dc:creator>
  <cp:lastModifiedBy>Matthew Valentine</cp:lastModifiedBy>
  <cp:revision>587</cp:revision>
  <dcterms:created xsi:type="dcterms:W3CDTF">2015-03-11T08:56:03Z</dcterms:created>
  <dcterms:modified xsi:type="dcterms:W3CDTF">2024-02-18T19:21:12Z</dcterms:modified>
</cp:coreProperties>
</file>